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7"/>
  </p:notesMasterIdLst>
  <p:sldIdLst>
    <p:sldId id="256" r:id="rId2"/>
    <p:sldId id="257" r:id="rId3"/>
    <p:sldId id="282" r:id="rId4"/>
    <p:sldId id="283" r:id="rId5"/>
    <p:sldId id="284" r:id="rId6"/>
    <p:sldId id="285" r:id="rId7"/>
    <p:sldId id="286" r:id="rId8"/>
    <p:sldId id="258" r:id="rId9"/>
    <p:sldId id="261" r:id="rId10"/>
    <p:sldId id="272" r:id="rId11"/>
    <p:sldId id="273" r:id="rId12"/>
    <p:sldId id="274" r:id="rId13"/>
    <p:sldId id="275" r:id="rId14"/>
    <p:sldId id="263" r:id="rId15"/>
    <p:sldId id="276" r:id="rId16"/>
    <p:sldId id="277" r:id="rId17"/>
    <p:sldId id="287" r:id="rId18"/>
    <p:sldId id="288" r:id="rId19"/>
    <p:sldId id="265" r:id="rId20"/>
    <p:sldId id="278" r:id="rId21"/>
    <p:sldId id="280" r:id="rId22"/>
    <p:sldId id="268" r:id="rId23"/>
    <p:sldId id="267" r:id="rId24"/>
    <p:sldId id="269" r:id="rId25"/>
    <p:sldId id="270" r:id="rId26"/>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1435"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6DE3C741-93FD-9C93-CAED-82A3AEE91DFE}"/>
            </a:ext>
          </a:extLst>
        </p:cNvPr>
        <p:cNvGrpSpPr/>
        <p:nvPr/>
      </p:nvGrpSpPr>
      <p:grpSpPr>
        <a:xfrm>
          <a:off x="0" y="0"/>
          <a:ext cx="0" cy="0"/>
          <a:chOff x="0" y="0"/>
          <a:chExt cx="0" cy="0"/>
        </a:xfrm>
      </p:grpSpPr>
      <p:sp>
        <p:nvSpPr>
          <p:cNvPr id="101" name="Google Shape;101;g38a10b329dd_0_0:notes">
            <a:extLst>
              <a:ext uri="{FF2B5EF4-FFF2-40B4-BE49-F238E27FC236}">
                <a16:creationId xmlns:a16="http://schemas.microsoft.com/office/drawing/2014/main" id="{DE447E13-7987-363C-8F1A-E1421792611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g38a10b329dd_0_0:notes">
            <a:extLst>
              <a:ext uri="{FF2B5EF4-FFF2-40B4-BE49-F238E27FC236}">
                <a16:creationId xmlns:a16="http://schemas.microsoft.com/office/drawing/2014/main" id="{90C0EBA9-5768-FB25-441B-1619B4AF9A6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6918917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5C042A7-F7E2-1A7B-3687-1B5CD4D9B90C}"/>
            </a:ext>
          </a:extLst>
        </p:cNvPr>
        <p:cNvGrpSpPr/>
        <p:nvPr/>
      </p:nvGrpSpPr>
      <p:grpSpPr>
        <a:xfrm>
          <a:off x="0" y="0"/>
          <a:ext cx="0" cy="0"/>
          <a:chOff x="0" y="0"/>
          <a:chExt cx="0" cy="0"/>
        </a:xfrm>
      </p:grpSpPr>
      <p:sp>
        <p:nvSpPr>
          <p:cNvPr id="101" name="Google Shape;101;g38a10b329dd_0_0:notes">
            <a:extLst>
              <a:ext uri="{FF2B5EF4-FFF2-40B4-BE49-F238E27FC236}">
                <a16:creationId xmlns:a16="http://schemas.microsoft.com/office/drawing/2014/main" id="{A85C6AB8-624A-395B-68FD-4F593D1D119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g38a10b329dd_0_0:notes">
            <a:extLst>
              <a:ext uri="{FF2B5EF4-FFF2-40B4-BE49-F238E27FC236}">
                <a16:creationId xmlns:a16="http://schemas.microsoft.com/office/drawing/2014/main" id="{DD347758-021F-3D38-7CAC-D3B9D0C6635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5765532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6E90CCAD-71E2-E5D0-3ED7-7D9D86460859}"/>
            </a:ext>
          </a:extLst>
        </p:cNvPr>
        <p:cNvGrpSpPr/>
        <p:nvPr/>
      </p:nvGrpSpPr>
      <p:grpSpPr>
        <a:xfrm>
          <a:off x="0" y="0"/>
          <a:ext cx="0" cy="0"/>
          <a:chOff x="0" y="0"/>
          <a:chExt cx="0" cy="0"/>
        </a:xfrm>
      </p:grpSpPr>
      <p:sp>
        <p:nvSpPr>
          <p:cNvPr id="101" name="Google Shape;101;g38a10b329dd_0_0:notes">
            <a:extLst>
              <a:ext uri="{FF2B5EF4-FFF2-40B4-BE49-F238E27FC236}">
                <a16:creationId xmlns:a16="http://schemas.microsoft.com/office/drawing/2014/main" id="{026B2613-8FD2-5984-D0ED-C874E75AF48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g38a10b329dd_0_0:notes">
            <a:extLst>
              <a:ext uri="{FF2B5EF4-FFF2-40B4-BE49-F238E27FC236}">
                <a16:creationId xmlns:a16="http://schemas.microsoft.com/office/drawing/2014/main" id="{97B46BB9-CD20-EA79-AE1E-95CBD29719A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1252413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84734AB4-165E-DBA4-9C4C-B8E12316668B}"/>
            </a:ext>
          </a:extLst>
        </p:cNvPr>
        <p:cNvGrpSpPr/>
        <p:nvPr/>
      </p:nvGrpSpPr>
      <p:grpSpPr>
        <a:xfrm>
          <a:off x="0" y="0"/>
          <a:ext cx="0" cy="0"/>
          <a:chOff x="0" y="0"/>
          <a:chExt cx="0" cy="0"/>
        </a:xfrm>
      </p:grpSpPr>
      <p:sp>
        <p:nvSpPr>
          <p:cNvPr id="101" name="Google Shape;101;g38a10b329dd_0_0:notes">
            <a:extLst>
              <a:ext uri="{FF2B5EF4-FFF2-40B4-BE49-F238E27FC236}">
                <a16:creationId xmlns:a16="http://schemas.microsoft.com/office/drawing/2014/main" id="{A03E63E2-3D84-A5BD-368D-E4BBAD17242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g38a10b329dd_0_0:notes">
            <a:extLst>
              <a:ext uri="{FF2B5EF4-FFF2-40B4-BE49-F238E27FC236}">
                <a16:creationId xmlns:a16="http://schemas.microsoft.com/office/drawing/2014/main" id="{1C965382-CB80-4391-7AD1-97E9CE10F8E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9706922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72364143-799B-5220-FD10-733AFB8735C7}"/>
            </a:ext>
          </a:extLst>
        </p:cNvPr>
        <p:cNvGrpSpPr/>
        <p:nvPr/>
      </p:nvGrpSpPr>
      <p:grpSpPr>
        <a:xfrm>
          <a:off x="0" y="0"/>
          <a:ext cx="0" cy="0"/>
          <a:chOff x="0" y="0"/>
          <a:chExt cx="0" cy="0"/>
        </a:xfrm>
      </p:grpSpPr>
      <p:sp>
        <p:nvSpPr>
          <p:cNvPr id="101" name="Google Shape;101;g38a10b329dd_0_0:notes">
            <a:extLst>
              <a:ext uri="{FF2B5EF4-FFF2-40B4-BE49-F238E27FC236}">
                <a16:creationId xmlns:a16="http://schemas.microsoft.com/office/drawing/2014/main" id="{B7D844ED-E6A4-A9CC-52B6-271F991E8A0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g38a10b329dd_0_0:notes">
            <a:extLst>
              <a:ext uri="{FF2B5EF4-FFF2-40B4-BE49-F238E27FC236}">
                <a16:creationId xmlns:a16="http://schemas.microsoft.com/office/drawing/2014/main" id="{9F2558DF-C8A2-4BAB-DD01-8002773BEC1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6065502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8a10b329d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g38a10b329dd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E165F11F-6A3A-7EC6-C555-F3980A264CC3}"/>
            </a:ext>
          </a:extLst>
        </p:cNvPr>
        <p:cNvGrpSpPr/>
        <p:nvPr/>
      </p:nvGrpSpPr>
      <p:grpSpPr>
        <a:xfrm>
          <a:off x="0" y="0"/>
          <a:ext cx="0" cy="0"/>
          <a:chOff x="0" y="0"/>
          <a:chExt cx="0" cy="0"/>
        </a:xfrm>
      </p:grpSpPr>
      <p:sp>
        <p:nvSpPr>
          <p:cNvPr id="137" name="Google Shape;137;g38a10b329dd_0_11:notes">
            <a:extLst>
              <a:ext uri="{FF2B5EF4-FFF2-40B4-BE49-F238E27FC236}">
                <a16:creationId xmlns:a16="http://schemas.microsoft.com/office/drawing/2014/main" id="{609E771A-1475-15A9-FF0B-4E5EB4B49A1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8" name="Google Shape;138;g38a10b329dd_0_11:notes">
            <a:extLst>
              <a:ext uri="{FF2B5EF4-FFF2-40B4-BE49-F238E27FC236}">
                <a16:creationId xmlns:a16="http://schemas.microsoft.com/office/drawing/2014/main" id="{A2F1903A-2490-35ED-D67E-AF030D00917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2300518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8a10b329dd_0_4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g38a10b329dd_0_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a:extLst>
            <a:ext uri="{FF2B5EF4-FFF2-40B4-BE49-F238E27FC236}">
              <a16:creationId xmlns:a16="http://schemas.microsoft.com/office/drawing/2014/main" id="{18E67286-74B8-8F70-E09B-EB085F9F9457}"/>
            </a:ext>
          </a:extLst>
        </p:cNvPr>
        <p:cNvGrpSpPr/>
        <p:nvPr/>
      </p:nvGrpSpPr>
      <p:grpSpPr>
        <a:xfrm>
          <a:off x="0" y="0"/>
          <a:ext cx="0" cy="0"/>
          <a:chOff x="0" y="0"/>
          <a:chExt cx="0" cy="0"/>
        </a:xfrm>
      </p:grpSpPr>
      <p:sp>
        <p:nvSpPr>
          <p:cNvPr id="131" name="Google Shape;131;g38a10b329dd_0_46:notes">
            <a:extLst>
              <a:ext uri="{FF2B5EF4-FFF2-40B4-BE49-F238E27FC236}">
                <a16:creationId xmlns:a16="http://schemas.microsoft.com/office/drawing/2014/main" id="{0AAF1206-FEC5-E3CD-55C4-BC015489FA0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g38a10b329dd_0_46:notes">
            <a:extLst>
              <a:ext uri="{FF2B5EF4-FFF2-40B4-BE49-F238E27FC236}">
                <a16:creationId xmlns:a16="http://schemas.microsoft.com/office/drawing/2014/main" id="{37029600-7221-5075-DD11-0F54F9BA66D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90771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DE87115C-2B26-3A1B-BE3B-CB927DB7B546}"/>
            </a:ext>
          </a:extLst>
        </p:cNvPr>
        <p:cNvGrpSpPr/>
        <p:nvPr/>
      </p:nvGrpSpPr>
      <p:grpSpPr>
        <a:xfrm>
          <a:off x="0" y="0"/>
          <a:ext cx="0" cy="0"/>
          <a:chOff x="0" y="0"/>
          <a:chExt cx="0" cy="0"/>
        </a:xfrm>
      </p:grpSpPr>
      <p:sp>
        <p:nvSpPr>
          <p:cNvPr id="137" name="Google Shape;137;g38a10b329dd_0_11:notes">
            <a:extLst>
              <a:ext uri="{FF2B5EF4-FFF2-40B4-BE49-F238E27FC236}">
                <a16:creationId xmlns:a16="http://schemas.microsoft.com/office/drawing/2014/main" id="{47D01D24-6D42-2FCD-7B47-FC91D4F81BA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8" name="Google Shape;138;g38a10b329dd_0_11:notes">
            <a:extLst>
              <a:ext uri="{FF2B5EF4-FFF2-40B4-BE49-F238E27FC236}">
                <a16:creationId xmlns:a16="http://schemas.microsoft.com/office/drawing/2014/main" id="{7315C2DA-459A-24D5-8597-0B8A90EABA6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0176339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1791EE16-FC31-5135-E6EF-A78B05D1F6D3}"/>
            </a:ext>
          </a:extLst>
        </p:cNvPr>
        <p:cNvGrpSpPr/>
        <p:nvPr/>
      </p:nvGrpSpPr>
      <p:grpSpPr>
        <a:xfrm>
          <a:off x="0" y="0"/>
          <a:ext cx="0" cy="0"/>
          <a:chOff x="0" y="0"/>
          <a:chExt cx="0" cy="0"/>
        </a:xfrm>
      </p:grpSpPr>
      <p:sp>
        <p:nvSpPr>
          <p:cNvPr id="137" name="Google Shape;137;g38a10b329dd_0_11:notes">
            <a:extLst>
              <a:ext uri="{FF2B5EF4-FFF2-40B4-BE49-F238E27FC236}">
                <a16:creationId xmlns:a16="http://schemas.microsoft.com/office/drawing/2014/main" id="{E39F8942-2D57-0889-C82B-5998F838149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8" name="Google Shape;138;g38a10b329dd_0_11:notes">
            <a:extLst>
              <a:ext uri="{FF2B5EF4-FFF2-40B4-BE49-F238E27FC236}">
                <a16:creationId xmlns:a16="http://schemas.microsoft.com/office/drawing/2014/main" id="{62BCC8A8-15F2-9F99-0062-EDE262B4D13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3982572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12A1A93A-7CFB-3561-E2BD-37274173B7B2}"/>
            </a:ext>
          </a:extLst>
        </p:cNvPr>
        <p:cNvGrpSpPr/>
        <p:nvPr/>
      </p:nvGrpSpPr>
      <p:grpSpPr>
        <a:xfrm>
          <a:off x="0" y="0"/>
          <a:ext cx="0" cy="0"/>
          <a:chOff x="0" y="0"/>
          <a:chExt cx="0" cy="0"/>
        </a:xfrm>
      </p:grpSpPr>
      <p:sp>
        <p:nvSpPr>
          <p:cNvPr id="137" name="Google Shape;137;g38a10b329dd_0_11:notes">
            <a:extLst>
              <a:ext uri="{FF2B5EF4-FFF2-40B4-BE49-F238E27FC236}">
                <a16:creationId xmlns:a16="http://schemas.microsoft.com/office/drawing/2014/main" id="{DAFDCB51-26FB-8212-E8AE-8A34BE98170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8" name="Google Shape;138;g38a10b329dd_0_11:notes">
            <a:extLst>
              <a:ext uri="{FF2B5EF4-FFF2-40B4-BE49-F238E27FC236}">
                <a16:creationId xmlns:a16="http://schemas.microsoft.com/office/drawing/2014/main" id="{0C8E0463-F180-9EEB-75CA-3030E15C121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7751719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8a10b329dd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4" name="Google Shape;144;g38a10b329dd_0_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BA38BBCD-99CF-9B56-CA26-DBE32A1D705F}"/>
            </a:ext>
          </a:extLst>
        </p:cNvPr>
        <p:cNvGrpSpPr/>
        <p:nvPr/>
      </p:nvGrpSpPr>
      <p:grpSpPr>
        <a:xfrm>
          <a:off x="0" y="0"/>
          <a:ext cx="0" cy="0"/>
          <a:chOff x="0" y="0"/>
          <a:chExt cx="0" cy="0"/>
        </a:xfrm>
      </p:grpSpPr>
      <p:sp>
        <p:nvSpPr>
          <p:cNvPr id="151" name="Google Shape;151;g38a10b329dd_0_25:notes">
            <a:extLst>
              <a:ext uri="{FF2B5EF4-FFF2-40B4-BE49-F238E27FC236}">
                <a16:creationId xmlns:a16="http://schemas.microsoft.com/office/drawing/2014/main" id="{CECD85AB-B09C-22C4-F997-BA21533E20C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 name="Google Shape;152;g38a10b329dd_0_25:notes">
            <a:extLst>
              <a:ext uri="{FF2B5EF4-FFF2-40B4-BE49-F238E27FC236}">
                <a16:creationId xmlns:a16="http://schemas.microsoft.com/office/drawing/2014/main" id="{0CD30F3F-2F56-68E8-DADF-32961F79372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3185293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1E10D8AF-67BE-61B2-ED66-55FF6F5227E9}"/>
            </a:ext>
          </a:extLst>
        </p:cNvPr>
        <p:cNvGrpSpPr/>
        <p:nvPr/>
      </p:nvGrpSpPr>
      <p:grpSpPr>
        <a:xfrm>
          <a:off x="0" y="0"/>
          <a:ext cx="0" cy="0"/>
          <a:chOff x="0" y="0"/>
          <a:chExt cx="0" cy="0"/>
        </a:xfrm>
      </p:grpSpPr>
      <p:sp>
        <p:nvSpPr>
          <p:cNvPr id="151" name="Google Shape;151;g38a10b329dd_0_25:notes">
            <a:extLst>
              <a:ext uri="{FF2B5EF4-FFF2-40B4-BE49-F238E27FC236}">
                <a16:creationId xmlns:a16="http://schemas.microsoft.com/office/drawing/2014/main" id="{B928D6F3-AA8B-E3B5-05FA-370197201DE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 name="Google Shape;152;g38a10b329dd_0_25:notes">
            <a:extLst>
              <a:ext uri="{FF2B5EF4-FFF2-40B4-BE49-F238E27FC236}">
                <a16:creationId xmlns:a16="http://schemas.microsoft.com/office/drawing/2014/main" id="{7BBAEF07-1A35-A505-6335-7FDA6B0FBC4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0792688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8a10b329dd_0_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64" name="Google Shape;164;g38a10b329dd_0_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8a10b329dd_0_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g38a10b329dd_0_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0" name="Google Shape;170;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6" name="Google Shape;176;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8" name="Google Shape;18;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a:spLocks noGrp="1"/>
          </p:cNvSpPr>
          <p:nvPr>
            <p:ph type="pic" idx="2"/>
          </p:nvPr>
        </p:nvSpPr>
        <p:spPr>
          <a:xfrm>
            <a:off x="1792288" y="612775"/>
            <a:ext cx="5486400" cy="4114800"/>
          </a:xfrm>
          <a:prstGeom prst="rect">
            <a:avLst/>
          </a:prstGeom>
          <a:noFill/>
          <a:ln>
            <a:noFill/>
          </a:ln>
        </p:spPr>
        <p:txBody>
          <a:bodyPr/>
          <a:lstStyle/>
          <a:p>
            <a:endParaRPr lang="en-IN"/>
          </a:p>
        </p:txBody>
      </p:sp>
      <p:sp>
        <p:nvSpPr>
          <p:cNvPr id="68" name="Google Shape;68;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0.jpg"/><Relationship Id="rId5" Type="http://schemas.openxmlformats.org/officeDocument/2006/relationships/hyperlink" Target="https://github.com/SanjnaSukirti/urban_livability_app" TargetMode="External"/><Relationship Id="rId4" Type="http://schemas.openxmlformats.org/officeDocument/2006/relationships/hyperlink" Target="https://urban-livability-dashboard.streamlit.app/"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2.jpg"/></Relationships>
</file>

<file path=ppt/slides/_rels/slide2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4.jp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s://www.researchgate.net/publication/341474930_Livability-Analysis_of_People's_Living_Comfort_in_Different_Cities_of_India_Using_GIS_A_Prototype" TargetMode="External"/><Relationship Id="rId7" Type="http://schemas.openxmlformats.org/officeDocument/2006/relationships/hyperlink" Target="https://www.e3s-conferences.org/articles/e3sconf/abs/2024/89/e3sconf_icstce2024_04047/e3sconf_icstce2024_04047.html"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hyperlink" Target="https://safer.uct.cl/index.php/SAFER/article/view/445/403" TargetMode="External"/><Relationship Id="rId5" Type="http://schemas.openxmlformats.org/officeDocument/2006/relationships/hyperlink" Target="https://www.mdpi.com/2071-1050/14/14/8755" TargetMode="External"/><Relationship Id="rId4" Type="http://schemas.openxmlformats.org/officeDocument/2006/relationships/hyperlink" Target="https://www.mdpi.com/2071-1050/13/1/327"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title"/>
          </p:nvPr>
        </p:nvSpPr>
        <p:spPr>
          <a:xfrm>
            <a:off x="457200" y="1377281"/>
            <a:ext cx="8229600" cy="2074242"/>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500"/>
              <a:buFont typeface="Times New Roman"/>
              <a:buNone/>
            </a:pPr>
            <a:r>
              <a:rPr lang="en-US" sz="3500" b="1">
                <a:latin typeface="Times New Roman"/>
                <a:ea typeface="Times New Roman"/>
                <a:cs typeface="Times New Roman"/>
                <a:sym typeface="Times New Roman"/>
              </a:rPr>
              <a:t>Data analysis of livable conditions in selected cities in India based on Sustainable Development Goals</a:t>
            </a:r>
            <a:endParaRPr sz="3500">
              <a:latin typeface="Times New Roman"/>
              <a:ea typeface="Times New Roman"/>
              <a:cs typeface="Times New Roman"/>
              <a:sym typeface="Times New Roman"/>
            </a:endParaRPr>
          </a:p>
        </p:txBody>
      </p:sp>
      <p:sp>
        <p:nvSpPr>
          <p:cNvPr id="89" name="Google Shape;89;p13"/>
          <p:cNvSpPr txBox="1">
            <a:spLocks noGrp="1"/>
          </p:cNvSpPr>
          <p:nvPr>
            <p:ph type="body" idx="1"/>
          </p:nvPr>
        </p:nvSpPr>
        <p:spPr>
          <a:xfrm>
            <a:off x="457200" y="3602916"/>
            <a:ext cx="8229600" cy="2736300"/>
          </a:xfrm>
          <a:prstGeom prst="rect">
            <a:avLst/>
          </a:prstGeom>
          <a:noFill/>
          <a:ln>
            <a:noFill/>
          </a:ln>
        </p:spPr>
        <p:txBody>
          <a:bodyPr spcFirstLastPara="1" wrap="square" lIns="91425" tIns="45700" rIns="91425" bIns="45700" anchor="t" anchorCtr="0">
            <a:noAutofit/>
          </a:bodyPr>
          <a:lstStyle/>
          <a:p>
            <a:pPr marL="0" lvl="0" indent="0" algn="ctr" rtl="0">
              <a:lnSpc>
                <a:spcPct val="80000"/>
              </a:lnSpc>
              <a:spcBef>
                <a:spcPts val="0"/>
              </a:spcBef>
              <a:spcAft>
                <a:spcPts val="0"/>
              </a:spcAft>
              <a:buClr>
                <a:schemeClr val="dk1"/>
              </a:buClr>
              <a:buSzPts val="1960"/>
              <a:buNone/>
            </a:pPr>
            <a:r>
              <a:rPr lang="en-US" sz="2100" dirty="0">
                <a:latin typeface="Times New Roman"/>
                <a:ea typeface="Times New Roman"/>
                <a:cs typeface="Times New Roman"/>
                <a:sym typeface="Times New Roman"/>
              </a:rPr>
              <a:t>Team Members:</a:t>
            </a:r>
            <a:endParaRPr sz="2100" dirty="0">
              <a:latin typeface="Times New Roman"/>
              <a:ea typeface="Times New Roman"/>
              <a:cs typeface="Times New Roman"/>
              <a:sym typeface="Times New Roman"/>
            </a:endParaRPr>
          </a:p>
          <a:p>
            <a:pPr marL="0" lvl="0" indent="0" algn="l" rtl="0">
              <a:lnSpc>
                <a:spcPct val="80000"/>
              </a:lnSpc>
              <a:spcBef>
                <a:spcPts val="434"/>
              </a:spcBef>
              <a:spcAft>
                <a:spcPts val="0"/>
              </a:spcAft>
              <a:buClr>
                <a:schemeClr val="dk1"/>
              </a:buClr>
              <a:buSzPts val="1960"/>
              <a:buNone/>
            </a:pPr>
            <a:r>
              <a:rPr lang="en-US" sz="2100" dirty="0">
                <a:latin typeface="Times New Roman"/>
                <a:ea typeface="Times New Roman"/>
                <a:cs typeface="Times New Roman"/>
                <a:sym typeface="Times New Roman"/>
              </a:rPr>
              <a:t>Name: R. Sanjna Sukirti</a:t>
            </a:r>
            <a:endParaRPr sz="2100" dirty="0">
              <a:latin typeface="Times New Roman"/>
              <a:ea typeface="Times New Roman"/>
              <a:cs typeface="Times New Roman"/>
              <a:sym typeface="Times New Roman"/>
            </a:endParaRPr>
          </a:p>
          <a:p>
            <a:pPr marL="0" lvl="0" indent="0" algn="l" rtl="0">
              <a:lnSpc>
                <a:spcPct val="80000"/>
              </a:lnSpc>
              <a:spcBef>
                <a:spcPts val="434"/>
              </a:spcBef>
              <a:spcAft>
                <a:spcPts val="0"/>
              </a:spcAft>
              <a:buClr>
                <a:schemeClr val="dk1"/>
              </a:buClr>
              <a:buSzPts val="1960"/>
              <a:buNone/>
            </a:pPr>
            <a:r>
              <a:rPr lang="en-US" sz="2100" dirty="0">
                <a:latin typeface="Times New Roman"/>
                <a:ea typeface="Times New Roman"/>
                <a:cs typeface="Times New Roman"/>
                <a:sym typeface="Times New Roman"/>
              </a:rPr>
              <a:t>Roll No: 2023PECCS368</a:t>
            </a:r>
            <a:endParaRPr sz="2100" dirty="0">
              <a:latin typeface="Times New Roman"/>
              <a:ea typeface="Times New Roman"/>
              <a:cs typeface="Times New Roman"/>
              <a:sym typeface="Times New Roman"/>
            </a:endParaRPr>
          </a:p>
          <a:p>
            <a:pPr marL="0" lvl="0" indent="0" algn="l" rtl="0">
              <a:lnSpc>
                <a:spcPct val="80000"/>
              </a:lnSpc>
              <a:spcBef>
                <a:spcPts val="434"/>
              </a:spcBef>
              <a:spcAft>
                <a:spcPts val="0"/>
              </a:spcAft>
              <a:buClr>
                <a:schemeClr val="dk1"/>
              </a:buClr>
              <a:buSzPts val="1960"/>
              <a:buNone/>
            </a:pPr>
            <a:r>
              <a:rPr lang="en-US" sz="2100" dirty="0">
                <a:latin typeface="Times New Roman"/>
                <a:ea typeface="Times New Roman"/>
                <a:cs typeface="Times New Roman"/>
                <a:sym typeface="Times New Roman"/>
              </a:rPr>
              <a:t>Department: Computer Science and Engineering</a:t>
            </a:r>
            <a:endParaRPr sz="2100" dirty="0">
              <a:latin typeface="Times New Roman"/>
              <a:ea typeface="Times New Roman"/>
              <a:cs typeface="Times New Roman"/>
              <a:sym typeface="Times New Roman"/>
            </a:endParaRPr>
          </a:p>
          <a:p>
            <a:pPr marL="0" lvl="0" indent="0" algn="l" rtl="0">
              <a:lnSpc>
                <a:spcPct val="80000"/>
              </a:lnSpc>
              <a:spcBef>
                <a:spcPts val="434"/>
              </a:spcBef>
              <a:spcAft>
                <a:spcPts val="0"/>
              </a:spcAft>
              <a:buClr>
                <a:schemeClr val="dk1"/>
              </a:buClr>
              <a:buSzPts val="1960"/>
              <a:buNone/>
            </a:pPr>
            <a:r>
              <a:rPr lang="en-US" sz="2100" dirty="0">
                <a:latin typeface="Times New Roman"/>
                <a:ea typeface="Times New Roman"/>
                <a:cs typeface="Times New Roman"/>
                <a:sym typeface="Times New Roman"/>
              </a:rPr>
              <a:t>Domain: Data Analytics</a:t>
            </a:r>
            <a:endParaRPr sz="2100" dirty="0">
              <a:latin typeface="Times New Roman"/>
              <a:ea typeface="Times New Roman"/>
              <a:cs typeface="Times New Roman"/>
              <a:sym typeface="Times New Roman"/>
            </a:endParaRPr>
          </a:p>
          <a:p>
            <a:pPr marL="0" lvl="0" indent="0" algn="l" rtl="0">
              <a:lnSpc>
                <a:spcPct val="80000"/>
              </a:lnSpc>
              <a:spcBef>
                <a:spcPts val="434"/>
              </a:spcBef>
              <a:spcAft>
                <a:spcPts val="0"/>
              </a:spcAft>
              <a:buClr>
                <a:schemeClr val="dk1"/>
              </a:buClr>
              <a:buSzPts val="1960"/>
              <a:buNone/>
            </a:pPr>
            <a:r>
              <a:rPr lang="en-US" sz="2100" dirty="0">
                <a:latin typeface="Times New Roman"/>
                <a:ea typeface="Times New Roman"/>
                <a:cs typeface="Times New Roman"/>
                <a:sym typeface="Times New Roman"/>
              </a:rPr>
              <a:t>Guide Name: </a:t>
            </a:r>
            <a:r>
              <a:rPr lang="en-US" sz="2100" dirty="0" err="1">
                <a:latin typeface="Times New Roman"/>
                <a:ea typeface="Times New Roman"/>
                <a:cs typeface="Times New Roman"/>
                <a:sym typeface="Times New Roman"/>
              </a:rPr>
              <a:t>Dr.M.Krishnamoorthy</a:t>
            </a:r>
            <a:endParaRPr sz="2100" dirty="0">
              <a:latin typeface="Times New Roman"/>
              <a:ea typeface="Times New Roman"/>
              <a:cs typeface="Times New Roman"/>
              <a:sym typeface="Times New Roman"/>
            </a:endParaRPr>
          </a:p>
          <a:p>
            <a:pPr marL="0" lvl="0" indent="0" algn="l" rtl="0">
              <a:lnSpc>
                <a:spcPct val="80000"/>
              </a:lnSpc>
              <a:spcBef>
                <a:spcPts val="434"/>
              </a:spcBef>
              <a:spcAft>
                <a:spcPts val="0"/>
              </a:spcAft>
              <a:buClr>
                <a:schemeClr val="dk1"/>
              </a:buClr>
              <a:buSzPts val="1960"/>
              <a:buNone/>
            </a:pPr>
            <a:r>
              <a:rPr lang="en-US" sz="2100" dirty="0">
                <a:latin typeface="Times New Roman"/>
                <a:ea typeface="Times New Roman"/>
                <a:cs typeface="Times New Roman"/>
                <a:sym typeface="Times New Roman"/>
              </a:rPr>
              <a:t>Type of Project: Research</a:t>
            </a:r>
            <a:endParaRPr sz="2100" dirty="0">
              <a:latin typeface="Times New Roman"/>
              <a:ea typeface="Times New Roman"/>
              <a:cs typeface="Times New Roman"/>
              <a:sym typeface="Times New Roman"/>
            </a:endParaRPr>
          </a:p>
          <a:p>
            <a:pPr marL="0" lvl="0" indent="0" algn="l" rtl="0">
              <a:lnSpc>
                <a:spcPct val="80000"/>
              </a:lnSpc>
              <a:spcBef>
                <a:spcPts val="434"/>
              </a:spcBef>
              <a:spcAft>
                <a:spcPts val="0"/>
              </a:spcAft>
              <a:buClr>
                <a:schemeClr val="dk1"/>
              </a:buClr>
              <a:buSzPts val="1960"/>
              <a:buNone/>
            </a:pPr>
            <a:r>
              <a:rPr lang="en-US" sz="2100" dirty="0">
                <a:latin typeface="Times New Roman"/>
                <a:ea typeface="Times New Roman"/>
                <a:cs typeface="Times New Roman"/>
                <a:sym typeface="Times New Roman"/>
              </a:rPr>
              <a:t>Date: 28-10-2025</a:t>
            </a:r>
            <a:endParaRPr sz="2100" dirty="0">
              <a:latin typeface="Times New Roman"/>
              <a:ea typeface="Times New Roman"/>
              <a:cs typeface="Times New Roman"/>
              <a:sym typeface="Times New Roman"/>
            </a:endParaRPr>
          </a:p>
        </p:txBody>
      </p:sp>
      <p:grpSp>
        <p:nvGrpSpPr>
          <p:cNvPr id="90" name="Google Shape;90;p13"/>
          <p:cNvGrpSpPr/>
          <p:nvPr/>
        </p:nvGrpSpPr>
        <p:grpSpPr>
          <a:xfrm>
            <a:off x="198205" y="44624"/>
            <a:ext cx="8747590" cy="1351554"/>
            <a:chOff x="174379" y="61222"/>
            <a:chExt cx="8747590" cy="833081"/>
          </a:xfrm>
        </p:grpSpPr>
        <p:pic>
          <p:nvPicPr>
            <p:cNvPr id="91" name="Google Shape;91;p13"/>
            <p:cNvPicPr preferRelativeResize="0"/>
            <p:nvPr/>
          </p:nvPicPr>
          <p:blipFill rotWithShape="1">
            <a:blip r:embed="rId3">
              <a:alphaModFix/>
            </a:blip>
            <a:srcRect/>
            <a:stretch/>
          </p:blipFill>
          <p:spPr>
            <a:xfrm>
              <a:off x="174379" y="61222"/>
              <a:ext cx="1809780" cy="833081"/>
            </a:xfrm>
            <a:prstGeom prst="rect">
              <a:avLst/>
            </a:prstGeom>
            <a:noFill/>
            <a:ln>
              <a:noFill/>
            </a:ln>
          </p:spPr>
        </p:pic>
        <p:pic>
          <p:nvPicPr>
            <p:cNvPr id="92" name="Google Shape;92;p13" descr="Anna University - Wikipedia"/>
            <p:cNvPicPr preferRelativeResize="0"/>
            <p:nvPr/>
          </p:nvPicPr>
          <p:blipFill rotWithShape="1">
            <a:blip r:embed="rId4">
              <a:alphaModFix/>
            </a:blip>
            <a:srcRect/>
            <a:stretch/>
          </p:blipFill>
          <p:spPr>
            <a:xfrm>
              <a:off x="7615085" y="88372"/>
              <a:ext cx="1306884" cy="805931"/>
            </a:xfrm>
            <a:prstGeom prst="rect">
              <a:avLst/>
            </a:prstGeom>
            <a:noFill/>
            <a:ln>
              <a:noFill/>
            </a:ln>
          </p:spPr>
        </p:pic>
        <p:pic>
          <p:nvPicPr>
            <p:cNvPr id="93" name="Google Shape;93;p13"/>
            <p:cNvPicPr preferRelativeResize="0"/>
            <p:nvPr/>
          </p:nvPicPr>
          <p:blipFill rotWithShape="1">
            <a:blip r:embed="rId5">
              <a:alphaModFix/>
            </a:blip>
            <a:srcRect/>
            <a:stretch/>
          </p:blipFill>
          <p:spPr>
            <a:xfrm>
              <a:off x="1868992" y="61222"/>
              <a:ext cx="5683309" cy="833081"/>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4"/>
          <p:cNvSpPr txBox="1">
            <a:spLocks noGrp="1"/>
          </p:cNvSpPr>
          <p:nvPr>
            <p:ph type="title"/>
          </p:nvPr>
        </p:nvSpPr>
        <p:spPr>
          <a:xfrm>
            <a:off x="457200" y="116632"/>
            <a:ext cx="8229600" cy="63408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Times New Roman"/>
              <a:buNone/>
            </a:pPr>
            <a:r>
              <a:rPr lang="en-US" sz="4000" dirty="0">
                <a:latin typeface="Times New Roman"/>
                <a:ea typeface="Times New Roman"/>
                <a:cs typeface="Times New Roman"/>
                <a:sym typeface="Times New Roman"/>
              </a:rPr>
              <a:t>AGENDA</a:t>
            </a:r>
            <a:endParaRPr dirty="0"/>
          </a:p>
        </p:txBody>
      </p:sp>
      <p:sp>
        <p:nvSpPr>
          <p:cNvPr id="99" name="Google Shape;99;p14"/>
          <p:cNvSpPr txBox="1">
            <a:spLocks noGrp="1"/>
          </p:cNvSpPr>
          <p:nvPr>
            <p:ph type="body" idx="1"/>
          </p:nvPr>
        </p:nvSpPr>
        <p:spPr>
          <a:xfrm>
            <a:off x="683568" y="908720"/>
            <a:ext cx="7776864" cy="5760640"/>
          </a:xfrm>
          <a:prstGeom prst="rect">
            <a:avLst/>
          </a:prstGeom>
          <a:noFill/>
          <a:ln>
            <a:noFill/>
          </a:ln>
        </p:spPr>
        <p:txBody>
          <a:bodyPr spcFirstLastPara="1" wrap="square" lIns="91425" tIns="45700" rIns="91425" bIns="45700" anchor="t" anchorCtr="0">
            <a:noAutofit/>
          </a:bodyPr>
          <a:lstStyle/>
          <a:p>
            <a:pPr marL="342900" algn="just">
              <a:lnSpc>
                <a:spcPct val="150000"/>
              </a:lnSpc>
              <a:spcBef>
                <a:spcPts val="0"/>
              </a:spcBef>
            </a:pPr>
            <a:r>
              <a:rPr lang="en-IN" sz="2400" dirty="0">
                <a:latin typeface="Times New Roman"/>
                <a:ea typeface="Times New Roman"/>
                <a:cs typeface="Times New Roman"/>
                <a:sym typeface="Times New Roman"/>
              </a:rPr>
              <a:t>Introduction &amp; Objectives</a:t>
            </a:r>
          </a:p>
          <a:p>
            <a:pPr marL="342900" algn="just">
              <a:lnSpc>
                <a:spcPct val="150000"/>
              </a:lnSpc>
              <a:spcBef>
                <a:spcPts val="0"/>
              </a:spcBef>
            </a:pPr>
            <a:r>
              <a:rPr lang="en-IN" sz="2400" dirty="0">
                <a:latin typeface="Times New Roman"/>
                <a:ea typeface="Times New Roman"/>
                <a:cs typeface="Times New Roman"/>
                <a:sym typeface="Times New Roman"/>
              </a:rPr>
              <a:t>Literature Survey</a:t>
            </a:r>
          </a:p>
          <a:p>
            <a:pPr marL="342900" algn="just">
              <a:lnSpc>
                <a:spcPct val="150000"/>
              </a:lnSpc>
              <a:spcBef>
                <a:spcPts val="0"/>
              </a:spcBef>
            </a:pPr>
            <a:r>
              <a:rPr lang="en-IN" sz="2400" dirty="0">
                <a:latin typeface="Times New Roman"/>
                <a:ea typeface="Times New Roman"/>
                <a:cs typeface="Times New Roman"/>
                <a:sym typeface="Times New Roman"/>
              </a:rPr>
              <a:t>Problem Statement</a:t>
            </a:r>
          </a:p>
          <a:p>
            <a:pPr marL="342900" algn="just">
              <a:lnSpc>
                <a:spcPct val="150000"/>
              </a:lnSpc>
              <a:spcBef>
                <a:spcPts val="0"/>
              </a:spcBef>
            </a:pPr>
            <a:r>
              <a:rPr lang="en-IN" sz="2400" dirty="0">
                <a:latin typeface="Times New Roman"/>
                <a:ea typeface="Times New Roman"/>
                <a:cs typeface="Times New Roman"/>
                <a:sym typeface="Times New Roman"/>
              </a:rPr>
              <a:t>System Architecture &amp; UML Diagrams</a:t>
            </a:r>
          </a:p>
          <a:p>
            <a:pPr marL="342900" algn="just">
              <a:lnSpc>
                <a:spcPct val="150000"/>
              </a:lnSpc>
              <a:spcBef>
                <a:spcPts val="0"/>
              </a:spcBef>
            </a:pPr>
            <a:r>
              <a:rPr lang="en-IN" sz="2400" dirty="0">
                <a:latin typeface="Times New Roman"/>
                <a:ea typeface="Times New Roman"/>
                <a:cs typeface="Times New Roman"/>
                <a:sym typeface="Times New Roman"/>
              </a:rPr>
              <a:t>Modules Overview</a:t>
            </a:r>
          </a:p>
          <a:p>
            <a:pPr marL="342900" algn="just">
              <a:lnSpc>
                <a:spcPct val="150000"/>
              </a:lnSpc>
              <a:spcBef>
                <a:spcPts val="0"/>
              </a:spcBef>
            </a:pPr>
            <a:r>
              <a:rPr lang="en-IN" sz="2400" dirty="0">
                <a:latin typeface="Times New Roman"/>
                <a:ea typeface="Times New Roman"/>
                <a:cs typeface="Times New Roman"/>
                <a:sym typeface="Times New Roman"/>
              </a:rPr>
              <a:t>Methodology</a:t>
            </a:r>
          </a:p>
          <a:p>
            <a:pPr marL="342900" algn="just">
              <a:lnSpc>
                <a:spcPct val="150000"/>
              </a:lnSpc>
              <a:spcBef>
                <a:spcPts val="0"/>
              </a:spcBef>
            </a:pPr>
            <a:r>
              <a:rPr lang="en-IN" sz="2400" dirty="0">
                <a:latin typeface="Times New Roman"/>
                <a:ea typeface="Times New Roman"/>
                <a:cs typeface="Times New Roman"/>
                <a:sym typeface="Times New Roman"/>
              </a:rPr>
              <a:t>Testing &amp; Performance Analysis</a:t>
            </a:r>
          </a:p>
          <a:p>
            <a:pPr marL="342900" algn="just">
              <a:lnSpc>
                <a:spcPct val="150000"/>
              </a:lnSpc>
              <a:spcBef>
                <a:spcPts val="0"/>
              </a:spcBef>
            </a:pPr>
            <a:r>
              <a:rPr lang="en-IN" sz="2400" dirty="0">
                <a:latin typeface="Times New Roman"/>
                <a:ea typeface="Times New Roman"/>
                <a:cs typeface="Times New Roman"/>
                <a:sym typeface="Times New Roman"/>
              </a:rPr>
              <a:t>Implementation - Web App Demo</a:t>
            </a:r>
          </a:p>
          <a:p>
            <a:pPr marL="342900" algn="just">
              <a:lnSpc>
                <a:spcPct val="150000"/>
              </a:lnSpc>
              <a:spcBef>
                <a:spcPts val="0"/>
              </a:spcBef>
            </a:pPr>
            <a:r>
              <a:rPr lang="en-IN" sz="2400" dirty="0">
                <a:latin typeface="Times New Roman"/>
                <a:ea typeface="Times New Roman"/>
                <a:cs typeface="Times New Roman"/>
                <a:sym typeface="Times New Roman"/>
              </a:rPr>
              <a:t>Conclusion &amp; Future Work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63B9C9-3639-E280-3C0F-4BCC774B6AA9}"/>
            </a:ext>
          </a:extLst>
        </p:cNvPr>
        <p:cNvGrpSpPr/>
        <p:nvPr/>
      </p:nvGrpSpPr>
      <p:grpSpPr>
        <a:xfrm>
          <a:off x="0" y="0"/>
          <a:ext cx="0" cy="0"/>
          <a:chOff x="0" y="0"/>
          <a:chExt cx="0" cy="0"/>
        </a:xfrm>
      </p:grpSpPr>
      <p:sp>
        <p:nvSpPr>
          <p:cNvPr id="104" name="Google Shape;104;p15">
            <a:extLst>
              <a:ext uri="{FF2B5EF4-FFF2-40B4-BE49-F238E27FC236}">
                <a16:creationId xmlns:a16="http://schemas.microsoft.com/office/drawing/2014/main" id="{A8A83B2E-F1F4-DBC3-B7DD-E98AE769792A}"/>
              </a:ext>
            </a:extLst>
          </p:cNvPr>
          <p:cNvSpPr txBox="1">
            <a:spLocks noGrp="1"/>
          </p:cNvSpPr>
          <p:nvPr>
            <p:ph type="title"/>
          </p:nvPr>
        </p:nvSpPr>
        <p:spPr>
          <a:xfrm>
            <a:off x="457200" y="116632"/>
            <a:ext cx="8229600" cy="634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Times New Roman"/>
              <a:buNone/>
            </a:pPr>
            <a:r>
              <a:rPr lang="en-US" sz="4000">
                <a:latin typeface="Times New Roman"/>
                <a:ea typeface="Times New Roman"/>
                <a:cs typeface="Times New Roman"/>
                <a:sym typeface="Times New Roman"/>
              </a:rPr>
              <a:t>INTRODUCTION</a:t>
            </a:r>
            <a:endParaRPr/>
          </a:p>
        </p:txBody>
      </p:sp>
      <p:sp>
        <p:nvSpPr>
          <p:cNvPr id="105" name="Google Shape;105;p15">
            <a:extLst>
              <a:ext uri="{FF2B5EF4-FFF2-40B4-BE49-F238E27FC236}">
                <a16:creationId xmlns:a16="http://schemas.microsoft.com/office/drawing/2014/main" id="{D46BC482-1875-F3CE-10D4-103AAA3669C8}"/>
              </a:ext>
            </a:extLst>
          </p:cNvPr>
          <p:cNvSpPr txBox="1">
            <a:spLocks noGrp="1"/>
          </p:cNvSpPr>
          <p:nvPr>
            <p:ph type="body" idx="1"/>
          </p:nvPr>
        </p:nvSpPr>
        <p:spPr>
          <a:xfrm>
            <a:off x="683568" y="908720"/>
            <a:ext cx="7776900" cy="5760600"/>
          </a:xfrm>
          <a:prstGeom prst="rect">
            <a:avLst/>
          </a:prstGeom>
          <a:noFill/>
          <a:ln>
            <a:noFill/>
          </a:ln>
        </p:spPr>
        <p:txBody>
          <a:bodyPr spcFirstLastPara="1" wrap="square" lIns="91425" tIns="45700" rIns="91425" bIns="45700" anchor="t" anchorCtr="0">
            <a:noAutofit/>
          </a:bodyPr>
          <a:lstStyle/>
          <a:p>
            <a:pPr marL="266700" lvl="0" indent="-266700" algn="just" rtl="0">
              <a:lnSpc>
                <a:spcPct val="150000"/>
              </a:lnSpc>
              <a:spcBef>
                <a:spcPts val="0"/>
              </a:spcBef>
              <a:spcAft>
                <a:spcPts val="0"/>
              </a:spcAft>
              <a:buClr>
                <a:schemeClr val="dk1"/>
              </a:buClr>
              <a:buSzPts val="1800"/>
              <a:buChar char="•"/>
            </a:pPr>
            <a:r>
              <a:rPr lang="en-US" sz="2000" dirty="0">
                <a:latin typeface="Times New Roman"/>
                <a:ea typeface="Times New Roman"/>
                <a:cs typeface="Times New Roman"/>
                <a:sym typeface="Times New Roman"/>
              </a:rPr>
              <a:t>This project focuses on assessing the </a:t>
            </a:r>
            <a:r>
              <a:rPr lang="en-US" sz="2000" b="1" dirty="0">
                <a:latin typeface="Times New Roman"/>
                <a:ea typeface="Times New Roman"/>
                <a:cs typeface="Times New Roman"/>
                <a:sym typeface="Times New Roman"/>
              </a:rPr>
              <a:t>urban livability </a:t>
            </a:r>
            <a:r>
              <a:rPr lang="en-US" sz="2000" dirty="0">
                <a:latin typeface="Times New Roman"/>
                <a:ea typeface="Times New Roman"/>
                <a:cs typeface="Times New Roman"/>
                <a:sym typeface="Times New Roman"/>
              </a:rPr>
              <a:t>of major Indian cities using a data-driven approach.</a:t>
            </a:r>
          </a:p>
          <a:p>
            <a:pPr marL="266700" lvl="0" indent="-266700" algn="just" rtl="0">
              <a:lnSpc>
                <a:spcPct val="150000"/>
              </a:lnSpc>
              <a:spcBef>
                <a:spcPts val="0"/>
              </a:spcBef>
              <a:spcAft>
                <a:spcPts val="0"/>
              </a:spcAft>
              <a:buClr>
                <a:schemeClr val="dk1"/>
              </a:buClr>
              <a:buSzPts val="1800"/>
              <a:buChar char="•"/>
            </a:pPr>
            <a:r>
              <a:rPr lang="en-US" sz="2000" dirty="0">
                <a:latin typeface="Times New Roman"/>
                <a:ea typeface="Times New Roman"/>
                <a:cs typeface="Times New Roman"/>
                <a:sym typeface="Times New Roman"/>
              </a:rPr>
              <a:t>It aligns with the </a:t>
            </a:r>
            <a:r>
              <a:rPr lang="en-US" sz="2000" b="1" dirty="0">
                <a:latin typeface="Times New Roman"/>
                <a:ea typeface="Times New Roman"/>
                <a:cs typeface="Times New Roman"/>
                <a:sym typeface="Times New Roman"/>
              </a:rPr>
              <a:t>United Nations Sustainable Development Goals </a:t>
            </a:r>
            <a:r>
              <a:rPr lang="en-US" sz="2000" dirty="0">
                <a:latin typeface="Times New Roman"/>
                <a:ea typeface="Times New Roman"/>
                <a:cs typeface="Times New Roman"/>
                <a:sym typeface="Times New Roman"/>
              </a:rPr>
              <a:t>(SDGs 1, 3, and 11) related to poverty, health, and sustainable cities.</a:t>
            </a:r>
          </a:p>
          <a:p>
            <a:pPr marL="266700" lvl="0" indent="-266700" algn="just" rtl="0">
              <a:lnSpc>
                <a:spcPct val="150000"/>
              </a:lnSpc>
              <a:spcBef>
                <a:spcPts val="0"/>
              </a:spcBef>
              <a:spcAft>
                <a:spcPts val="0"/>
              </a:spcAft>
              <a:buClr>
                <a:schemeClr val="dk1"/>
              </a:buClr>
              <a:buSzPts val="1800"/>
              <a:buChar char="•"/>
            </a:pPr>
            <a:r>
              <a:rPr lang="en-US" sz="2000" dirty="0">
                <a:latin typeface="Times New Roman"/>
                <a:ea typeface="Times New Roman"/>
                <a:cs typeface="Times New Roman"/>
                <a:sym typeface="Times New Roman"/>
              </a:rPr>
              <a:t>The study evaluates multiple dimensions including Air Quality, Health, Population Density and Poverty levels.</a:t>
            </a:r>
          </a:p>
          <a:p>
            <a:pPr marL="266700" lvl="0" indent="-266700" algn="just" rtl="0">
              <a:lnSpc>
                <a:spcPct val="150000"/>
              </a:lnSpc>
              <a:spcBef>
                <a:spcPts val="0"/>
              </a:spcBef>
              <a:spcAft>
                <a:spcPts val="0"/>
              </a:spcAft>
              <a:buClr>
                <a:schemeClr val="dk1"/>
              </a:buClr>
              <a:buSzPts val="1800"/>
              <a:buChar char="•"/>
            </a:pPr>
            <a:r>
              <a:rPr lang="en-US" sz="2000" dirty="0">
                <a:latin typeface="Times New Roman"/>
                <a:ea typeface="Times New Roman"/>
                <a:cs typeface="Times New Roman"/>
                <a:sym typeface="Times New Roman"/>
              </a:rPr>
              <a:t>A </a:t>
            </a:r>
            <a:r>
              <a:rPr lang="en-US" sz="2000" b="1" dirty="0">
                <a:latin typeface="Times New Roman"/>
                <a:ea typeface="Times New Roman"/>
                <a:cs typeface="Times New Roman"/>
                <a:sym typeface="Times New Roman"/>
              </a:rPr>
              <a:t>composite Livability Index </a:t>
            </a:r>
            <a:r>
              <a:rPr lang="en-US" sz="2000" dirty="0">
                <a:latin typeface="Times New Roman"/>
                <a:ea typeface="Times New Roman"/>
                <a:cs typeface="Times New Roman"/>
                <a:sym typeface="Times New Roman"/>
              </a:rPr>
              <a:t>(LI) is developed by normalizing and combining these indicators.</a:t>
            </a:r>
          </a:p>
          <a:p>
            <a:pPr marL="266700" lvl="0" indent="-266700" algn="just" rtl="0">
              <a:lnSpc>
                <a:spcPct val="150000"/>
              </a:lnSpc>
              <a:spcBef>
                <a:spcPts val="0"/>
              </a:spcBef>
              <a:spcAft>
                <a:spcPts val="0"/>
              </a:spcAft>
              <a:buClr>
                <a:schemeClr val="dk1"/>
              </a:buClr>
              <a:buSzPts val="1800"/>
              <a:buChar char="•"/>
            </a:pPr>
            <a:r>
              <a:rPr lang="en-US" sz="2000" dirty="0">
                <a:latin typeface="Times New Roman"/>
                <a:ea typeface="Times New Roman"/>
                <a:cs typeface="Times New Roman"/>
                <a:sym typeface="Times New Roman"/>
              </a:rPr>
              <a:t>An interactive </a:t>
            </a:r>
            <a:r>
              <a:rPr lang="en-US" sz="2000" b="1" dirty="0" err="1">
                <a:latin typeface="Times New Roman"/>
                <a:ea typeface="Times New Roman"/>
                <a:cs typeface="Times New Roman"/>
                <a:sym typeface="Times New Roman"/>
              </a:rPr>
              <a:t>Streamlit</a:t>
            </a:r>
            <a:r>
              <a:rPr lang="en-US" sz="2000" b="1" dirty="0">
                <a:latin typeface="Times New Roman"/>
                <a:ea typeface="Times New Roman"/>
                <a:cs typeface="Times New Roman"/>
                <a:sym typeface="Times New Roman"/>
              </a:rPr>
              <a:t> web application </a:t>
            </a:r>
            <a:r>
              <a:rPr lang="en-US" sz="2000" dirty="0">
                <a:latin typeface="Times New Roman"/>
                <a:ea typeface="Times New Roman"/>
                <a:cs typeface="Times New Roman"/>
                <a:sym typeface="Times New Roman"/>
              </a:rPr>
              <a:t>is created to visualize trends, compare cities, and interpret livability results dynamically.</a:t>
            </a:r>
            <a:endParaRPr sz="20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31678567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3ADBA9CF-3162-9153-2DEF-D078F63F3971}"/>
            </a:ext>
          </a:extLst>
        </p:cNvPr>
        <p:cNvGrpSpPr/>
        <p:nvPr/>
      </p:nvGrpSpPr>
      <p:grpSpPr>
        <a:xfrm>
          <a:off x="0" y="0"/>
          <a:ext cx="0" cy="0"/>
          <a:chOff x="0" y="0"/>
          <a:chExt cx="0" cy="0"/>
        </a:xfrm>
      </p:grpSpPr>
      <p:sp>
        <p:nvSpPr>
          <p:cNvPr id="104" name="Google Shape;104;p15">
            <a:extLst>
              <a:ext uri="{FF2B5EF4-FFF2-40B4-BE49-F238E27FC236}">
                <a16:creationId xmlns:a16="http://schemas.microsoft.com/office/drawing/2014/main" id="{2601C6EE-9356-C24B-DC45-DB1C4E729907}"/>
              </a:ext>
            </a:extLst>
          </p:cNvPr>
          <p:cNvSpPr txBox="1">
            <a:spLocks noGrp="1"/>
          </p:cNvSpPr>
          <p:nvPr>
            <p:ph type="title"/>
          </p:nvPr>
        </p:nvSpPr>
        <p:spPr>
          <a:xfrm>
            <a:off x="457200" y="116632"/>
            <a:ext cx="8229600" cy="634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Times New Roman"/>
              <a:buNone/>
            </a:pPr>
            <a:r>
              <a:rPr lang="en-US" sz="4000" dirty="0">
                <a:latin typeface="Times New Roman"/>
                <a:ea typeface="Times New Roman"/>
                <a:cs typeface="Times New Roman"/>
                <a:sym typeface="Times New Roman"/>
              </a:rPr>
              <a:t>OBJECTIVES</a:t>
            </a:r>
            <a:endParaRPr dirty="0"/>
          </a:p>
        </p:txBody>
      </p:sp>
      <p:sp>
        <p:nvSpPr>
          <p:cNvPr id="105" name="Google Shape;105;p15">
            <a:extLst>
              <a:ext uri="{FF2B5EF4-FFF2-40B4-BE49-F238E27FC236}">
                <a16:creationId xmlns:a16="http://schemas.microsoft.com/office/drawing/2014/main" id="{0ACF29EA-B76A-B36D-AFEC-75C6A6A6625B}"/>
              </a:ext>
            </a:extLst>
          </p:cNvPr>
          <p:cNvSpPr txBox="1">
            <a:spLocks noGrp="1"/>
          </p:cNvSpPr>
          <p:nvPr>
            <p:ph type="body" idx="1"/>
          </p:nvPr>
        </p:nvSpPr>
        <p:spPr>
          <a:xfrm>
            <a:off x="683568" y="908720"/>
            <a:ext cx="7776900" cy="5760600"/>
          </a:xfrm>
          <a:prstGeom prst="rect">
            <a:avLst/>
          </a:prstGeom>
          <a:noFill/>
          <a:ln>
            <a:noFill/>
          </a:ln>
        </p:spPr>
        <p:txBody>
          <a:bodyPr spcFirstLastPara="1" wrap="square" lIns="91425" tIns="45700" rIns="91425" bIns="45700" anchor="t" anchorCtr="0">
            <a:noAutofit/>
          </a:bodyPr>
          <a:lstStyle/>
          <a:p>
            <a:pPr marL="266700" lvl="0" indent="-266700" algn="just" rtl="0">
              <a:lnSpc>
                <a:spcPct val="150000"/>
              </a:lnSpc>
              <a:spcBef>
                <a:spcPts val="0"/>
              </a:spcBef>
              <a:spcAft>
                <a:spcPts val="0"/>
              </a:spcAft>
              <a:buClr>
                <a:schemeClr val="dk1"/>
              </a:buClr>
              <a:buSzPts val="1800"/>
              <a:buChar char="•"/>
            </a:pPr>
            <a:r>
              <a:rPr lang="en-US" sz="2000" dirty="0">
                <a:latin typeface="Times New Roman"/>
                <a:ea typeface="Times New Roman"/>
                <a:cs typeface="Times New Roman"/>
                <a:sym typeface="Times New Roman"/>
              </a:rPr>
              <a:t>To analyze and compare the livability of </a:t>
            </a:r>
            <a:r>
              <a:rPr lang="en-US" sz="2000" b="1" dirty="0">
                <a:latin typeface="Times New Roman"/>
                <a:ea typeface="Times New Roman"/>
                <a:cs typeface="Times New Roman"/>
                <a:sym typeface="Times New Roman"/>
              </a:rPr>
              <a:t>five major Indian cities </a:t>
            </a:r>
            <a:r>
              <a:rPr lang="en-US" sz="2000" dirty="0">
                <a:latin typeface="Times New Roman"/>
                <a:ea typeface="Times New Roman"/>
                <a:cs typeface="Times New Roman"/>
                <a:sym typeface="Times New Roman"/>
              </a:rPr>
              <a:t>from 2019–2023.</a:t>
            </a:r>
          </a:p>
          <a:p>
            <a:pPr marL="266700" lvl="0" indent="-266700" algn="just" rtl="0">
              <a:lnSpc>
                <a:spcPct val="150000"/>
              </a:lnSpc>
              <a:spcBef>
                <a:spcPts val="0"/>
              </a:spcBef>
              <a:spcAft>
                <a:spcPts val="0"/>
              </a:spcAft>
              <a:buClr>
                <a:schemeClr val="dk1"/>
              </a:buClr>
              <a:buSzPts val="1800"/>
              <a:buChar char="•"/>
            </a:pPr>
            <a:r>
              <a:rPr lang="en-US" sz="2000" dirty="0">
                <a:latin typeface="Times New Roman"/>
                <a:ea typeface="Times New Roman"/>
                <a:cs typeface="Times New Roman"/>
                <a:sym typeface="Times New Roman"/>
              </a:rPr>
              <a:t>To normalize and integrate multiple socio-environmental indicators into a single </a:t>
            </a:r>
            <a:r>
              <a:rPr lang="en-US" sz="2000" b="1" dirty="0">
                <a:latin typeface="Times New Roman"/>
                <a:ea typeface="Times New Roman"/>
                <a:cs typeface="Times New Roman"/>
                <a:sym typeface="Times New Roman"/>
              </a:rPr>
              <a:t>Livability Index</a:t>
            </a:r>
            <a:r>
              <a:rPr lang="en-US" sz="2000" dirty="0">
                <a:latin typeface="Times New Roman"/>
                <a:ea typeface="Times New Roman"/>
                <a:cs typeface="Times New Roman"/>
                <a:sym typeface="Times New Roman"/>
              </a:rPr>
              <a:t>.</a:t>
            </a:r>
          </a:p>
          <a:p>
            <a:pPr marL="266700" lvl="0" indent="-266700" algn="just" rtl="0">
              <a:lnSpc>
                <a:spcPct val="150000"/>
              </a:lnSpc>
              <a:spcBef>
                <a:spcPts val="0"/>
              </a:spcBef>
              <a:spcAft>
                <a:spcPts val="0"/>
              </a:spcAft>
              <a:buClr>
                <a:schemeClr val="dk1"/>
              </a:buClr>
              <a:buSzPts val="1800"/>
              <a:buChar char="•"/>
            </a:pPr>
            <a:r>
              <a:rPr lang="en-US" sz="2000" dirty="0">
                <a:latin typeface="Times New Roman"/>
                <a:ea typeface="Times New Roman"/>
                <a:cs typeface="Times New Roman"/>
                <a:sym typeface="Times New Roman"/>
              </a:rPr>
              <a:t>To visualize trends and relationships among sub-indices and overall livability.</a:t>
            </a:r>
          </a:p>
          <a:p>
            <a:pPr marL="266700" lvl="0" indent="-266700" algn="just" rtl="0">
              <a:lnSpc>
                <a:spcPct val="150000"/>
              </a:lnSpc>
              <a:spcBef>
                <a:spcPts val="0"/>
              </a:spcBef>
              <a:spcAft>
                <a:spcPts val="0"/>
              </a:spcAft>
              <a:buClr>
                <a:schemeClr val="dk1"/>
              </a:buClr>
              <a:buSzPts val="1800"/>
              <a:buChar char="•"/>
            </a:pPr>
            <a:r>
              <a:rPr lang="en-US" sz="2000" dirty="0">
                <a:latin typeface="Times New Roman"/>
                <a:ea typeface="Times New Roman"/>
                <a:cs typeface="Times New Roman"/>
                <a:sym typeface="Times New Roman"/>
              </a:rPr>
              <a:t>To develop a </a:t>
            </a:r>
            <a:r>
              <a:rPr lang="en-US" sz="2000" b="1" dirty="0">
                <a:latin typeface="Times New Roman"/>
                <a:ea typeface="Times New Roman"/>
                <a:cs typeface="Times New Roman"/>
                <a:sym typeface="Times New Roman"/>
              </a:rPr>
              <a:t>user-friendly web interface </a:t>
            </a:r>
            <a:r>
              <a:rPr lang="en-US" sz="2000" dirty="0">
                <a:latin typeface="Times New Roman"/>
                <a:ea typeface="Times New Roman"/>
                <a:cs typeface="Times New Roman"/>
                <a:sym typeface="Times New Roman"/>
              </a:rPr>
              <a:t>for dynamic exploration of results.</a:t>
            </a:r>
          </a:p>
          <a:p>
            <a:pPr marL="266700" lvl="0" indent="-266700" algn="just" rtl="0">
              <a:lnSpc>
                <a:spcPct val="150000"/>
              </a:lnSpc>
              <a:spcBef>
                <a:spcPts val="0"/>
              </a:spcBef>
              <a:spcAft>
                <a:spcPts val="0"/>
              </a:spcAft>
              <a:buClr>
                <a:schemeClr val="dk1"/>
              </a:buClr>
              <a:buSzPts val="1800"/>
              <a:buChar char="•"/>
            </a:pPr>
            <a:r>
              <a:rPr lang="en-US" sz="2000" dirty="0">
                <a:latin typeface="Times New Roman"/>
                <a:ea typeface="Times New Roman"/>
                <a:cs typeface="Times New Roman"/>
                <a:sym typeface="Times New Roman"/>
              </a:rPr>
              <a:t>To support urban policy and planning through data-based insights.</a:t>
            </a:r>
            <a:endParaRPr sz="20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1712332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2E771A4D-E772-B3F0-5823-EDB830465500}"/>
            </a:ext>
          </a:extLst>
        </p:cNvPr>
        <p:cNvGrpSpPr/>
        <p:nvPr/>
      </p:nvGrpSpPr>
      <p:grpSpPr>
        <a:xfrm>
          <a:off x="0" y="0"/>
          <a:ext cx="0" cy="0"/>
          <a:chOff x="0" y="0"/>
          <a:chExt cx="0" cy="0"/>
        </a:xfrm>
      </p:grpSpPr>
      <p:sp>
        <p:nvSpPr>
          <p:cNvPr id="104" name="Google Shape;104;p15">
            <a:extLst>
              <a:ext uri="{FF2B5EF4-FFF2-40B4-BE49-F238E27FC236}">
                <a16:creationId xmlns:a16="http://schemas.microsoft.com/office/drawing/2014/main" id="{3D0F7555-156C-C62F-3BCB-7A593E588F05}"/>
              </a:ext>
            </a:extLst>
          </p:cNvPr>
          <p:cNvSpPr txBox="1">
            <a:spLocks noGrp="1"/>
          </p:cNvSpPr>
          <p:nvPr>
            <p:ph type="title"/>
          </p:nvPr>
        </p:nvSpPr>
        <p:spPr>
          <a:xfrm>
            <a:off x="457200" y="116632"/>
            <a:ext cx="8229600" cy="634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Times New Roman"/>
              <a:buNone/>
            </a:pPr>
            <a:r>
              <a:rPr lang="en-US" sz="4000" dirty="0">
                <a:latin typeface="Times New Roman"/>
                <a:ea typeface="Times New Roman"/>
                <a:cs typeface="Times New Roman"/>
                <a:sym typeface="Times New Roman"/>
              </a:rPr>
              <a:t>LITERATURE SURVEY</a:t>
            </a:r>
            <a:endParaRPr dirty="0"/>
          </a:p>
        </p:txBody>
      </p:sp>
      <p:graphicFrame>
        <p:nvGraphicFramePr>
          <p:cNvPr id="4" name="Table 3">
            <a:extLst>
              <a:ext uri="{FF2B5EF4-FFF2-40B4-BE49-F238E27FC236}">
                <a16:creationId xmlns:a16="http://schemas.microsoft.com/office/drawing/2014/main" id="{393A52C7-9A17-BF5C-0CD7-2FF7AB03F654}"/>
              </a:ext>
            </a:extLst>
          </p:cNvPr>
          <p:cNvGraphicFramePr>
            <a:graphicFrameLocks noGrp="1"/>
          </p:cNvGraphicFramePr>
          <p:nvPr>
            <p:extLst>
              <p:ext uri="{D42A27DB-BD31-4B8C-83A1-F6EECF244321}">
                <p14:modId xmlns:p14="http://schemas.microsoft.com/office/powerpoint/2010/main" val="3404802337"/>
              </p:ext>
            </p:extLst>
          </p:nvPr>
        </p:nvGraphicFramePr>
        <p:xfrm>
          <a:off x="167183" y="898352"/>
          <a:ext cx="8809634" cy="5648706"/>
        </p:xfrm>
        <a:graphic>
          <a:graphicData uri="http://schemas.openxmlformats.org/drawingml/2006/table">
            <a:tbl>
              <a:tblPr>
                <a:tableStyleId>{BDBED569-4797-4DF1-A0F4-6AAB3CD982D8}</a:tableStyleId>
              </a:tblPr>
              <a:tblGrid>
                <a:gridCol w="512681">
                  <a:extLst>
                    <a:ext uri="{9D8B030D-6E8A-4147-A177-3AD203B41FA5}">
                      <a16:colId xmlns:a16="http://schemas.microsoft.com/office/drawing/2014/main" val="4176856357"/>
                    </a:ext>
                  </a:extLst>
                </a:gridCol>
                <a:gridCol w="1276953">
                  <a:extLst>
                    <a:ext uri="{9D8B030D-6E8A-4147-A177-3AD203B41FA5}">
                      <a16:colId xmlns:a16="http://schemas.microsoft.com/office/drawing/2014/main" val="2241675715"/>
                    </a:ext>
                  </a:extLst>
                </a:gridCol>
                <a:gridCol w="2340000">
                  <a:extLst>
                    <a:ext uri="{9D8B030D-6E8A-4147-A177-3AD203B41FA5}">
                      <a16:colId xmlns:a16="http://schemas.microsoft.com/office/drawing/2014/main" val="2772664532"/>
                    </a:ext>
                  </a:extLst>
                </a:gridCol>
                <a:gridCol w="1980000">
                  <a:extLst>
                    <a:ext uri="{9D8B030D-6E8A-4147-A177-3AD203B41FA5}">
                      <a16:colId xmlns:a16="http://schemas.microsoft.com/office/drawing/2014/main" val="105310640"/>
                    </a:ext>
                  </a:extLst>
                </a:gridCol>
                <a:gridCol w="2700000">
                  <a:extLst>
                    <a:ext uri="{9D8B030D-6E8A-4147-A177-3AD203B41FA5}">
                      <a16:colId xmlns:a16="http://schemas.microsoft.com/office/drawing/2014/main" val="400216970"/>
                    </a:ext>
                  </a:extLst>
                </a:gridCol>
              </a:tblGrid>
              <a:tr h="0">
                <a:tc>
                  <a:txBody>
                    <a:bodyPr/>
                    <a:lstStyle/>
                    <a:p>
                      <a:pPr algn="ctr">
                        <a:lnSpc>
                          <a:spcPct val="150000"/>
                        </a:lnSpc>
                        <a:buNone/>
                      </a:pPr>
                      <a:r>
                        <a:rPr lang="en-US" sz="1100" b="1" dirty="0">
                          <a:latin typeface="Times New Roman" panose="02020603050405020304" pitchFamily="18" charset="0"/>
                          <a:cs typeface="Times New Roman" panose="02020603050405020304" pitchFamily="18" charset="0"/>
                        </a:rPr>
                        <a:t>S. No</a:t>
                      </a:r>
                      <a:endParaRPr lang="en-IN" sz="1100" b="1" dirty="0">
                        <a:latin typeface="Times New Roman" panose="02020603050405020304" pitchFamily="18" charset="0"/>
                        <a:cs typeface="Times New Roman" panose="02020603050405020304" pitchFamily="18" charset="0"/>
                      </a:endParaRPr>
                    </a:p>
                  </a:txBody>
                  <a:tcPr/>
                </a:tc>
                <a:tc>
                  <a:txBody>
                    <a:bodyPr/>
                    <a:lstStyle/>
                    <a:p>
                      <a:pPr algn="ctr">
                        <a:lnSpc>
                          <a:spcPct val="150000"/>
                        </a:lnSpc>
                        <a:buNone/>
                      </a:pPr>
                      <a:r>
                        <a:rPr lang="en-IN" sz="1100" b="1" dirty="0">
                          <a:latin typeface="Times New Roman" panose="02020603050405020304" pitchFamily="18" charset="0"/>
                          <a:cs typeface="Times New Roman" panose="02020603050405020304" pitchFamily="18" charset="0"/>
                        </a:rPr>
                        <a:t>Author &amp; Year</a:t>
                      </a:r>
                    </a:p>
                  </a:txBody>
                  <a:tcPr/>
                </a:tc>
                <a:tc>
                  <a:txBody>
                    <a:bodyPr/>
                    <a:lstStyle/>
                    <a:p>
                      <a:pPr algn="ctr">
                        <a:lnSpc>
                          <a:spcPct val="150000"/>
                        </a:lnSpc>
                        <a:buNone/>
                      </a:pPr>
                      <a:r>
                        <a:rPr lang="en-IN" sz="1100" b="1" dirty="0">
                          <a:latin typeface="Times New Roman" panose="02020603050405020304" pitchFamily="18" charset="0"/>
                          <a:cs typeface="Times New Roman" panose="02020603050405020304" pitchFamily="18" charset="0"/>
                        </a:rPr>
                        <a:t>Title</a:t>
                      </a:r>
                    </a:p>
                  </a:txBody>
                  <a:tcPr/>
                </a:tc>
                <a:tc>
                  <a:txBody>
                    <a:bodyPr/>
                    <a:lstStyle/>
                    <a:p>
                      <a:pPr algn="ctr">
                        <a:lnSpc>
                          <a:spcPct val="150000"/>
                        </a:lnSpc>
                        <a:buNone/>
                      </a:pPr>
                      <a:r>
                        <a:rPr lang="en-IN" sz="1100" b="1" dirty="0">
                          <a:latin typeface="Times New Roman" panose="02020603050405020304" pitchFamily="18" charset="0"/>
                          <a:cs typeface="Times New Roman" panose="02020603050405020304" pitchFamily="18" charset="0"/>
                        </a:rPr>
                        <a:t>Technique Used</a:t>
                      </a:r>
                    </a:p>
                  </a:txBody>
                  <a:tcPr/>
                </a:tc>
                <a:tc>
                  <a:txBody>
                    <a:bodyPr/>
                    <a:lstStyle/>
                    <a:p>
                      <a:pPr algn="ctr">
                        <a:lnSpc>
                          <a:spcPct val="150000"/>
                        </a:lnSpc>
                        <a:buNone/>
                      </a:pPr>
                      <a:r>
                        <a:rPr lang="en-IN" sz="1100" b="1" dirty="0">
                          <a:latin typeface="Times New Roman" panose="02020603050405020304" pitchFamily="18" charset="0"/>
                          <a:cs typeface="Times New Roman" panose="02020603050405020304" pitchFamily="18" charset="0"/>
                        </a:rPr>
                        <a:t>Result / Findings</a:t>
                      </a:r>
                    </a:p>
                  </a:txBody>
                  <a:tcPr/>
                </a:tc>
                <a:extLst>
                  <a:ext uri="{0D108BD9-81ED-4DB2-BD59-A6C34878D82A}">
                    <a16:rowId xmlns:a16="http://schemas.microsoft.com/office/drawing/2014/main" val="2430652546"/>
                  </a:ext>
                </a:extLst>
              </a:tr>
              <a:tr h="345088">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1.</a:t>
                      </a:r>
                      <a:endParaRPr lang="en-IN" sz="110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buNone/>
                      </a:pPr>
                      <a:r>
                        <a:rPr lang="en-IN" sz="1100" b="0" dirty="0">
                          <a:latin typeface="Times New Roman" panose="02020603050405020304" pitchFamily="18" charset="0"/>
                          <a:cs typeface="Times New Roman" panose="02020603050405020304" pitchFamily="18" charset="0"/>
                        </a:rPr>
                        <a:t>Salve et al. (2020)</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Livability-Analysis of People’s Living Comfort in Different Cities of India Using GIS: A Prototype</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Geographic Information System (GIS), Dimensional Index, Z-Score, Decile Scale Ranking</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Developed livability visualization system; GIS and indices effectively assess city livability.</a:t>
                      </a:r>
                    </a:p>
                  </a:txBody>
                  <a:tcPr/>
                </a:tc>
                <a:extLst>
                  <a:ext uri="{0D108BD9-81ED-4DB2-BD59-A6C34878D82A}">
                    <a16:rowId xmlns:a16="http://schemas.microsoft.com/office/drawing/2014/main" val="2957995786"/>
                  </a:ext>
                </a:extLst>
              </a:tr>
              <a:tr h="391542">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2.</a:t>
                      </a:r>
                      <a:endParaRPr lang="en-IN" sz="110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buNone/>
                      </a:pPr>
                      <a:r>
                        <a:rPr lang="en-IN" sz="1100" b="0" dirty="0">
                          <a:latin typeface="Times New Roman" panose="02020603050405020304" pitchFamily="18" charset="0"/>
                          <a:cs typeface="Times New Roman" panose="02020603050405020304" pitchFamily="18" charset="0"/>
                        </a:rPr>
                        <a:t>Shruti et al. (2021)</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Evaluating the Environmental Sustainability of Smart Cities in India: The Design and Application of the Indian Smart City Environmental Sustainability Index</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Smart City Environmental Sustainability Index (SCESI), 24 indicators, 0–100 scale</a:t>
                      </a:r>
                    </a:p>
                  </a:txBody>
                  <a:tcPr/>
                </a:tc>
                <a:tc>
                  <a:txBody>
                    <a:bodyPr/>
                    <a:lstStyle/>
                    <a:p>
                      <a:pPr algn="just">
                        <a:lnSpc>
                          <a:spcPct val="150000"/>
                        </a:lnSpc>
                        <a:buNone/>
                      </a:pPr>
                      <a:r>
                        <a:rPr lang="en-IN" sz="1100" dirty="0">
                          <a:latin typeface="Times New Roman" panose="02020603050405020304" pitchFamily="18" charset="0"/>
                          <a:cs typeface="Times New Roman" panose="02020603050405020304" pitchFamily="18" charset="0"/>
                        </a:rPr>
                        <a:t>Found Delhi and Bhubaneswar performed fairly; Varanasi and Patna lagged; SCESI effectively highlights sustainability gaps.</a:t>
                      </a:r>
                    </a:p>
                  </a:txBody>
                  <a:tcPr/>
                </a:tc>
                <a:extLst>
                  <a:ext uri="{0D108BD9-81ED-4DB2-BD59-A6C34878D82A}">
                    <a16:rowId xmlns:a16="http://schemas.microsoft.com/office/drawing/2014/main" val="1370410855"/>
                  </a:ext>
                </a:extLst>
              </a:tr>
              <a:tr h="345088">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3.</a:t>
                      </a:r>
                      <a:endParaRPr lang="en-IN" sz="110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buNone/>
                      </a:pPr>
                      <a:r>
                        <a:rPr lang="en-IN" sz="1100" b="0" dirty="0">
                          <a:latin typeface="Times New Roman" panose="02020603050405020304" pitchFamily="18" charset="0"/>
                          <a:cs typeface="Times New Roman" panose="02020603050405020304" pitchFamily="18" charset="0"/>
                        </a:rPr>
                        <a:t>Saeed et al. (2022)</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An Integrated Approach for Developing an Urban Livability Composite Index—A Cities’ Ranking Road Map to Achieve Urban Sustainability</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Analytical Hierarchy Process (AHP), Geometric Mean, spatial &amp; non-spatial data</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Revealed disparities among cities; Lahore highest, Rawalpindi strong in well-being and environment; useful for policy decision-making.</a:t>
                      </a:r>
                    </a:p>
                  </a:txBody>
                  <a:tcPr/>
                </a:tc>
                <a:extLst>
                  <a:ext uri="{0D108BD9-81ED-4DB2-BD59-A6C34878D82A}">
                    <a16:rowId xmlns:a16="http://schemas.microsoft.com/office/drawing/2014/main" val="1048706919"/>
                  </a:ext>
                </a:extLst>
              </a:tr>
              <a:tr h="298634">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4.</a:t>
                      </a:r>
                      <a:endParaRPr lang="en-IN" sz="110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buNone/>
                      </a:pPr>
                      <a:r>
                        <a:rPr lang="en-IN" sz="1100" b="0" dirty="0">
                          <a:latin typeface="Times New Roman" panose="02020603050405020304" pitchFamily="18" charset="0"/>
                          <a:cs typeface="Times New Roman" panose="02020603050405020304" pitchFamily="18" charset="0"/>
                        </a:rPr>
                        <a:t>Jayanandini et al. (2023)</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Evaluating the Urban </a:t>
                      </a:r>
                      <a:r>
                        <a:rPr lang="en-US" sz="1100" dirty="0" err="1">
                          <a:latin typeface="Times New Roman" panose="02020603050405020304" pitchFamily="18" charset="0"/>
                          <a:cs typeface="Times New Roman" panose="02020603050405020304" pitchFamily="18" charset="0"/>
                        </a:rPr>
                        <a:t>Liveability</a:t>
                      </a:r>
                      <a:r>
                        <a:rPr lang="en-US" sz="1100" dirty="0">
                          <a:latin typeface="Times New Roman" panose="02020603050405020304" pitchFamily="18" charset="0"/>
                          <a:cs typeface="Times New Roman" panose="02020603050405020304" pitchFamily="18" charset="0"/>
                        </a:rPr>
                        <a:t> Index with Data-Driven Insights of Smart Cities Using Smart Innovative Solutions</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Urban </a:t>
                      </a:r>
                      <a:r>
                        <a:rPr lang="en-US" sz="1100" dirty="0" err="1">
                          <a:latin typeface="Times New Roman" panose="02020603050405020304" pitchFamily="18" charset="0"/>
                          <a:cs typeface="Times New Roman" panose="02020603050405020304" pitchFamily="18" charset="0"/>
                        </a:rPr>
                        <a:t>Liveability</a:t>
                      </a:r>
                      <a:r>
                        <a:rPr lang="en-US" sz="1100" dirty="0">
                          <a:latin typeface="Times New Roman" panose="02020603050405020304" pitchFamily="18" charset="0"/>
                          <a:cs typeface="Times New Roman" panose="02020603050405020304" pitchFamily="18" charset="0"/>
                        </a:rPr>
                        <a:t> Index Analysis for Indian Cities (ULIA-IC), 15 cities</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Achieved high accuracy and consistency; ULIA-IC serves as an effective decision-support tool for urban planning.</a:t>
                      </a:r>
                    </a:p>
                  </a:txBody>
                  <a:tcPr/>
                </a:tc>
                <a:extLst>
                  <a:ext uri="{0D108BD9-81ED-4DB2-BD59-A6C34878D82A}">
                    <a16:rowId xmlns:a16="http://schemas.microsoft.com/office/drawing/2014/main" val="332681726"/>
                  </a:ext>
                </a:extLst>
              </a:tr>
              <a:tr h="298634">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5.</a:t>
                      </a:r>
                      <a:endParaRPr lang="en-IN" sz="110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buNone/>
                      </a:pPr>
                      <a:r>
                        <a:rPr lang="en-IN" sz="1100" b="0" dirty="0">
                          <a:latin typeface="Times New Roman" panose="02020603050405020304" pitchFamily="18" charset="0"/>
                          <a:cs typeface="Times New Roman" panose="02020603050405020304" pitchFamily="18" charset="0"/>
                        </a:rPr>
                        <a:t>Safiullah &amp; Kumar (2023)</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Review of Performance Indicators of Smart Cities in India – Ease of Living Index: A Case of Lucknow Smart City</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Ease of Living Index (EOLI) case study to evaluate city governance</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Identified data and governance gaps; emphasized need for improved data quality and citizen-inclusive approaches.</a:t>
                      </a:r>
                    </a:p>
                  </a:txBody>
                  <a:tcPr/>
                </a:tc>
                <a:extLst>
                  <a:ext uri="{0D108BD9-81ED-4DB2-BD59-A6C34878D82A}">
                    <a16:rowId xmlns:a16="http://schemas.microsoft.com/office/drawing/2014/main" val="4284789244"/>
                  </a:ext>
                </a:extLst>
              </a:tr>
            </a:tbl>
          </a:graphicData>
        </a:graphic>
      </p:graphicFrame>
    </p:spTree>
    <p:extLst>
      <p:ext uri="{BB962C8B-B14F-4D97-AF65-F5344CB8AC3E}">
        <p14:creationId xmlns:p14="http://schemas.microsoft.com/office/powerpoint/2010/main" val="35248798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F4FEE22-E039-7DB3-809F-28ADFC249C62}"/>
            </a:ext>
          </a:extLst>
        </p:cNvPr>
        <p:cNvGrpSpPr/>
        <p:nvPr/>
      </p:nvGrpSpPr>
      <p:grpSpPr>
        <a:xfrm>
          <a:off x="0" y="0"/>
          <a:ext cx="0" cy="0"/>
          <a:chOff x="0" y="0"/>
          <a:chExt cx="0" cy="0"/>
        </a:xfrm>
      </p:grpSpPr>
      <p:sp>
        <p:nvSpPr>
          <p:cNvPr id="104" name="Google Shape;104;p15">
            <a:extLst>
              <a:ext uri="{FF2B5EF4-FFF2-40B4-BE49-F238E27FC236}">
                <a16:creationId xmlns:a16="http://schemas.microsoft.com/office/drawing/2014/main" id="{242ACE62-FCEA-101E-B8FB-34E73FC51E66}"/>
              </a:ext>
            </a:extLst>
          </p:cNvPr>
          <p:cNvSpPr txBox="1">
            <a:spLocks noGrp="1"/>
          </p:cNvSpPr>
          <p:nvPr>
            <p:ph type="title"/>
          </p:nvPr>
        </p:nvSpPr>
        <p:spPr>
          <a:xfrm>
            <a:off x="457200" y="116632"/>
            <a:ext cx="8229600" cy="634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Times New Roman"/>
              <a:buNone/>
            </a:pPr>
            <a:r>
              <a:rPr lang="en-US" sz="4000" dirty="0">
                <a:latin typeface="Times New Roman"/>
                <a:ea typeface="Times New Roman"/>
                <a:cs typeface="Times New Roman"/>
                <a:sym typeface="Times New Roman"/>
              </a:rPr>
              <a:t>LITERATURE SURVEY</a:t>
            </a:r>
            <a:endParaRPr dirty="0"/>
          </a:p>
        </p:txBody>
      </p:sp>
      <p:graphicFrame>
        <p:nvGraphicFramePr>
          <p:cNvPr id="4" name="Table 3">
            <a:extLst>
              <a:ext uri="{FF2B5EF4-FFF2-40B4-BE49-F238E27FC236}">
                <a16:creationId xmlns:a16="http://schemas.microsoft.com/office/drawing/2014/main" id="{5874EAEB-5395-CA56-89C4-272B0E2DD3DA}"/>
              </a:ext>
            </a:extLst>
          </p:cNvPr>
          <p:cNvGraphicFramePr>
            <a:graphicFrameLocks noGrp="1"/>
          </p:cNvGraphicFramePr>
          <p:nvPr>
            <p:extLst>
              <p:ext uri="{D42A27DB-BD31-4B8C-83A1-F6EECF244321}">
                <p14:modId xmlns:p14="http://schemas.microsoft.com/office/powerpoint/2010/main" val="2498795059"/>
              </p:ext>
            </p:extLst>
          </p:nvPr>
        </p:nvGraphicFramePr>
        <p:xfrm>
          <a:off x="167183" y="1046607"/>
          <a:ext cx="8809634" cy="5145786"/>
        </p:xfrm>
        <a:graphic>
          <a:graphicData uri="http://schemas.openxmlformats.org/drawingml/2006/table">
            <a:tbl>
              <a:tblPr>
                <a:tableStyleId>{BDBED569-4797-4DF1-A0F4-6AAB3CD982D8}</a:tableStyleId>
              </a:tblPr>
              <a:tblGrid>
                <a:gridCol w="512681">
                  <a:extLst>
                    <a:ext uri="{9D8B030D-6E8A-4147-A177-3AD203B41FA5}">
                      <a16:colId xmlns:a16="http://schemas.microsoft.com/office/drawing/2014/main" val="4176856357"/>
                    </a:ext>
                  </a:extLst>
                </a:gridCol>
                <a:gridCol w="1276953">
                  <a:extLst>
                    <a:ext uri="{9D8B030D-6E8A-4147-A177-3AD203B41FA5}">
                      <a16:colId xmlns:a16="http://schemas.microsoft.com/office/drawing/2014/main" val="2241675715"/>
                    </a:ext>
                  </a:extLst>
                </a:gridCol>
                <a:gridCol w="2160000">
                  <a:extLst>
                    <a:ext uri="{9D8B030D-6E8A-4147-A177-3AD203B41FA5}">
                      <a16:colId xmlns:a16="http://schemas.microsoft.com/office/drawing/2014/main" val="2772664532"/>
                    </a:ext>
                  </a:extLst>
                </a:gridCol>
                <a:gridCol w="2160000">
                  <a:extLst>
                    <a:ext uri="{9D8B030D-6E8A-4147-A177-3AD203B41FA5}">
                      <a16:colId xmlns:a16="http://schemas.microsoft.com/office/drawing/2014/main" val="105310640"/>
                    </a:ext>
                  </a:extLst>
                </a:gridCol>
                <a:gridCol w="2700000">
                  <a:extLst>
                    <a:ext uri="{9D8B030D-6E8A-4147-A177-3AD203B41FA5}">
                      <a16:colId xmlns:a16="http://schemas.microsoft.com/office/drawing/2014/main" val="400216970"/>
                    </a:ext>
                  </a:extLst>
                </a:gridCol>
              </a:tblGrid>
              <a:tr h="0">
                <a:tc>
                  <a:txBody>
                    <a:bodyPr/>
                    <a:lstStyle/>
                    <a:p>
                      <a:pPr algn="ctr">
                        <a:lnSpc>
                          <a:spcPct val="150000"/>
                        </a:lnSpc>
                        <a:buNone/>
                      </a:pPr>
                      <a:r>
                        <a:rPr lang="en-US" sz="1100" b="1" dirty="0">
                          <a:latin typeface="Times New Roman" panose="02020603050405020304" pitchFamily="18" charset="0"/>
                          <a:cs typeface="Times New Roman" panose="02020603050405020304" pitchFamily="18" charset="0"/>
                        </a:rPr>
                        <a:t>S. No</a:t>
                      </a:r>
                      <a:endParaRPr lang="en-IN" sz="1100" b="1" dirty="0">
                        <a:latin typeface="Times New Roman" panose="02020603050405020304" pitchFamily="18" charset="0"/>
                        <a:cs typeface="Times New Roman" panose="02020603050405020304" pitchFamily="18" charset="0"/>
                      </a:endParaRPr>
                    </a:p>
                  </a:txBody>
                  <a:tcPr/>
                </a:tc>
                <a:tc>
                  <a:txBody>
                    <a:bodyPr/>
                    <a:lstStyle/>
                    <a:p>
                      <a:pPr algn="ctr">
                        <a:lnSpc>
                          <a:spcPct val="150000"/>
                        </a:lnSpc>
                        <a:buNone/>
                      </a:pPr>
                      <a:r>
                        <a:rPr lang="en-IN" sz="1100" b="1" dirty="0">
                          <a:latin typeface="Times New Roman" panose="02020603050405020304" pitchFamily="18" charset="0"/>
                          <a:cs typeface="Times New Roman" panose="02020603050405020304" pitchFamily="18" charset="0"/>
                        </a:rPr>
                        <a:t>Author &amp; Year</a:t>
                      </a:r>
                    </a:p>
                  </a:txBody>
                  <a:tcPr/>
                </a:tc>
                <a:tc>
                  <a:txBody>
                    <a:bodyPr/>
                    <a:lstStyle/>
                    <a:p>
                      <a:pPr algn="ctr">
                        <a:lnSpc>
                          <a:spcPct val="150000"/>
                        </a:lnSpc>
                        <a:buNone/>
                      </a:pPr>
                      <a:r>
                        <a:rPr lang="en-IN" sz="1100" b="1" dirty="0">
                          <a:latin typeface="Times New Roman" panose="02020603050405020304" pitchFamily="18" charset="0"/>
                          <a:cs typeface="Times New Roman" panose="02020603050405020304" pitchFamily="18" charset="0"/>
                        </a:rPr>
                        <a:t>Title</a:t>
                      </a:r>
                    </a:p>
                  </a:txBody>
                  <a:tcPr/>
                </a:tc>
                <a:tc>
                  <a:txBody>
                    <a:bodyPr/>
                    <a:lstStyle/>
                    <a:p>
                      <a:pPr algn="ctr">
                        <a:lnSpc>
                          <a:spcPct val="150000"/>
                        </a:lnSpc>
                        <a:buNone/>
                      </a:pPr>
                      <a:r>
                        <a:rPr lang="en-IN" sz="1100" b="1" dirty="0">
                          <a:latin typeface="Times New Roman" panose="02020603050405020304" pitchFamily="18" charset="0"/>
                          <a:cs typeface="Times New Roman" panose="02020603050405020304" pitchFamily="18" charset="0"/>
                        </a:rPr>
                        <a:t>Technique Used</a:t>
                      </a:r>
                    </a:p>
                  </a:txBody>
                  <a:tcPr/>
                </a:tc>
                <a:tc>
                  <a:txBody>
                    <a:bodyPr/>
                    <a:lstStyle/>
                    <a:p>
                      <a:pPr algn="ctr">
                        <a:lnSpc>
                          <a:spcPct val="150000"/>
                        </a:lnSpc>
                        <a:buNone/>
                      </a:pPr>
                      <a:r>
                        <a:rPr lang="en-IN" sz="1100" b="1" dirty="0">
                          <a:latin typeface="Times New Roman" panose="02020603050405020304" pitchFamily="18" charset="0"/>
                          <a:cs typeface="Times New Roman" panose="02020603050405020304" pitchFamily="18" charset="0"/>
                        </a:rPr>
                        <a:t>Result / Findings</a:t>
                      </a:r>
                    </a:p>
                  </a:txBody>
                  <a:tcPr/>
                </a:tc>
                <a:extLst>
                  <a:ext uri="{0D108BD9-81ED-4DB2-BD59-A6C34878D82A}">
                    <a16:rowId xmlns:a16="http://schemas.microsoft.com/office/drawing/2014/main" val="2430652546"/>
                  </a:ext>
                </a:extLst>
              </a:tr>
              <a:tr h="345088">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6.</a:t>
                      </a:r>
                      <a:endParaRPr lang="en-IN" sz="110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buNone/>
                      </a:pPr>
                      <a:r>
                        <a:rPr lang="en-IN" sz="1100" b="0" dirty="0">
                          <a:latin typeface="Times New Roman" panose="02020603050405020304" pitchFamily="18" charset="0"/>
                          <a:cs typeface="Times New Roman" panose="02020603050405020304" pitchFamily="18" charset="0"/>
                        </a:rPr>
                        <a:t>Gareiou et al. (2023)</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Review of Composite Environmental Indicators</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Review of composite indices (SDG Index, Ecological Footprint, Environmental Performance Index)</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Concluded that composite indices effectively measure environmental quality and sustainability progress.</a:t>
                      </a:r>
                    </a:p>
                  </a:txBody>
                  <a:tcPr/>
                </a:tc>
                <a:extLst>
                  <a:ext uri="{0D108BD9-81ED-4DB2-BD59-A6C34878D82A}">
                    <a16:rowId xmlns:a16="http://schemas.microsoft.com/office/drawing/2014/main" val="2957995786"/>
                  </a:ext>
                </a:extLst>
              </a:tr>
              <a:tr h="391542">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7.</a:t>
                      </a:r>
                      <a:endParaRPr lang="en-IN" sz="110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buNone/>
                      </a:pPr>
                      <a:r>
                        <a:rPr lang="en-IN" sz="1100" b="0" dirty="0">
                          <a:latin typeface="Times New Roman" panose="02020603050405020304" pitchFamily="18" charset="0"/>
                          <a:cs typeface="Times New Roman" panose="02020603050405020304" pitchFamily="18" charset="0"/>
                        </a:rPr>
                        <a:t>Thorat et al. (2023)</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Analyzing </a:t>
                      </a:r>
                      <a:r>
                        <a:rPr lang="en-US" sz="1100" dirty="0" err="1">
                          <a:latin typeface="Times New Roman" panose="02020603050405020304" pitchFamily="18" charset="0"/>
                          <a:cs typeface="Times New Roman" panose="02020603050405020304" pitchFamily="18" charset="0"/>
                        </a:rPr>
                        <a:t>Liveability</a:t>
                      </a:r>
                      <a:r>
                        <a:rPr lang="en-US" sz="1100" dirty="0">
                          <a:latin typeface="Times New Roman" panose="02020603050405020304" pitchFamily="18" charset="0"/>
                          <a:cs typeface="Times New Roman" panose="02020603050405020304" pitchFamily="18" charset="0"/>
                        </a:rPr>
                        <a:t> Index Parameters for Formulating Assessment Model at the Zone Level – A Case of Pune City</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Zonal assessment framework, safety, health, education, mobility</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Found zonal disparities in livability; framework helps in policy prioritization and targeted improvements.</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70410855"/>
                  </a:ext>
                </a:extLst>
              </a:tr>
              <a:tr h="345088">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8.</a:t>
                      </a:r>
                      <a:endParaRPr lang="en-IN" sz="110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buNone/>
                      </a:pPr>
                      <a:r>
                        <a:rPr lang="en-IN" sz="1100" b="0" dirty="0">
                          <a:latin typeface="Times New Roman" panose="02020603050405020304" pitchFamily="18" charset="0"/>
                          <a:cs typeface="Times New Roman" panose="02020603050405020304" pitchFamily="18" charset="0"/>
                        </a:rPr>
                        <a:t>Subramanian (2024)</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Comparing Ease of Living Parameters &amp; Urban Greening Index</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Landsat 8 Remote Sensing, Geographic Information System (GIS), Urban Greening Index (UGI)</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Found EOLI green indicators inadequate; suggested qualitative and perception-based indicators for better assessment.</a:t>
                      </a:r>
                    </a:p>
                  </a:txBody>
                  <a:tcPr/>
                </a:tc>
                <a:extLst>
                  <a:ext uri="{0D108BD9-81ED-4DB2-BD59-A6C34878D82A}">
                    <a16:rowId xmlns:a16="http://schemas.microsoft.com/office/drawing/2014/main" val="1048706919"/>
                  </a:ext>
                </a:extLst>
              </a:tr>
              <a:tr h="298634">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9.</a:t>
                      </a:r>
                      <a:endParaRPr lang="en-IN" sz="110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buNone/>
                      </a:pPr>
                      <a:r>
                        <a:rPr lang="en-IN" sz="1100" b="0" dirty="0">
                          <a:latin typeface="Times New Roman" panose="02020603050405020304" pitchFamily="18" charset="0"/>
                          <a:cs typeface="Times New Roman" panose="02020603050405020304" pitchFamily="18" charset="0"/>
                        </a:rPr>
                        <a:t>Ran et al. (2024)</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Coordination Analysis Between Urban Livability and Population Distribution in China’s Major Urban Agglomerations</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Coordination Distance Index (CDI), socioeconomic &amp; ecosystem service data</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Observed improvement in YRD and PRD coordination; method supports urban planning and population regulation.</a:t>
                      </a:r>
                    </a:p>
                  </a:txBody>
                  <a:tcPr/>
                </a:tc>
                <a:extLst>
                  <a:ext uri="{0D108BD9-81ED-4DB2-BD59-A6C34878D82A}">
                    <a16:rowId xmlns:a16="http://schemas.microsoft.com/office/drawing/2014/main" val="332681726"/>
                  </a:ext>
                </a:extLst>
              </a:tr>
              <a:tr h="298634">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10.</a:t>
                      </a:r>
                      <a:endParaRPr lang="en-IN" sz="110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buNone/>
                      </a:pPr>
                      <a:r>
                        <a:rPr lang="en-IN" sz="1100" b="0" dirty="0" err="1">
                          <a:latin typeface="Times New Roman" panose="02020603050405020304" pitchFamily="18" charset="0"/>
                          <a:cs typeface="Times New Roman" panose="02020603050405020304" pitchFamily="18" charset="0"/>
                        </a:rPr>
                        <a:t>Satiawan</a:t>
                      </a:r>
                      <a:r>
                        <a:rPr lang="en-IN" sz="1100" b="0" dirty="0">
                          <a:latin typeface="Times New Roman" panose="02020603050405020304" pitchFamily="18" charset="0"/>
                          <a:cs typeface="Times New Roman" panose="02020603050405020304" pitchFamily="18" charset="0"/>
                        </a:rPr>
                        <a:t> et al. (2024)</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Towards a </a:t>
                      </a:r>
                      <a:r>
                        <a:rPr lang="en-US" sz="1100" dirty="0" err="1">
                          <a:latin typeface="Times New Roman" panose="02020603050405020304" pitchFamily="18" charset="0"/>
                          <a:cs typeface="Times New Roman" panose="02020603050405020304" pitchFamily="18" charset="0"/>
                        </a:rPr>
                        <a:t>Liveable</a:t>
                      </a:r>
                      <a:r>
                        <a:rPr lang="en-US" sz="1100" dirty="0">
                          <a:latin typeface="Times New Roman" panose="02020603050405020304" pitchFamily="18" charset="0"/>
                          <a:cs typeface="Times New Roman" panose="02020603050405020304" pitchFamily="18" charset="0"/>
                        </a:rPr>
                        <a:t> City: Measuring the </a:t>
                      </a:r>
                      <a:r>
                        <a:rPr lang="en-US" sz="1100" dirty="0" err="1">
                          <a:latin typeface="Times New Roman" panose="02020603050405020304" pitchFamily="18" charset="0"/>
                          <a:cs typeface="Times New Roman" panose="02020603050405020304" pitchFamily="18" charset="0"/>
                        </a:rPr>
                        <a:t>Liveability</a:t>
                      </a:r>
                      <a:r>
                        <a:rPr lang="en-US" sz="1100" dirty="0">
                          <a:latin typeface="Times New Roman" panose="02020603050405020304" pitchFamily="18" charset="0"/>
                          <a:cs typeface="Times New Roman" panose="02020603050405020304" pitchFamily="18" charset="0"/>
                        </a:rPr>
                        <a:t> Index in </a:t>
                      </a:r>
                      <a:r>
                        <a:rPr lang="en-US" sz="1100" dirty="0" err="1">
                          <a:latin typeface="Times New Roman" panose="02020603050405020304" pitchFamily="18" charset="0"/>
                          <a:cs typeface="Times New Roman" panose="02020603050405020304" pitchFamily="18" charset="0"/>
                        </a:rPr>
                        <a:t>Tuban</a:t>
                      </a:r>
                      <a:r>
                        <a:rPr lang="en-US" sz="1100" dirty="0">
                          <a:latin typeface="Times New Roman" panose="02020603050405020304" pitchFamily="18" charset="0"/>
                          <a:cs typeface="Times New Roman" panose="02020603050405020304" pitchFamily="18" charset="0"/>
                        </a:rPr>
                        <a:t> Regency, East Java</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District-level pre/post-pandemic measurement</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Found rural areas performing better in environment, food security, and housing; highlighted spatial variations in livability.</a:t>
                      </a:r>
                    </a:p>
                  </a:txBody>
                  <a:tcPr/>
                </a:tc>
                <a:extLst>
                  <a:ext uri="{0D108BD9-81ED-4DB2-BD59-A6C34878D82A}">
                    <a16:rowId xmlns:a16="http://schemas.microsoft.com/office/drawing/2014/main" val="4284789244"/>
                  </a:ext>
                </a:extLst>
              </a:tr>
            </a:tbl>
          </a:graphicData>
        </a:graphic>
      </p:graphicFrame>
    </p:spTree>
    <p:extLst>
      <p:ext uri="{BB962C8B-B14F-4D97-AF65-F5344CB8AC3E}">
        <p14:creationId xmlns:p14="http://schemas.microsoft.com/office/powerpoint/2010/main" val="9994233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BC93EFF6-F04B-07A4-C3E1-E04D81F6386A}"/>
            </a:ext>
          </a:extLst>
        </p:cNvPr>
        <p:cNvGrpSpPr/>
        <p:nvPr/>
      </p:nvGrpSpPr>
      <p:grpSpPr>
        <a:xfrm>
          <a:off x="0" y="0"/>
          <a:ext cx="0" cy="0"/>
          <a:chOff x="0" y="0"/>
          <a:chExt cx="0" cy="0"/>
        </a:xfrm>
      </p:grpSpPr>
      <p:sp>
        <p:nvSpPr>
          <p:cNvPr id="104" name="Google Shape;104;p15">
            <a:extLst>
              <a:ext uri="{FF2B5EF4-FFF2-40B4-BE49-F238E27FC236}">
                <a16:creationId xmlns:a16="http://schemas.microsoft.com/office/drawing/2014/main" id="{BCE10817-D899-B484-EBA2-69CDBB9E8ABD}"/>
              </a:ext>
            </a:extLst>
          </p:cNvPr>
          <p:cNvSpPr txBox="1">
            <a:spLocks noGrp="1"/>
          </p:cNvSpPr>
          <p:nvPr>
            <p:ph type="title"/>
          </p:nvPr>
        </p:nvSpPr>
        <p:spPr>
          <a:xfrm>
            <a:off x="457200" y="116632"/>
            <a:ext cx="8229600" cy="634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Times New Roman"/>
              <a:buNone/>
            </a:pPr>
            <a:r>
              <a:rPr lang="en-US" sz="4000" dirty="0">
                <a:latin typeface="Times New Roman"/>
                <a:ea typeface="Times New Roman"/>
                <a:cs typeface="Times New Roman"/>
                <a:sym typeface="Times New Roman"/>
              </a:rPr>
              <a:t>LITERATURE SURVEY</a:t>
            </a:r>
            <a:endParaRPr dirty="0"/>
          </a:p>
        </p:txBody>
      </p:sp>
      <p:graphicFrame>
        <p:nvGraphicFramePr>
          <p:cNvPr id="4" name="Table 3">
            <a:extLst>
              <a:ext uri="{FF2B5EF4-FFF2-40B4-BE49-F238E27FC236}">
                <a16:creationId xmlns:a16="http://schemas.microsoft.com/office/drawing/2014/main" id="{6B118BB5-C12B-D3D2-88A2-52A532F167B2}"/>
              </a:ext>
            </a:extLst>
          </p:cNvPr>
          <p:cNvGraphicFramePr>
            <a:graphicFrameLocks noGrp="1"/>
          </p:cNvGraphicFramePr>
          <p:nvPr>
            <p:extLst>
              <p:ext uri="{D42A27DB-BD31-4B8C-83A1-F6EECF244321}">
                <p14:modId xmlns:p14="http://schemas.microsoft.com/office/powerpoint/2010/main" val="3473259158"/>
              </p:ext>
            </p:extLst>
          </p:nvPr>
        </p:nvGraphicFramePr>
        <p:xfrm>
          <a:off x="167183" y="1263967"/>
          <a:ext cx="8809634" cy="4330065"/>
        </p:xfrm>
        <a:graphic>
          <a:graphicData uri="http://schemas.openxmlformats.org/drawingml/2006/table">
            <a:tbl>
              <a:tblPr>
                <a:tableStyleId>{BDBED569-4797-4DF1-A0F4-6AAB3CD982D8}</a:tableStyleId>
              </a:tblPr>
              <a:tblGrid>
                <a:gridCol w="512681">
                  <a:extLst>
                    <a:ext uri="{9D8B030D-6E8A-4147-A177-3AD203B41FA5}">
                      <a16:colId xmlns:a16="http://schemas.microsoft.com/office/drawing/2014/main" val="4176856357"/>
                    </a:ext>
                  </a:extLst>
                </a:gridCol>
                <a:gridCol w="1276953">
                  <a:extLst>
                    <a:ext uri="{9D8B030D-6E8A-4147-A177-3AD203B41FA5}">
                      <a16:colId xmlns:a16="http://schemas.microsoft.com/office/drawing/2014/main" val="2241675715"/>
                    </a:ext>
                  </a:extLst>
                </a:gridCol>
                <a:gridCol w="2340000">
                  <a:extLst>
                    <a:ext uri="{9D8B030D-6E8A-4147-A177-3AD203B41FA5}">
                      <a16:colId xmlns:a16="http://schemas.microsoft.com/office/drawing/2014/main" val="2772664532"/>
                    </a:ext>
                  </a:extLst>
                </a:gridCol>
                <a:gridCol w="1980000">
                  <a:extLst>
                    <a:ext uri="{9D8B030D-6E8A-4147-A177-3AD203B41FA5}">
                      <a16:colId xmlns:a16="http://schemas.microsoft.com/office/drawing/2014/main" val="105310640"/>
                    </a:ext>
                  </a:extLst>
                </a:gridCol>
                <a:gridCol w="2700000">
                  <a:extLst>
                    <a:ext uri="{9D8B030D-6E8A-4147-A177-3AD203B41FA5}">
                      <a16:colId xmlns:a16="http://schemas.microsoft.com/office/drawing/2014/main" val="400216970"/>
                    </a:ext>
                  </a:extLst>
                </a:gridCol>
              </a:tblGrid>
              <a:tr h="0">
                <a:tc>
                  <a:txBody>
                    <a:bodyPr/>
                    <a:lstStyle/>
                    <a:p>
                      <a:pPr algn="ctr">
                        <a:lnSpc>
                          <a:spcPct val="150000"/>
                        </a:lnSpc>
                        <a:buNone/>
                      </a:pPr>
                      <a:r>
                        <a:rPr lang="en-US" sz="1100" b="1" dirty="0">
                          <a:latin typeface="Times New Roman" panose="02020603050405020304" pitchFamily="18" charset="0"/>
                          <a:cs typeface="Times New Roman" panose="02020603050405020304" pitchFamily="18" charset="0"/>
                        </a:rPr>
                        <a:t>S. No</a:t>
                      </a:r>
                      <a:endParaRPr lang="en-IN" sz="1100" b="1" dirty="0">
                        <a:latin typeface="Times New Roman" panose="02020603050405020304" pitchFamily="18" charset="0"/>
                        <a:cs typeface="Times New Roman" panose="02020603050405020304" pitchFamily="18" charset="0"/>
                      </a:endParaRPr>
                    </a:p>
                  </a:txBody>
                  <a:tcPr/>
                </a:tc>
                <a:tc>
                  <a:txBody>
                    <a:bodyPr/>
                    <a:lstStyle/>
                    <a:p>
                      <a:pPr algn="ctr">
                        <a:lnSpc>
                          <a:spcPct val="150000"/>
                        </a:lnSpc>
                        <a:buNone/>
                      </a:pPr>
                      <a:r>
                        <a:rPr lang="en-IN" sz="1100" b="1" dirty="0">
                          <a:latin typeface="Times New Roman" panose="02020603050405020304" pitchFamily="18" charset="0"/>
                          <a:cs typeface="Times New Roman" panose="02020603050405020304" pitchFamily="18" charset="0"/>
                        </a:rPr>
                        <a:t>Author &amp; Year</a:t>
                      </a:r>
                    </a:p>
                  </a:txBody>
                  <a:tcPr/>
                </a:tc>
                <a:tc>
                  <a:txBody>
                    <a:bodyPr/>
                    <a:lstStyle/>
                    <a:p>
                      <a:pPr algn="ctr">
                        <a:lnSpc>
                          <a:spcPct val="150000"/>
                        </a:lnSpc>
                        <a:buNone/>
                      </a:pPr>
                      <a:r>
                        <a:rPr lang="en-IN" sz="1100" b="1" dirty="0">
                          <a:latin typeface="Times New Roman" panose="02020603050405020304" pitchFamily="18" charset="0"/>
                          <a:cs typeface="Times New Roman" panose="02020603050405020304" pitchFamily="18" charset="0"/>
                        </a:rPr>
                        <a:t>Title</a:t>
                      </a:r>
                    </a:p>
                  </a:txBody>
                  <a:tcPr/>
                </a:tc>
                <a:tc>
                  <a:txBody>
                    <a:bodyPr/>
                    <a:lstStyle/>
                    <a:p>
                      <a:pPr algn="ctr">
                        <a:lnSpc>
                          <a:spcPct val="150000"/>
                        </a:lnSpc>
                        <a:buNone/>
                      </a:pPr>
                      <a:r>
                        <a:rPr lang="en-IN" sz="1100" b="1" dirty="0">
                          <a:latin typeface="Times New Roman" panose="02020603050405020304" pitchFamily="18" charset="0"/>
                          <a:cs typeface="Times New Roman" panose="02020603050405020304" pitchFamily="18" charset="0"/>
                        </a:rPr>
                        <a:t>Technique Used</a:t>
                      </a:r>
                    </a:p>
                  </a:txBody>
                  <a:tcPr/>
                </a:tc>
                <a:tc>
                  <a:txBody>
                    <a:bodyPr/>
                    <a:lstStyle/>
                    <a:p>
                      <a:pPr algn="ctr">
                        <a:lnSpc>
                          <a:spcPct val="150000"/>
                        </a:lnSpc>
                        <a:buNone/>
                      </a:pPr>
                      <a:r>
                        <a:rPr lang="en-IN" sz="1100" b="1" dirty="0">
                          <a:latin typeface="Times New Roman" panose="02020603050405020304" pitchFamily="18" charset="0"/>
                          <a:cs typeface="Times New Roman" panose="02020603050405020304" pitchFamily="18" charset="0"/>
                        </a:rPr>
                        <a:t>Result / Findings</a:t>
                      </a:r>
                    </a:p>
                  </a:txBody>
                  <a:tcPr/>
                </a:tc>
                <a:extLst>
                  <a:ext uri="{0D108BD9-81ED-4DB2-BD59-A6C34878D82A}">
                    <a16:rowId xmlns:a16="http://schemas.microsoft.com/office/drawing/2014/main" val="2430652546"/>
                  </a:ext>
                </a:extLst>
              </a:tr>
              <a:tr h="345088">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11.</a:t>
                      </a:r>
                      <a:endParaRPr lang="en-IN" sz="110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buNone/>
                      </a:pPr>
                      <a:r>
                        <a:rPr lang="en-IN" sz="1100" b="0" dirty="0">
                          <a:latin typeface="Times New Roman" panose="02020603050405020304" pitchFamily="18" charset="0"/>
                          <a:cs typeface="Times New Roman" panose="02020603050405020304" pitchFamily="18" charset="0"/>
                        </a:rPr>
                        <a:t>Yan et al. (2025)</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Establishment of the Indicator System for Livable Cities Based on Sustainable Development Goals and Empirical Research in China</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Sustainable Development Goals (SDGs)-oriented indicator system, ILCSD</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Demonstrated that livable city indicators align with and promote SDG implementation.</a:t>
                      </a:r>
                    </a:p>
                  </a:txBody>
                  <a:tcPr/>
                </a:tc>
                <a:extLst>
                  <a:ext uri="{0D108BD9-81ED-4DB2-BD59-A6C34878D82A}">
                    <a16:rowId xmlns:a16="http://schemas.microsoft.com/office/drawing/2014/main" val="2957995786"/>
                  </a:ext>
                </a:extLst>
              </a:tr>
              <a:tr h="391542">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12.</a:t>
                      </a:r>
                      <a:endParaRPr lang="en-IN" sz="110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buNone/>
                      </a:pPr>
                      <a:r>
                        <a:rPr lang="en-IN" sz="1100" b="0" dirty="0">
                          <a:latin typeface="Times New Roman" panose="02020603050405020304" pitchFamily="18" charset="0"/>
                          <a:cs typeface="Times New Roman" panose="02020603050405020304" pitchFamily="18" charset="0"/>
                        </a:rPr>
                        <a:t>Hande et al. (2025)</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Integrating Sustainable Development into Urban Management: A Strategic Green City Index for Cities</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Green City Index (GCI), Analytical Hierarchy Process (AHP)</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Found weak overall environmental performance (max 59/100); valuable tool for sustainable urban management.</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70410855"/>
                  </a:ext>
                </a:extLst>
              </a:tr>
              <a:tr h="345088">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13.</a:t>
                      </a:r>
                      <a:endParaRPr lang="en-IN" sz="110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buNone/>
                      </a:pPr>
                      <a:r>
                        <a:rPr lang="en-IN" sz="1100" b="0" dirty="0" err="1">
                          <a:latin typeface="Times New Roman" panose="02020603050405020304" pitchFamily="18" charset="0"/>
                          <a:cs typeface="Times New Roman" panose="02020603050405020304" pitchFamily="18" charset="0"/>
                        </a:rPr>
                        <a:t>Rajesha</a:t>
                      </a:r>
                      <a:r>
                        <a:rPr lang="en-IN" sz="1100" b="0" dirty="0">
                          <a:latin typeface="Times New Roman" panose="02020603050405020304" pitchFamily="18" charset="0"/>
                          <a:cs typeface="Times New Roman" panose="02020603050405020304" pitchFamily="18" charset="0"/>
                        </a:rPr>
                        <a:t> &amp; Chandrashekara (2025)</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Exploring Urban </a:t>
                      </a:r>
                      <a:r>
                        <a:rPr lang="en-US" sz="1100" dirty="0" err="1">
                          <a:latin typeface="Times New Roman" panose="02020603050405020304" pitchFamily="18" charset="0"/>
                          <a:cs typeface="Times New Roman" panose="02020603050405020304" pitchFamily="18" charset="0"/>
                        </a:rPr>
                        <a:t>Liveability</a:t>
                      </a:r>
                      <a:r>
                        <a:rPr lang="en-US" sz="1100" dirty="0">
                          <a:latin typeface="Times New Roman" panose="02020603050405020304" pitchFamily="18" charset="0"/>
                          <a:cs typeface="Times New Roman" panose="02020603050405020304" pitchFamily="18" charset="0"/>
                        </a:rPr>
                        <a:t>: Frameworks and Approaches for Sustainable Cities</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Secondary data review, urban sustainability frameworks</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Emphasized integrated, cross-sectoral approaches linking livability with environmental, social, and economic sustainability.</a:t>
                      </a:r>
                    </a:p>
                  </a:txBody>
                  <a:tcPr/>
                </a:tc>
                <a:extLst>
                  <a:ext uri="{0D108BD9-81ED-4DB2-BD59-A6C34878D82A}">
                    <a16:rowId xmlns:a16="http://schemas.microsoft.com/office/drawing/2014/main" val="1048706919"/>
                  </a:ext>
                </a:extLst>
              </a:tr>
              <a:tr h="298634">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14.</a:t>
                      </a:r>
                      <a:endParaRPr lang="en-IN" sz="110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buNone/>
                      </a:pPr>
                      <a:r>
                        <a:rPr lang="en-IN" sz="1100" b="0" dirty="0">
                          <a:latin typeface="Times New Roman" panose="02020603050405020304" pitchFamily="18" charset="0"/>
                          <a:cs typeface="Times New Roman" panose="02020603050405020304" pitchFamily="18" charset="0"/>
                        </a:rPr>
                        <a:t>Mostafa et al. (2025)</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Spatial Analysis and Ranking of Urban Districts Based on a Comprehensive Livability Approach: The Case of Tehran</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Analytical Hierarchy Process (AHP), Factor Analysis, Hot Spot Analysis, Network Analysis</a:t>
                      </a:r>
                    </a:p>
                  </a:txBody>
                  <a:tcPr/>
                </a:tc>
                <a:tc>
                  <a:txBody>
                    <a:bodyPr/>
                    <a:lstStyle/>
                    <a:p>
                      <a:pPr algn="just">
                        <a:lnSpc>
                          <a:spcPct val="150000"/>
                        </a:lnSpc>
                        <a:buNone/>
                      </a:pPr>
                      <a:r>
                        <a:rPr lang="en-US" sz="1100" dirty="0">
                          <a:latin typeface="Times New Roman" panose="02020603050405020304" pitchFamily="18" charset="0"/>
                          <a:cs typeface="Times New Roman" panose="02020603050405020304" pitchFamily="18" charset="0"/>
                        </a:rPr>
                        <a:t>Found northern districts most livable; stressed spatial justice and citizen participation in urban planning.</a:t>
                      </a:r>
                    </a:p>
                  </a:txBody>
                  <a:tcPr/>
                </a:tc>
                <a:extLst>
                  <a:ext uri="{0D108BD9-81ED-4DB2-BD59-A6C34878D82A}">
                    <a16:rowId xmlns:a16="http://schemas.microsoft.com/office/drawing/2014/main" val="332681726"/>
                  </a:ext>
                </a:extLst>
              </a:tr>
            </a:tbl>
          </a:graphicData>
        </a:graphic>
      </p:graphicFrame>
    </p:spTree>
    <p:extLst>
      <p:ext uri="{BB962C8B-B14F-4D97-AF65-F5344CB8AC3E}">
        <p14:creationId xmlns:p14="http://schemas.microsoft.com/office/powerpoint/2010/main" val="3690542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5"/>
          <p:cNvSpPr txBox="1">
            <a:spLocks noGrp="1"/>
          </p:cNvSpPr>
          <p:nvPr>
            <p:ph type="title"/>
          </p:nvPr>
        </p:nvSpPr>
        <p:spPr>
          <a:xfrm>
            <a:off x="457200" y="116632"/>
            <a:ext cx="8229600" cy="634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Times New Roman"/>
              <a:buNone/>
            </a:pPr>
            <a:r>
              <a:rPr lang="en-US" sz="4000" dirty="0">
                <a:latin typeface="Times New Roman"/>
                <a:ea typeface="Times New Roman"/>
                <a:cs typeface="Times New Roman"/>
                <a:sym typeface="Times New Roman"/>
              </a:rPr>
              <a:t>PROBLEM STATEMENT</a:t>
            </a:r>
            <a:endParaRPr dirty="0"/>
          </a:p>
        </p:txBody>
      </p:sp>
      <p:sp>
        <p:nvSpPr>
          <p:cNvPr id="105" name="Google Shape;105;p15"/>
          <p:cNvSpPr txBox="1">
            <a:spLocks noGrp="1"/>
          </p:cNvSpPr>
          <p:nvPr>
            <p:ph type="body" idx="1"/>
          </p:nvPr>
        </p:nvSpPr>
        <p:spPr>
          <a:xfrm>
            <a:off x="683568" y="908720"/>
            <a:ext cx="7776900" cy="5760600"/>
          </a:xfrm>
          <a:prstGeom prst="rect">
            <a:avLst/>
          </a:prstGeom>
          <a:noFill/>
          <a:ln>
            <a:noFill/>
          </a:ln>
        </p:spPr>
        <p:txBody>
          <a:bodyPr spcFirstLastPara="1" wrap="square" lIns="91425" tIns="45700" rIns="91425" bIns="45700" anchor="t" anchorCtr="0">
            <a:noAutofit/>
          </a:bodyPr>
          <a:lstStyle/>
          <a:p>
            <a:pPr marL="266700" lvl="0" indent="-266700" algn="just" rtl="0">
              <a:lnSpc>
                <a:spcPct val="150000"/>
              </a:lnSpc>
              <a:spcBef>
                <a:spcPts val="0"/>
              </a:spcBef>
              <a:spcAft>
                <a:spcPts val="0"/>
              </a:spcAft>
              <a:buClr>
                <a:schemeClr val="dk1"/>
              </a:buClr>
              <a:buSzPts val="1800"/>
              <a:buChar char="•"/>
            </a:pPr>
            <a:r>
              <a:rPr lang="en-US" sz="2000" dirty="0">
                <a:latin typeface="Times New Roman"/>
                <a:ea typeface="Times New Roman"/>
                <a:cs typeface="Times New Roman"/>
                <a:sym typeface="Times New Roman"/>
              </a:rPr>
              <a:t>Rapid </a:t>
            </a:r>
            <a:r>
              <a:rPr lang="en-US" sz="2000" b="1" dirty="0">
                <a:latin typeface="Times New Roman"/>
                <a:ea typeface="Times New Roman"/>
                <a:cs typeface="Times New Roman"/>
                <a:sym typeface="Times New Roman"/>
              </a:rPr>
              <a:t>urbanization</a:t>
            </a:r>
            <a:r>
              <a:rPr lang="en-US" sz="2000" dirty="0">
                <a:latin typeface="Times New Roman"/>
                <a:ea typeface="Times New Roman"/>
                <a:cs typeface="Times New Roman"/>
                <a:sym typeface="Times New Roman"/>
              </a:rPr>
              <a:t> in Indian cities is worsening living conditions, with increasing pollution, overcrowding, poverty, and poor healthcare.</a:t>
            </a:r>
          </a:p>
          <a:p>
            <a:pPr marL="266700" lvl="0" indent="-266700" algn="just" rtl="0">
              <a:lnSpc>
                <a:spcPct val="150000"/>
              </a:lnSpc>
              <a:spcBef>
                <a:spcPts val="0"/>
              </a:spcBef>
              <a:spcAft>
                <a:spcPts val="0"/>
              </a:spcAft>
              <a:buClr>
                <a:schemeClr val="dk1"/>
              </a:buClr>
              <a:buSzPts val="1800"/>
              <a:buChar char="•"/>
            </a:pPr>
            <a:r>
              <a:rPr lang="en-US" sz="2000" dirty="0">
                <a:latin typeface="Times New Roman"/>
                <a:ea typeface="Times New Roman"/>
                <a:cs typeface="Times New Roman"/>
                <a:sym typeface="Times New Roman"/>
              </a:rPr>
              <a:t>There is a </a:t>
            </a:r>
            <a:r>
              <a:rPr lang="en-US" sz="2000" b="1" dirty="0">
                <a:latin typeface="Times New Roman"/>
                <a:ea typeface="Times New Roman"/>
                <a:cs typeface="Times New Roman"/>
                <a:sym typeface="Times New Roman"/>
              </a:rPr>
              <a:t>lack of a unified, data-driven framework </a:t>
            </a:r>
            <a:r>
              <a:rPr lang="en-US" sz="2000" dirty="0">
                <a:latin typeface="Times New Roman"/>
                <a:ea typeface="Times New Roman"/>
                <a:cs typeface="Times New Roman"/>
                <a:sym typeface="Times New Roman"/>
              </a:rPr>
              <a:t>to evaluate overall city livability.</a:t>
            </a:r>
          </a:p>
          <a:p>
            <a:pPr marL="266700" lvl="0" indent="-266700" algn="just" rtl="0">
              <a:lnSpc>
                <a:spcPct val="150000"/>
              </a:lnSpc>
              <a:spcBef>
                <a:spcPts val="0"/>
              </a:spcBef>
              <a:spcAft>
                <a:spcPts val="0"/>
              </a:spcAft>
              <a:buClr>
                <a:schemeClr val="dk1"/>
              </a:buClr>
              <a:buSzPts val="1800"/>
              <a:buChar char="•"/>
            </a:pPr>
            <a:r>
              <a:rPr lang="en-US" sz="2000" dirty="0">
                <a:latin typeface="Times New Roman"/>
                <a:ea typeface="Times New Roman"/>
                <a:cs typeface="Times New Roman"/>
                <a:sym typeface="Times New Roman"/>
              </a:rPr>
              <a:t>Existing reports often analyze </a:t>
            </a:r>
            <a:r>
              <a:rPr lang="en-US" sz="2000" b="1" dirty="0">
                <a:latin typeface="Times New Roman"/>
                <a:ea typeface="Times New Roman"/>
                <a:cs typeface="Times New Roman"/>
                <a:sym typeface="Times New Roman"/>
              </a:rPr>
              <a:t>isolated indicators</a:t>
            </a:r>
            <a:r>
              <a:rPr lang="en-US" sz="2000" dirty="0">
                <a:latin typeface="Times New Roman"/>
                <a:ea typeface="Times New Roman"/>
                <a:cs typeface="Times New Roman"/>
                <a:sym typeface="Times New Roman"/>
              </a:rPr>
              <a:t>, not an integrated livability measure.</a:t>
            </a:r>
          </a:p>
          <a:p>
            <a:pPr marL="266700" lvl="0" indent="-266700" algn="just" rtl="0">
              <a:lnSpc>
                <a:spcPct val="150000"/>
              </a:lnSpc>
              <a:spcBef>
                <a:spcPts val="0"/>
              </a:spcBef>
              <a:spcAft>
                <a:spcPts val="0"/>
              </a:spcAft>
              <a:buClr>
                <a:schemeClr val="dk1"/>
              </a:buClr>
              <a:buSzPts val="1800"/>
              <a:buChar char="•"/>
            </a:pPr>
            <a:r>
              <a:rPr lang="en-US" sz="2000" dirty="0">
                <a:latin typeface="Times New Roman"/>
                <a:ea typeface="Times New Roman"/>
                <a:cs typeface="Times New Roman"/>
                <a:sym typeface="Times New Roman"/>
              </a:rPr>
              <a:t>Few frameworks integrate </a:t>
            </a:r>
            <a:r>
              <a:rPr lang="en-US" sz="2000" b="1" dirty="0">
                <a:latin typeface="Times New Roman"/>
                <a:ea typeface="Times New Roman"/>
                <a:cs typeface="Times New Roman"/>
                <a:sym typeface="Times New Roman"/>
              </a:rPr>
              <a:t>citizen participation</a:t>
            </a:r>
            <a:r>
              <a:rPr lang="en-US" sz="2000" dirty="0">
                <a:latin typeface="Times New Roman"/>
                <a:ea typeface="Times New Roman"/>
                <a:cs typeface="Times New Roman"/>
                <a:sym typeface="Times New Roman"/>
              </a:rPr>
              <a:t>, spatial justice, or provide visualization tools for effective urban planning.</a:t>
            </a:r>
          </a:p>
          <a:p>
            <a:pPr marL="266700" lvl="0" indent="-266700" algn="just" rtl="0">
              <a:lnSpc>
                <a:spcPct val="150000"/>
              </a:lnSpc>
              <a:spcBef>
                <a:spcPts val="0"/>
              </a:spcBef>
              <a:spcAft>
                <a:spcPts val="0"/>
              </a:spcAft>
              <a:buClr>
                <a:schemeClr val="dk1"/>
              </a:buClr>
              <a:buSzPts val="1800"/>
              <a:buChar char="•"/>
            </a:pPr>
            <a:r>
              <a:rPr lang="en-US" sz="2000" dirty="0">
                <a:latin typeface="Times New Roman"/>
                <a:ea typeface="Times New Roman"/>
                <a:cs typeface="Times New Roman"/>
                <a:sym typeface="Times New Roman"/>
              </a:rPr>
              <a:t>Decision-makers and citizens need an accessible tool to explore and compare urban livability.</a:t>
            </a:r>
          </a:p>
          <a:p>
            <a:pPr marL="266700" lvl="0" indent="-266700" algn="just" rtl="0">
              <a:lnSpc>
                <a:spcPct val="150000"/>
              </a:lnSpc>
              <a:spcBef>
                <a:spcPts val="0"/>
              </a:spcBef>
              <a:spcAft>
                <a:spcPts val="0"/>
              </a:spcAft>
              <a:buClr>
                <a:schemeClr val="dk1"/>
              </a:buClr>
              <a:buSzPts val="1800"/>
              <a:buChar char="•"/>
            </a:pPr>
            <a:r>
              <a:rPr lang="en-US" sz="2000" dirty="0">
                <a:latin typeface="Times New Roman"/>
                <a:ea typeface="Times New Roman"/>
                <a:cs typeface="Times New Roman"/>
                <a:sym typeface="Times New Roman"/>
              </a:rPr>
              <a:t>The project aims to develop a </a:t>
            </a:r>
            <a:r>
              <a:rPr lang="en-US" sz="2000" b="1" dirty="0">
                <a:latin typeface="Times New Roman"/>
                <a:ea typeface="Times New Roman"/>
                <a:cs typeface="Times New Roman"/>
                <a:sym typeface="Times New Roman"/>
              </a:rPr>
              <a:t>composite Livability Index </a:t>
            </a:r>
            <a:r>
              <a:rPr lang="en-US" sz="2000" dirty="0">
                <a:latin typeface="Times New Roman"/>
                <a:ea typeface="Times New Roman"/>
                <a:cs typeface="Times New Roman"/>
                <a:sym typeface="Times New Roman"/>
              </a:rPr>
              <a:t>and an interactive dashboard for visualization.</a:t>
            </a:r>
            <a:endParaRPr sz="2000" dirty="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pic>
        <p:nvPicPr>
          <p:cNvPr id="5" name="Picture 4">
            <a:extLst>
              <a:ext uri="{FF2B5EF4-FFF2-40B4-BE49-F238E27FC236}">
                <a16:creationId xmlns:a16="http://schemas.microsoft.com/office/drawing/2014/main" id="{120FB47B-D4AC-1BF7-4F43-75FF46F2444E}"/>
              </a:ext>
            </a:extLst>
          </p:cNvPr>
          <p:cNvPicPr>
            <a:picLocks noChangeAspect="1"/>
          </p:cNvPicPr>
          <p:nvPr/>
        </p:nvPicPr>
        <p:blipFill>
          <a:blip r:embed="rId3"/>
          <a:stretch>
            <a:fillRect/>
          </a:stretch>
        </p:blipFill>
        <p:spPr>
          <a:xfrm>
            <a:off x="0" y="2090587"/>
            <a:ext cx="9144000" cy="2676825"/>
          </a:xfrm>
          <a:prstGeom prst="rect">
            <a:avLst/>
          </a:prstGeom>
        </p:spPr>
      </p:pic>
      <p:sp>
        <p:nvSpPr>
          <p:cNvPr id="4" name="Title 1">
            <a:extLst>
              <a:ext uri="{FF2B5EF4-FFF2-40B4-BE49-F238E27FC236}">
                <a16:creationId xmlns:a16="http://schemas.microsoft.com/office/drawing/2014/main" id="{F6C646D3-8884-4725-39AA-529266478569}"/>
              </a:ext>
            </a:extLst>
          </p:cNvPr>
          <p:cNvSpPr txBox="1">
            <a:spLocks/>
          </p:cNvSpPr>
          <p:nvPr/>
        </p:nvSpPr>
        <p:spPr>
          <a:xfrm>
            <a:off x="457200" y="116632"/>
            <a:ext cx="8229600" cy="93610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4000" dirty="0">
                <a:latin typeface="Times New Roman" panose="02020603050405020304" pitchFamily="18" charset="0"/>
                <a:cs typeface="Times New Roman" panose="02020603050405020304" pitchFamily="18" charset="0"/>
              </a:rPr>
              <a:t>ARCHITECTURE DIAGRAM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4ED24-79BF-19C9-7CC8-E24D1FE4B9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2B6F48-B992-EAFE-094F-0E70C3904B26}"/>
              </a:ext>
            </a:extLst>
          </p:cNvPr>
          <p:cNvSpPr>
            <a:spLocks noGrp="1"/>
          </p:cNvSpPr>
          <p:nvPr>
            <p:ph type="title"/>
          </p:nvPr>
        </p:nvSpPr>
        <p:spPr>
          <a:xfrm>
            <a:off x="457200" y="116632"/>
            <a:ext cx="8229600" cy="936104"/>
          </a:xfrm>
        </p:spPr>
        <p:txBody>
          <a:bodyPr>
            <a:normAutofit/>
          </a:bodyPr>
          <a:lstStyle/>
          <a:p>
            <a:r>
              <a:rPr lang="en-IN" sz="4000" dirty="0">
                <a:latin typeface="Times New Roman" panose="02020603050405020304" pitchFamily="18" charset="0"/>
                <a:cs typeface="Times New Roman" panose="02020603050405020304" pitchFamily="18" charset="0"/>
              </a:rPr>
              <a:t>UML - USE CASE DIAGRAM</a:t>
            </a:r>
          </a:p>
        </p:txBody>
      </p:sp>
      <p:pic>
        <p:nvPicPr>
          <p:cNvPr id="11" name="Content Placeholder 10">
            <a:extLst>
              <a:ext uri="{FF2B5EF4-FFF2-40B4-BE49-F238E27FC236}">
                <a16:creationId xmlns:a16="http://schemas.microsoft.com/office/drawing/2014/main" id="{3EB98A73-EDD9-F6EF-0117-B2AC94D49D06}"/>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901125" y="1268760"/>
            <a:ext cx="7341749" cy="5400000"/>
          </a:xfrm>
        </p:spPr>
      </p:pic>
    </p:spTree>
    <p:extLst>
      <p:ext uri="{BB962C8B-B14F-4D97-AF65-F5344CB8AC3E}">
        <p14:creationId xmlns:p14="http://schemas.microsoft.com/office/powerpoint/2010/main" val="23055832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661B7-2053-EDB6-6B27-AA4C59AC61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A489DA-BDCC-864C-04EA-6DAC9BEE86FE}"/>
              </a:ext>
            </a:extLst>
          </p:cNvPr>
          <p:cNvSpPr>
            <a:spLocks noGrp="1"/>
          </p:cNvSpPr>
          <p:nvPr>
            <p:ph type="title"/>
          </p:nvPr>
        </p:nvSpPr>
        <p:spPr>
          <a:xfrm>
            <a:off x="457200" y="116632"/>
            <a:ext cx="8229600" cy="792088"/>
          </a:xfrm>
        </p:spPr>
        <p:txBody>
          <a:bodyPr>
            <a:normAutofit/>
          </a:bodyPr>
          <a:lstStyle/>
          <a:p>
            <a:r>
              <a:rPr lang="en-IN" sz="4000" dirty="0">
                <a:latin typeface="Times New Roman" panose="02020603050405020304" pitchFamily="18" charset="0"/>
                <a:cs typeface="Times New Roman" panose="02020603050405020304" pitchFamily="18" charset="0"/>
              </a:rPr>
              <a:t>UML – ACTIVITY DIAGRAM</a:t>
            </a:r>
          </a:p>
        </p:txBody>
      </p:sp>
      <p:pic>
        <p:nvPicPr>
          <p:cNvPr id="6" name="Content Placeholder 5">
            <a:extLst>
              <a:ext uri="{FF2B5EF4-FFF2-40B4-BE49-F238E27FC236}">
                <a16:creationId xmlns:a16="http://schemas.microsoft.com/office/drawing/2014/main" id="{7A88EA42-5E77-5E3E-76C0-27E3C0E210E7}"/>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487471" y="981368"/>
            <a:ext cx="6169058" cy="5760000"/>
          </a:xfrm>
        </p:spPr>
      </p:pic>
    </p:spTree>
    <p:extLst>
      <p:ext uri="{BB962C8B-B14F-4D97-AF65-F5344CB8AC3E}">
        <p14:creationId xmlns:p14="http://schemas.microsoft.com/office/powerpoint/2010/main" val="1881223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153BC-CB72-54F8-3370-C11B0D19A6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1E12F4-F7EA-04AF-6F7D-6D349C40CDAF}"/>
              </a:ext>
            </a:extLst>
          </p:cNvPr>
          <p:cNvSpPr>
            <a:spLocks noGrp="1"/>
          </p:cNvSpPr>
          <p:nvPr>
            <p:ph type="title"/>
          </p:nvPr>
        </p:nvSpPr>
        <p:spPr>
          <a:xfrm>
            <a:off x="457200" y="188640"/>
            <a:ext cx="8229600" cy="792088"/>
          </a:xfrm>
        </p:spPr>
        <p:txBody>
          <a:bodyPr>
            <a:normAutofit/>
          </a:bodyPr>
          <a:lstStyle/>
          <a:p>
            <a:r>
              <a:rPr lang="en-IN" sz="4000" dirty="0">
                <a:latin typeface="Times New Roman" panose="02020603050405020304" pitchFamily="18" charset="0"/>
                <a:cs typeface="Times New Roman" panose="02020603050405020304" pitchFamily="18" charset="0"/>
              </a:rPr>
              <a:t>UML – CLASS DIAGRAM</a:t>
            </a:r>
          </a:p>
        </p:txBody>
      </p:sp>
      <p:pic>
        <p:nvPicPr>
          <p:cNvPr id="6" name="Picture 5">
            <a:extLst>
              <a:ext uri="{FF2B5EF4-FFF2-40B4-BE49-F238E27FC236}">
                <a16:creationId xmlns:a16="http://schemas.microsoft.com/office/drawing/2014/main" id="{F312F84B-AEDE-181B-8672-F57B95B3FC76}"/>
              </a:ext>
            </a:extLst>
          </p:cNvPr>
          <p:cNvPicPr>
            <a:picLocks noChangeAspect="1"/>
          </p:cNvPicPr>
          <p:nvPr/>
        </p:nvPicPr>
        <p:blipFill>
          <a:blip r:embed="rId2"/>
          <a:stretch>
            <a:fillRect/>
          </a:stretch>
        </p:blipFill>
        <p:spPr>
          <a:xfrm>
            <a:off x="664369" y="980728"/>
            <a:ext cx="7815262" cy="5538973"/>
          </a:xfrm>
          <a:prstGeom prst="rect">
            <a:avLst/>
          </a:prstGeom>
        </p:spPr>
      </p:pic>
    </p:spTree>
    <p:extLst>
      <p:ext uri="{BB962C8B-B14F-4D97-AF65-F5344CB8AC3E}">
        <p14:creationId xmlns:p14="http://schemas.microsoft.com/office/powerpoint/2010/main" val="8935305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92DA919A-B5F6-4215-27A1-D98B24CF6061}"/>
            </a:ext>
          </a:extLst>
        </p:cNvPr>
        <p:cNvGrpSpPr/>
        <p:nvPr/>
      </p:nvGrpSpPr>
      <p:grpSpPr>
        <a:xfrm>
          <a:off x="0" y="0"/>
          <a:ext cx="0" cy="0"/>
          <a:chOff x="0" y="0"/>
          <a:chExt cx="0" cy="0"/>
        </a:xfrm>
      </p:grpSpPr>
      <p:sp>
        <p:nvSpPr>
          <p:cNvPr id="140" name="Google Shape;140;p21">
            <a:extLst>
              <a:ext uri="{FF2B5EF4-FFF2-40B4-BE49-F238E27FC236}">
                <a16:creationId xmlns:a16="http://schemas.microsoft.com/office/drawing/2014/main" id="{71563101-1316-5B27-38FB-05E84E173C8D}"/>
              </a:ext>
            </a:extLst>
          </p:cNvPr>
          <p:cNvSpPr txBox="1">
            <a:spLocks noGrp="1"/>
          </p:cNvSpPr>
          <p:nvPr>
            <p:ph type="title"/>
          </p:nvPr>
        </p:nvSpPr>
        <p:spPr>
          <a:xfrm>
            <a:off x="457200" y="116632"/>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Times New Roman"/>
              <a:buNone/>
            </a:pPr>
            <a:r>
              <a:rPr lang="en-US" sz="4000" dirty="0">
                <a:latin typeface="Times New Roman"/>
                <a:ea typeface="Times New Roman"/>
                <a:cs typeface="Times New Roman"/>
                <a:sym typeface="Times New Roman"/>
              </a:rPr>
              <a:t>MODULES DESCRIPTION</a:t>
            </a:r>
            <a:endParaRPr dirty="0"/>
          </a:p>
        </p:txBody>
      </p:sp>
      <p:sp>
        <p:nvSpPr>
          <p:cNvPr id="141" name="Google Shape;141;p21">
            <a:extLst>
              <a:ext uri="{FF2B5EF4-FFF2-40B4-BE49-F238E27FC236}">
                <a16:creationId xmlns:a16="http://schemas.microsoft.com/office/drawing/2014/main" id="{8105EBA0-F8C9-E58B-3761-820751DB801A}"/>
              </a:ext>
            </a:extLst>
          </p:cNvPr>
          <p:cNvSpPr txBox="1"/>
          <p:nvPr/>
        </p:nvSpPr>
        <p:spPr>
          <a:xfrm>
            <a:off x="290700" y="983392"/>
            <a:ext cx="8562600" cy="5757976"/>
          </a:xfrm>
          <a:prstGeom prst="rect">
            <a:avLst/>
          </a:prstGeom>
          <a:noFill/>
          <a:ln>
            <a:noFill/>
          </a:ln>
        </p:spPr>
        <p:txBody>
          <a:bodyPr spcFirstLastPara="1" wrap="square" lIns="91425" tIns="91425" rIns="91425" bIns="91425" anchor="t" anchorCtr="0">
            <a:noAutofit/>
          </a:bodyPr>
          <a:lstStyle/>
          <a:p>
            <a:pPr marL="300990" marR="118110" algn="just">
              <a:spcBef>
                <a:spcPts val="1200"/>
              </a:spcBef>
              <a:buClr>
                <a:schemeClr val="dk1"/>
              </a:buClr>
              <a:buSzPts val="1700"/>
            </a:pPr>
            <a:r>
              <a:rPr lang="en-US" sz="1800" dirty="0">
                <a:solidFill>
                  <a:schemeClr val="dk1"/>
                </a:solidFill>
                <a:latin typeface="Times New Roman"/>
                <a:ea typeface="Times New Roman"/>
                <a:cs typeface="Times New Roman"/>
                <a:sym typeface="Times New Roman"/>
              </a:rPr>
              <a:t>The key modules of the application include:</a:t>
            </a:r>
          </a:p>
          <a:p>
            <a:pPr marL="586740" marR="118110" indent="-285750" algn="just">
              <a:spcBef>
                <a:spcPts val="1200"/>
              </a:spcBef>
              <a:buClr>
                <a:schemeClr val="dk1"/>
              </a:buClr>
              <a:buSzPts val="1700"/>
              <a:buFont typeface="Arial" panose="020B0604020202020204" pitchFamily="34" charset="0"/>
              <a:buChar char="•"/>
            </a:pPr>
            <a:r>
              <a:rPr lang="en-US" sz="1800" b="1" i="0" u="none" strike="noStrike" cap="none" dirty="0">
                <a:solidFill>
                  <a:schemeClr val="dk1"/>
                </a:solidFill>
                <a:latin typeface="Times New Roman"/>
                <a:ea typeface="Times New Roman"/>
                <a:cs typeface="Times New Roman"/>
                <a:sym typeface="Times New Roman"/>
              </a:rPr>
              <a:t>City Analysis Module</a:t>
            </a:r>
            <a:r>
              <a:rPr lang="en-US" sz="1800" b="0" i="0" u="none" strike="noStrike" cap="none" dirty="0">
                <a:solidFill>
                  <a:schemeClr val="dk1"/>
                </a:solidFill>
                <a:latin typeface="Times New Roman"/>
                <a:ea typeface="Times New Roman"/>
                <a:cs typeface="Times New Roman"/>
                <a:sym typeface="Times New Roman"/>
              </a:rPr>
              <a:t> – Displays sub-index and overall livability index for a selected city and year, highlighting key contributing factors.</a:t>
            </a:r>
            <a:endParaRPr lang="en-US" sz="1800" dirty="0">
              <a:solidFill>
                <a:schemeClr val="dk1"/>
              </a:solidFill>
              <a:latin typeface="Times New Roman"/>
              <a:ea typeface="Times New Roman"/>
              <a:cs typeface="Times New Roman"/>
              <a:sym typeface="Times New Roman"/>
            </a:endParaRPr>
          </a:p>
          <a:p>
            <a:pPr marL="586740" marR="118110" indent="-285750" algn="just">
              <a:spcBef>
                <a:spcPts val="1200"/>
              </a:spcBef>
              <a:buClr>
                <a:schemeClr val="dk1"/>
              </a:buClr>
              <a:buSzPts val="1700"/>
              <a:buFont typeface="Arial" panose="020B0604020202020204" pitchFamily="34" charset="0"/>
              <a:buChar char="•"/>
            </a:pPr>
            <a:r>
              <a:rPr lang="en-US" sz="1800" b="1" i="0" u="none" strike="noStrike" cap="none" dirty="0">
                <a:solidFill>
                  <a:schemeClr val="dk1"/>
                </a:solidFill>
                <a:latin typeface="Times New Roman"/>
                <a:ea typeface="Times New Roman"/>
                <a:cs typeface="Times New Roman"/>
                <a:sym typeface="Times New Roman"/>
              </a:rPr>
              <a:t>Comparison Module</a:t>
            </a:r>
            <a:r>
              <a:rPr lang="en-US" sz="1800" b="0" i="0" u="none" strike="noStrike" cap="none" dirty="0">
                <a:solidFill>
                  <a:schemeClr val="dk1"/>
                </a:solidFill>
                <a:latin typeface="Times New Roman"/>
                <a:ea typeface="Times New Roman"/>
                <a:cs typeface="Times New Roman"/>
                <a:sym typeface="Times New Roman"/>
              </a:rPr>
              <a:t> – Compares multiple cities across chosen years and indicators to reveal differences in livability and development patterns.</a:t>
            </a:r>
            <a:endParaRPr lang="en-US" sz="1800" dirty="0">
              <a:solidFill>
                <a:schemeClr val="dk1"/>
              </a:solidFill>
              <a:latin typeface="Times New Roman"/>
              <a:ea typeface="Times New Roman"/>
              <a:cs typeface="Times New Roman"/>
              <a:sym typeface="Times New Roman"/>
            </a:endParaRPr>
          </a:p>
          <a:p>
            <a:pPr marL="586740" marR="118110" indent="-285750" algn="just">
              <a:spcBef>
                <a:spcPts val="1200"/>
              </a:spcBef>
              <a:buClr>
                <a:schemeClr val="dk1"/>
              </a:buClr>
              <a:buSzPts val="1700"/>
              <a:buFont typeface="Arial" panose="020B0604020202020204" pitchFamily="34" charset="0"/>
              <a:buChar char="•"/>
            </a:pPr>
            <a:r>
              <a:rPr lang="en-US" sz="1800" b="1" i="0" u="none" strike="noStrike" cap="none" dirty="0">
                <a:solidFill>
                  <a:schemeClr val="dk1"/>
                </a:solidFill>
                <a:latin typeface="Times New Roman"/>
                <a:ea typeface="Times New Roman"/>
                <a:cs typeface="Times New Roman"/>
                <a:sym typeface="Times New Roman"/>
              </a:rPr>
              <a:t>Visualization Module</a:t>
            </a:r>
            <a:r>
              <a:rPr lang="en-US" sz="1800" b="0" i="0" u="none" strike="noStrike" cap="none" dirty="0">
                <a:solidFill>
                  <a:schemeClr val="dk1"/>
                </a:solidFill>
                <a:latin typeface="Times New Roman"/>
                <a:ea typeface="Times New Roman"/>
                <a:cs typeface="Times New Roman"/>
                <a:sym typeface="Times New Roman"/>
              </a:rPr>
              <a:t> – Showcases analytical and interactive visualizations such as line charts, heatmaps, radar plots, bar graphs, and distribution plots to interpret patterns and trends among various urban indicators.</a:t>
            </a:r>
            <a:endParaRPr lang="en-US" sz="1800" dirty="0">
              <a:solidFill>
                <a:schemeClr val="dk1"/>
              </a:solidFill>
              <a:latin typeface="Times New Roman"/>
              <a:ea typeface="Times New Roman"/>
              <a:cs typeface="Times New Roman"/>
              <a:sym typeface="Times New Roman"/>
            </a:endParaRPr>
          </a:p>
          <a:p>
            <a:pPr marL="586740" marR="118110" indent="-285750" algn="just">
              <a:spcBef>
                <a:spcPts val="1200"/>
              </a:spcBef>
              <a:buClr>
                <a:schemeClr val="dk1"/>
              </a:buClr>
              <a:buSzPts val="1700"/>
              <a:buFont typeface="Arial" panose="020B0604020202020204" pitchFamily="34" charset="0"/>
              <a:buChar char="•"/>
            </a:pPr>
            <a:r>
              <a:rPr lang="en-US" sz="1800" b="1" i="0" u="none" strike="noStrike" cap="none" dirty="0">
                <a:solidFill>
                  <a:schemeClr val="dk1"/>
                </a:solidFill>
                <a:latin typeface="Times New Roman"/>
                <a:ea typeface="Times New Roman"/>
                <a:cs typeface="Times New Roman"/>
                <a:sym typeface="Times New Roman"/>
              </a:rPr>
              <a:t>Leaderboard Module</a:t>
            </a:r>
            <a:r>
              <a:rPr lang="en-US" sz="1800" b="0" i="0" u="none" strike="noStrike" cap="none" dirty="0">
                <a:solidFill>
                  <a:schemeClr val="dk1"/>
                </a:solidFill>
                <a:latin typeface="Times New Roman"/>
                <a:ea typeface="Times New Roman"/>
                <a:cs typeface="Times New Roman"/>
                <a:sym typeface="Times New Roman"/>
              </a:rPr>
              <a:t> – Ranks cities by overall livability scores, providing a comparative summary of their performance over time.</a:t>
            </a:r>
            <a:endParaRPr lang="en-US" sz="1800" dirty="0">
              <a:solidFill>
                <a:schemeClr val="dk1"/>
              </a:solidFill>
              <a:latin typeface="Times New Roman"/>
              <a:ea typeface="Times New Roman"/>
              <a:cs typeface="Times New Roman"/>
              <a:sym typeface="Times New Roman"/>
            </a:endParaRPr>
          </a:p>
          <a:p>
            <a:pPr marL="300990" marR="118110" algn="just">
              <a:spcBef>
                <a:spcPts val="1200"/>
              </a:spcBef>
              <a:buClr>
                <a:schemeClr val="dk1"/>
              </a:buClr>
              <a:buSzPts val="1700"/>
            </a:pPr>
            <a:endParaRPr lang="en-US" sz="1800" b="0" i="0" u="none" strike="noStrike" cap="none" dirty="0">
              <a:solidFill>
                <a:schemeClr val="dk1"/>
              </a:solidFill>
              <a:latin typeface="Times New Roman"/>
              <a:ea typeface="Times New Roman"/>
              <a:cs typeface="Times New Roman"/>
              <a:sym typeface="Times New Roman"/>
            </a:endParaRPr>
          </a:p>
          <a:p>
            <a:pPr marL="300038" marR="118110" lvl="0" indent="328613" algn="just" rtl="0">
              <a:spcBef>
                <a:spcPts val="0"/>
              </a:spcBef>
              <a:spcAft>
                <a:spcPts val="0"/>
              </a:spcAft>
              <a:buClr>
                <a:schemeClr val="dk1"/>
              </a:buClr>
              <a:buSzPts val="1700"/>
            </a:pPr>
            <a:r>
              <a:rPr lang="en-US" sz="1800" b="0" i="0" u="none" strike="noStrike" cap="none" dirty="0">
                <a:solidFill>
                  <a:schemeClr val="dk1"/>
                </a:solidFill>
                <a:latin typeface="Times New Roman"/>
                <a:ea typeface="Times New Roman"/>
                <a:cs typeface="Times New Roman"/>
                <a:sym typeface="Times New Roman"/>
              </a:rPr>
              <a:t>The backend computations are performed using </a:t>
            </a:r>
            <a:r>
              <a:rPr lang="en-US" sz="1800" b="1" i="0" u="none" strike="noStrike" cap="none" dirty="0">
                <a:solidFill>
                  <a:schemeClr val="dk1"/>
                </a:solidFill>
                <a:latin typeface="Times New Roman"/>
                <a:ea typeface="Times New Roman"/>
                <a:cs typeface="Times New Roman"/>
                <a:sym typeface="Times New Roman"/>
              </a:rPr>
              <a:t>Pandas and NumPy </a:t>
            </a:r>
            <a:r>
              <a:rPr lang="en-US" sz="1800" b="0" i="0" u="none" strike="noStrike" cap="none" dirty="0">
                <a:solidFill>
                  <a:schemeClr val="dk1"/>
                </a:solidFill>
                <a:latin typeface="Times New Roman"/>
                <a:ea typeface="Times New Roman"/>
                <a:cs typeface="Times New Roman"/>
                <a:sym typeface="Times New Roman"/>
              </a:rPr>
              <a:t>for data processing, while </a:t>
            </a:r>
            <a:r>
              <a:rPr lang="en-US" sz="1800" b="1" i="0" u="none" strike="noStrike" cap="none" dirty="0">
                <a:solidFill>
                  <a:schemeClr val="dk1"/>
                </a:solidFill>
                <a:latin typeface="Times New Roman"/>
                <a:ea typeface="Times New Roman"/>
                <a:cs typeface="Times New Roman"/>
                <a:sym typeface="Times New Roman"/>
              </a:rPr>
              <a:t>Matplotlib and Seaborn </a:t>
            </a:r>
            <a:r>
              <a:rPr lang="en-US" sz="1800" b="0" i="0" u="none" strike="noStrike" cap="none" dirty="0">
                <a:solidFill>
                  <a:schemeClr val="dk1"/>
                </a:solidFill>
                <a:latin typeface="Times New Roman"/>
                <a:ea typeface="Times New Roman"/>
                <a:cs typeface="Times New Roman"/>
                <a:sym typeface="Times New Roman"/>
              </a:rPr>
              <a:t>are used for generating plots integrated into the </a:t>
            </a:r>
            <a:r>
              <a:rPr lang="en-US" sz="1800" b="1" i="0" u="none" strike="noStrike" cap="none" dirty="0" err="1">
                <a:solidFill>
                  <a:schemeClr val="dk1"/>
                </a:solidFill>
                <a:latin typeface="Times New Roman"/>
                <a:ea typeface="Times New Roman"/>
                <a:cs typeface="Times New Roman"/>
                <a:sym typeface="Times New Roman"/>
              </a:rPr>
              <a:t>Streamlit</a:t>
            </a:r>
            <a:r>
              <a:rPr lang="en-US" sz="1800" b="0" i="0" u="none" strike="noStrike" cap="none" dirty="0">
                <a:solidFill>
                  <a:schemeClr val="dk1"/>
                </a:solidFill>
                <a:latin typeface="Times New Roman"/>
                <a:ea typeface="Times New Roman"/>
                <a:cs typeface="Times New Roman"/>
                <a:sym typeface="Times New Roman"/>
              </a:rPr>
              <a:t> front-end.</a:t>
            </a:r>
          </a:p>
          <a:p>
            <a:pPr marL="300038" marR="118110" lvl="0" indent="328613" algn="just" rtl="0">
              <a:spcBef>
                <a:spcPts val="0"/>
              </a:spcBef>
              <a:spcAft>
                <a:spcPts val="0"/>
              </a:spcAft>
              <a:buClr>
                <a:schemeClr val="dk1"/>
              </a:buClr>
              <a:buSzPts val="1700"/>
            </a:pPr>
            <a:r>
              <a:rPr lang="en-US" sz="1800" b="0" i="0" u="none" strike="noStrike" cap="none" dirty="0">
                <a:solidFill>
                  <a:schemeClr val="dk1"/>
                </a:solidFill>
                <a:latin typeface="Times New Roman"/>
                <a:ea typeface="Times New Roman"/>
                <a:cs typeface="Times New Roman"/>
                <a:sym typeface="Times New Roman"/>
              </a:rPr>
              <a:t>The interactive web dashboard provides a dynamic, multi-page interface for visualizing and comparing livability metrics across cities and years.</a:t>
            </a:r>
            <a:endParaRPr sz="1800" b="0" i="0" u="none" strike="noStrike" cap="none" dirty="0">
              <a:solidFill>
                <a:schemeClr val="dk1"/>
              </a:solidFill>
              <a:latin typeface="Times New Roman"/>
              <a:ea typeface="Times New Roman"/>
              <a:cs typeface="Times New Roman"/>
              <a:sym typeface="Times New Roman"/>
            </a:endParaRPr>
          </a:p>
          <a:p>
            <a:pPr marL="0" marR="118110" lvl="0" indent="0" algn="just" rtl="0">
              <a:spcBef>
                <a:spcPts val="1200"/>
              </a:spcBef>
              <a:spcAft>
                <a:spcPts val="1200"/>
              </a:spcAft>
              <a:buClr>
                <a:srgbClr val="000000"/>
              </a:buClr>
              <a:buSzPts val="17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0540844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0"/>
          <p:cNvSpPr txBox="1">
            <a:spLocks noGrp="1"/>
          </p:cNvSpPr>
          <p:nvPr>
            <p:ph type="title"/>
          </p:nvPr>
        </p:nvSpPr>
        <p:spPr>
          <a:xfrm>
            <a:off x="457200" y="7"/>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Times New Roman"/>
              <a:buNone/>
            </a:pPr>
            <a:r>
              <a:rPr lang="en-US" sz="4000">
                <a:latin typeface="Times New Roman"/>
                <a:ea typeface="Times New Roman"/>
                <a:cs typeface="Times New Roman"/>
                <a:sym typeface="Times New Roman"/>
              </a:rPr>
              <a:t>METHODOLOGY</a:t>
            </a:r>
            <a:endParaRPr/>
          </a:p>
        </p:txBody>
      </p:sp>
      <p:sp>
        <p:nvSpPr>
          <p:cNvPr id="135" name="Google Shape;135;p20"/>
          <p:cNvSpPr txBox="1"/>
          <p:nvPr/>
        </p:nvSpPr>
        <p:spPr>
          <a:xfrm>
            <a:off x="245075" y="1033950"/>
            <a:ext cx="8653850" cy="5691900"/>
          </a:xfrm>
          <a:prstGeom prst="rect">
            <a:avLst/>
          </a:prstGeom>
          <a:noFill/>
          <a:ln>
            <a:noFill/>
          </a:ln>
        </p:spPr>
        <p:txBody>
          <a:bodyPr spcFirstLastPara="1" wrap="square" lIns="91425" tIns="91425" rIns="91425" bIns="91425" anchor="t" anchorCtr="0">
            <a:noAutofit/>
          </a:bodyPr>
          <a:lstStyle/>
          <a:p>
            <a:pPr marL="457200" marR="0" lvl="0" indent="-330200" algn="just" rtl="0">
              <a:lnSpc>
                <a:spcPct val="150000"/>
              </a:lnSpc>
              <a:spcBef>
                <a:spcPts val="0"/>
              </a:spcBef>
              <a:spcAft>
                <a:spcPts val="0"/>
              </a:spcAft>
              <a:buClr>
                <a:schemeClr val="dk1"/>
              </a:buClr>
              <a:buSzPts val="1600"/>
              <a:buFont typeface="Times New Roman"/>
              <a:buChar char="●"/>
            </a:pPr>
            <a:r>
              <a:rPr lang="en-US" sz="1800" b="0" i="0" u="none" strike="noStrike" cap="none" dirty="0">
                <a:solidFill>
                  <a:schemeClr val="dk1"/>
                </a:solidFill>
                <a:latin typeface="Times New Roman"/>
                <a:ea typeface="Times New Roman"/>
                <a:cs typeface="Times New Roman"/>
                <a:sym typeface="Times New Roman"/>
              </a:rPr>
              <a:t>Five major Indian cities - </a:t>
            </a:r>
            <a:r>
              <a:rPr lang="en-US" sz="1800" b="1" u="none" strike="noStrike" cap="none" dirty="0">
                <a:solidFill>
                  <a:schemeClr val="dk1"/>
                </a:solidFill>
                <a:latin typeface="Times New Roman"/>
                <a:ea typeface="Times New Roman"/>
                <a:cs typeface="Times New Roman"/>
                <a:sym typeface="Times New Roman"/>
              </a:rPr>
              <a:t>Delhi, Mumbai, Bengaluru, Chennai, and Kolkata</a:t>
            </a:r>
            <a:r>
              <a:rPr lang="en-US" sz="1800" b="0" i="0" u="none" strike="noStrike" cap="none" dirty="0">
                <a:solidFill>
                  <a:schemeClr val="dk1"/>
                </a:solidFill>
                <a:latin typeface="Times New Roman"/>
                <a:ea typeface="Times New Roman"/>
                <a:cs typeface="Times New Roman"/>
                <a:sym typeface="Times New Roman"/>
              </a:rPr>
              <a:t> - were analyzed for the period </a:t>
            </a:r>
            <a:r>
              <a:rPr lang="en-US" sz="1800" b="1" i="0" u="none" strike="noStrike" cap="none" dirty="0">
                <a:solidFill>
                  <a:schemeClr val="dk1"/>
                </a:solidFill>
                <a:latin typeface="Times New Roman"/>
                <a:ea typeface="Times New Roman"/>
                <a:cs typeface="Times New Roman"/>
                <a:sym typeface="Times New Roman"/>
              </a:rPr>
              <a:t>2019–2023</a:t>
            </a:r>
            <a:r>
              <a:rPr lang="en-US" sz="1800" b="0" i="0" u="none" strike="noStrike" cap="none" dirty="0">
                <a:solidFill>
                  <a:schemeClr val="dk1"/>
                </a:solidFill>
                <a:latin typeface="Times New Roman"/>
                <a:ea typeface="Times New Roman"/>
                <a:cs typeface="Times New Roman"/>
                <a:sym typeface="Times New Roman"/>
              </a:rPr>
              <a:t>, using available data.</a:t>
            </a:r>
            <a:endParaRPr sz="1800" b="0" i="0" u="none" strike="noStrike" cap="none" dirty="0">
              <a:solidFill>
                <a:schemeClr val="dk1"/>
              </a:solidFill>
              <a:latin typeface="Times New Roman"/>
              <a:ea typeface="Times New Roman"/>
              <a:cs typeface="Times New Roman"/>
              <a:sym typeface="Times New Roman"/>
            </a:endParaRPr>
          </a:p>
          <a:p>
            <a:pPr marL="457200" marR="0" lvl="0" indent="-330200" algn="just" rtl="0">
              <a:lnSpc>
                <a:spcPct val="150000"/>
              </a:lnSpc>
              <a:spcBef>
                <a:spcPts val="0"/>
              </a:spcBef>
              <a:spcAft>
                <a:spcPts val="0"/>
              </a:spcAft>
              <a:buClr>
                <a:schemeClr val="dk1"/>
              </a:buClr>
              <a:buSzPts val="1600"/>
              <a:buFont typeface="Times New Roman"/>
              <a:buChar char="●"/>
            </a:pPr>
            <a:r>
              <a:rPr lang="en-US" sz="1800" b="0" i="0" u="none" strike="noStrike" cap="none" dirty="0">
                <a:solidFill>
                  <a:schemeClr val="dk1"/>
                </a:solidFill>
                <a:latin typeface="Times New Roman"/>
                <a:ea typeface="Times New Roman"/>
                <a:cs typeface="Times New Roman"/>
                <a:sym typeface="Times New Roman"/>
              </a:rPr>
              <a:t>The </a:t>
            </a:r>
            <a:r>
              <a:rPr lang="en-US" sz="1800" b="1" i="0" u="none" strike="noStrike" cap="none" dirty="0">
                <a:solidFill>
                  <a:schemeClr val="dk1"/>
                </a:solidFill>
                <a:latin typeface="Times New Roman"/>
                <a:ea typeface="Times New Roman"/>
                <a:cs typeface="Times New Roman"/>
                <a:sym typeface="Times New Roman"/>
              </a:rPr>
              <a:t>composite Livability Index (LI) </a:t>
            </a:r>
            <a:r>
              <a:rPr lang="en-US" sz="1800" b="0" i="0" u="none" strike="noStrike" cap="none" dirty="0">
                <a:solidFill>
                  <a:schemeClr val="dk1"/>
                </a:solidFill>
                <a:latin typeface="Times New Roman"/>
                <a:ea typeface="Times New Roman"/>
                <a:cs typeface="Times New Roman"/>
                <a:sym typeface="Times New Roman"/>
              </a:rPr>
              <a:t>for each city and year was calculated by taking weighted average with </a:t>
            </a:r>
            <a:r>
              <a:rPr lang="en-US" sz="1800" b="1" i="0" u="none" strike="noStrike" cap="none" dirty="0">
                <a:solidFill>
                  <a:schemeClr val="dk1"/>
                </a:solidFill>
                <a:latin typeface="Times New Roman"/>
                <a:ea typeface="Times New Roman"/>
                <a:cs typeface="Times New Roman"/>
                <a:sym typeface="Times New Roman"/>
              </a:rPr>
              <a:t>equal weights</a:t>
            </a:r>
            <a:r>
              <a:rPr lang="en-US" sz="1800" b="0" i="0" u="none" strike="noStrike" cap="none" dirty="0">
                <a:solidFill>
                  <a:schemeClr val="dk1"/>
                </a:solidFill>
                <a:latin typeface="Times New Roman"/>
                <a:ea typeface="Times New Roman"/>
                <a:cs typeface="Times New Roman"/>
                <a:sym typeface="Times New Roman"/>
              </a:rPr>
              <a:t> (</a:t>
            </a:r>
            <a:r>
              <a:rPr lang="en-US" sz="1800" b="0" i="0" u="none" strike="noStrike" cap="none" dirty="0" err="1">
                <a:solidFill>
                  <a:schemeClr val="dk1"/>
                </a:solidFill>
                <a:latin typeface="Times New Roman"/>
                <a:ea typeface="Times New Roman"/>
                <a:cs typeface="Times New Roman"/>
                <a:sym typeface="Times New Roman"/>
              </a:rPr>
              <a:t>w</a:t>
            </a:r>
            <a:r>
              <a:rPr lang="en-US" sz="1800" b="0" i="0" u="none" strike="noStrike" cap="none" baseline="-25000" dirty="0" err="1">
                <a:solidFill>
                  <a:schemeClr val="dk1"/>
                </a:solidFill>
                <a:latin typeface="Times New Roman"/>
                <a:ea typeface="Times New Roman"/>
                <a:cs typeface="Times New Roman"/>
                <a:sym typeface="Times New Roman"/>
              </a:rPr>
              <a:t>i</a:t>
            </a:r>
            <a:r>
              <a:rPr lang="en-US" sz="1800" b="0" i="0" u="none" strike="noStrike" cap="none" baseline="-25000" dirty="0">
                <a:solidFill>
                  <a:schemeClr val="dk1"/>
                </a:solidFill>
                <a:latin typeface="Times New Roman"/>
                <a:ea typeface="Times New Roman"/>
                <a:cs typeface="Times New Roman"/>
                <a:sym typeface="Times New Roman"/>
              </a:rPr>
              <a:t> </a:t>
            </a:r>
            <a:r>
              <a:rPr lang="en-US" sz="1800" b="0" i="0" u="none" strike="noStrike" cap="none" dirty="0">
                <a:solidFill>
                  <a:schemeClr val="dk1"/>
                </a:solidFill>
                <a:latin typeface="Times New Roman"/>
                <a:ea typeface="Times New Roman"/>
                <a:cs typeface="Times New Roman"/>
                <a:sym typeface="Times New Roman"/>
              </a:rPr>
              <a:t>= 0.25) for </a:t>
            </a:r>
            <a:r>
              <a:rPr lang="en-US" sz="1800" dirty="0">
                <a:solidFill>
                  <a:schemeClr val="dk1"/>
                </a:solidFill>
                <a:latin typeface="Times New Roman"/>
                <a:ea typeface="Times New Roman"/>
                <a:cs typeface="Times New Roman"/>
                <a:sym typeface="Times New Roman"/>
              </a:rPr>
              <a:t>4 </a:t>
            </a:r>
            <a:r>
              <a:rPr lang="en-US" sz="1800" b="0" i="0" u="none" strike="noStrike" cap="none" dirty="0">
                <a:solidFill>
                  <a:schemeClr val="dk1"/>
                </a:solidFill>
                <a:latin typeface="Times New Roman"/>
                <a:ea typeface="Times New Roman"/>
                <a:cs typeface="Times New Roman"/>
                <a:sym typeface="Times New Roman"/>
              </a:rPr>
              <a:t>sub-indices based on UN standards.</a:t>
            </a:r>
            <a:r>
              <a:rPr lang="en-US" sz="1800" dirty="0">
                <a:solidFill>
                  <a:schemeClr val="dk1"/>
                </a:solidFill>
                <a:latin typeface="Times New Roman"/>
                <a:ea typeface="Times New Roman"/>
                <a:cs typeface="Times New Roman"/>
                <a:sym typeface="Times New Roman"/>
              </a:rPr>
              <a:t> </a:t>
            </a:r>
            <a:r>
              <a:rPr lang="en-US" sz="1800" b="1" i="0" u="none" strike="noStrike" cap="none" dirty="0">
                <a:solidFill>
                  <a:schemeClr val="dk1"/>
                </a:solidFill>
                <a:latin typeface="Times New Roman"/>
                <a:ea typeface="Times New Roman"/>
                <a:cs typeface="Times New Roman"/>
                <a:sym typeface="Times New Roman"/>
              </a:rPr>
              <a:t>Min–Max normalization </a:t>
            </a:r>
            <a:r>
              <a:rPr lang="en-US" sz="1800" b="0" i="0" u="none" strike="noStrike" cap="none" dirty="0">
                <a:solidFill>
                  <a:schemeClr val="dk1"/>
                </a:solidFill>
                <a:latin typeface="Times New Roman"/>
                <a:ea typeface="Times New Roman"/>
                <a:cs typeface="Times New Roman"/>
                <a:sym typeface="Times New Roman"/>
              </a:rPr>
              <a:t>was applied to standardize all indicators (0–1 scale), ensuring comparability.</a:t>
            </a:r>
          </a:p>
          <a:p>
            <a:pPr marL="457200" marR="0" lvl="0" indent="-330200" algn="just" rtl="0">
              <a:lnSpc>
                <a:spcPct val="150000"/>
              </a:lnSpc>
              <a:spcBef>
                <a:spcPts val="0"/>
              </a:spcBef>
              <a:spcAft>
                <a:spcPts val="0"/>
              </a:spcAft>
              <a:buClr>
                <a:schemeClr val="dk1"/>
              </a:buClr>
              <a:buSzPts val="1600"/>
              <a:buFont typeface="Times New Roman"/>
              <a:buChar char="●"/>
            </a:pPr>
            <a:r>
              <a:rPr lang="en-US" sz="1800" b="0" i="0" u="none" strike="noStrike" cap="none" dirty="0">
                <a:solidFill>
                  <a:schemeClr val="dk1"/>
                </a:solidFill>
                <a:latin typeface="Times New Roman"/>
                <a:ea typeface="Times New Roman"/>
                <a:cs typeface="Times New Roman"/>
                <a:sym typeface="Times New Roman"/>
              </a:rPr>
              <a:t>Missing city-level data were substituted with </a:t>
            </a:r>
            <a:r>
              <a:rPr lang="en-US" sz="1800" b="1" i="0" u="none" strike="noStrike" cap="none" dirty="0">
                <a:solidFill>
                  <a:schemeClr val="dk1"/>
                </a:solidFill>
                <a:latin typeface="Times New Roman"/>
                <a:ea typeface="Times New Roman"/>
                <a:cs typeface="Times New Roman"/>
                <a:sym typeface="Times New Roman"/>
              </a:rPr>
              <a:t>state/metropolitan proxies.</a:t>
            </a:r>
          </a:p>
          <a:p>
            <a:pPr marL="457200" marR="0" lvl="0" indent="-330200" algn="just" rtl="0">
              <a:lnSpc>
                <a:spcPct val="150000"/>
              </a:lnSpc>
              <a:spcBef>
                <a:spcPts val="0"/>
              </a:spcBef>
              <a:spcAft>
                <a:spcPts val="0"/>
              </a:spcAft>
              <a:buClr>
                <a:schemeClr val="dk1"/>
              </a:buClr>
              <a:buSzPts val="1600"/>
              <a:buFont typeface="Times New Roman"/>
              <a:buChar char="●"/>
            </a:pPr>
            <a:r>
              <a:rPr lang="en-IN" sz="1800" b="0" i="0" u="none" strike="noStrike" cap="none" dirty="0">
                <a:solidFill>
                  <a:schemeClr val="dk1"/>
                </a:solidFill>
                <a:latin typeface="Times New Roman"/>
                <a:ea typeface="Times New Roman"/>
                <a:cs typeface="Times New Roman"/>
                <a:sym typeface="Times New Roman"/>
              </a:rPr>
              <a:t>Formula: </a:t>
            </a:r>
            <a:r>
              <a:rPr lang="en-IN" sz="1800" b="1" i="0" u="none" strike="noStrike" cap="none" dirty="0">
                <a:solidFill>
                  <a:schemeClr val="dk1"/>
                </a:solidFill>
                <a:latin typeface="Times New Roman"/>
                <a:ea typeface="Times New Roman"/>
                <a:cs typeface="Times New Roman"/>
                <a:sym typeface="Times New Roman"/>
              </a:rPr>
              <a:t>𝐿𝐼=𝑤1(𝐴𝑄𝐼)+𝑤2(𝐻𝐼)+𝑤3(𝑃𝐷𝐼)+𝑤4(𝐵𝑃𝐿_𝐼𝑛𝑑𝑒𝑥)</a:t>
            </a:r>
            <a:r>
              <a:rPr lang="en-IN" sz="1800" b="0" i="0" u="none" strike="noStrike" cap="none" dirty="0">
                <a:solidFill>
                  <a:schemeClr val="dk1"/>
                </a:solidFill>
                <a:latin typeface="Times New Roman"/>
                <a:ea typeface="Times New Roman"/>
                <a:cs typeface="Times New Roman"/>
                <a:sym typeface="Times New Roman"/>
              </a:rPr>
              <a:t> and 𝐿𝐼%=𝐿𝐼×100</a:t>
            </a:r>
          </a:p>
          <a:p>
            <a:pPr marL="457200" marR="0" lvl="0" indent="-330200" algn="just" rtl="0">
              <a:lnSpc>
                <a:spcPct val="150000"/>
              </a:lnSpc>
              <a:spcBef>
                <a:spcPts val="0"/>
              </a:spcBef>
              <a:spcAft>
                <a:spcPts val="0"/>
              </a:spcAft>
              <a:buClr>
                <a:schemeClr val="dk1"/>
              </a:buClr>
              <a:buSzPts val="1600"/>
              <a:buFont typeface="Times New Roman"/>
              <a:buChar char="●"/>
            </a:pPr>
            <a:r>
              <a:rPr lang="en-IN" sz="1800" b="0" i="0" u="none" strike="noStrike" cap="none" dirty="0">
                <a:solidFill>
                  <a:schemeClr val="dk1"/>
                </a:solidFill>
                <a:latin typeface="Times New Roman"/>
                <a:ea typeface="Times New Roman"/>
                <a:cs typeface="Times New Roman"/>
                <a:sym typeface="Times New Roman"/>
              </a:rPr>
              <a:t>Indicators:</a:t>
            </a:r>
          </a:p>
          <a:p>
            <a:pPr marL="914400" lvl="1" indent="-336550">
              <a:lnSpc>
                <a:spcPct val="150000"/>
              </a:lnSpc>
              <a:buClr>
                <a:schemeClr val="dk1"/>
              </a:buClr>
              <a:buSzPts val="1700"/>
              <a:buFont typeface="Times New Roman"/>
              <a:buChar char="○"/>
            </a:pPr>
            <a:r>
              <a:rPr lang="en-US" sz="1800" dirty="0">
                <a:solidFill>
                  <a:schemeClr val="dk1"/>
                </a:solidFill>
                <a:latin typeface="Times New Roman"/>
                <a:ea typeface="Times New Roman"/>
                <a:cs typeface="Times New Roman"/>
                <a:sym typeface="Times New Roman"/>
              </a:rPr>
              <a:t>AQI - Air Quality Index (PM2.5, PM10, NO2, SO2)</a:t>
            </a:r>
          </a:p>
          <a:p>
            <a:pPr marL="914400" lvl="1" indent="-336550">
              <a:lnSpc>
                <a:spcPct val="150000"/>
              </a:lnSpc>
              <a:buClr>
                <a:schemeClr val="dk1"/>
              </a:buClr>
              <a:buSzPts val="1700"/>
              <a:buFont typeface="Times New Roman"/>
              <a:buChar char="○"/>
            </a:pPr>
            <a:r>
              <a:rPr lang="en-US" sz="1800" dirty="0">
                <a:solidFill>
                  <a:schemeClr val="dk1"/>
                </a:solidFill>
                <a:latin typeface="Times New Roman"/>
                <a:ea typeface="Times New Roman"/>
                <a:cs typeface="Times New Roman"/>
                <a:sym typeface="Times New Roman"/>
              </a:rPr>
              <a:t>HI - Health Index (Life expectancy, Infant mortality rate)</a:t>
            </a:r>
          </a:p>
          <a:p>
            <a:pPr marL="914400" lvl="1" indent="-336550">
              <a:lnSpc>
                <a:spcPct val="150000"/>
              </a:lnSpc>
              <a:buClr>
                <a:schemeClr val="dk1"/>
              </a:buClr>
              <a:buSzPts val="1700"/>
              <a:buFont typeface="Times New Roman"/>
              <a:buChar char="○"/>
            </a:pPr>
            <a:r>
              <a:rPr lang="en-US" sz="1800" dirty="0">
                <a:solidFill>
                  <a:schemeClr val="dk1"/>
                </a:solidFill>
                <a:latin typeface="Times New Roman"/>
                <a:ea typeface="Times New Roman"/>
                <a:cs typeface="Times New Roman"/>
                <a:sym typeface="Times New Roman"/>
              </a:rPr>
              <a:t>PDI - Population Density Index (Population, area, population density)</a:t>
            </a:r>
          </a:p>
          <a:p>
            <a:pPr marL="914400" lvl="1" indent="-336550">
              <a:lnSpc>
                <a:spcPct val="150000"/>
              </a:lnSpc>
              <a:spcAft>
                <a:spcPts val="1200"/>
              </a:spcAft>
              <a:buClr>
                <a:schemeClr val="dk1"/>
              </a:buClr>
              <a:buSzPts val="1700"/>
              <a:buFont typeface="Times New Roman"/>
              <a:buChar char="○"/>
            </a:pPr>
            <a:r>
              <a:rPr lang="en-US" sz="1800" dirty="0" err="1">
                <a:solidFill>
                  <a:schemeClr val="dk1"/>
                </a:solidFill>
                <a:latin typeface="Times New Roman"/>
                <a:ea typeface="Times New Roman"/>
                <a:cs typeface="Times New Roman"/>
                <a:sym typeface="Times New Roman"/>
              </a:rPr>
              <a:t>BPL_Index</a:t>
            </a:r>
            <a:r>
              <a:rPr lang="en-US" sz="1800" dirty="0">
                <a:solidFill>
                  <a:schemeClr val="dk1"/>
                </a:solidFill>
                <a:latin typeface="Times New Roman"/>
                <a:ea typeface="Times New Roman"/>
                <a:cs typeface="Times New Roman"/>
                <a:sym typeface="Times New Roman"/>
              </a:rPr>
              <a:t> - Poverty Index (Below poverty line population).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90A78F9F-91B4-F81B-7D84-FAC33C0FD80C}"/>
            </a:ext>
          </a:extLst>
        </p:cNvPr>
        <p:cNvGrpSpPr/>
        <p:nvPr/>
      </p:nvGrpSpPr>
      <p:grpSpPr>
        <a:xfrm>
          <a:off x="0" y="0"/>
          <a:ext cx="0" cy="0"/>
          <a:chOff x="0" y="0"/>
          <a:chExt cx="0" cy="0"/>
        </a:xfrm>
      </p:grpSpPr>
      <p:sp>
        <p:nvSpPr>
          <p:cNvPr id="134" name="Google Shape;134;p20">
            <a:extLst>
              <a:ext uri="{FF2B5EF4-FFF2-40B4-BE49-F238E27FC236}">
                <a16:creationId xmlns:a16="http://schemas.microsoft.com/office/drawing/2014/main" id="{B29D7E9B-AAB2-BD5A-199B-2E89A072D4C4}"/>
              </a:ext>
            </a:extLst>
          </p:cNvPr>
          <p:cNvSpPr txBox="1">
            <a:spLocks noGrp="1"/>
          </p:cNvSpPr>
          <p:nvPr>
            <p:ph type="title"/>
          </p:nvPr>
        </p:nvSpPr>
        <p:spPr>
          <a:xfrm>
            <a:off x="457200" y="7"/>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Times New Roman"/>
              <a:buNone/>
            </a:pPr>
            <a:r>
              <a:rPr lang="en-US" sz="4000">
                <a:latin typeface="Times New Roman"/>
                <a:ea typeface="Times New Roman"/>
                <a:cs typeface="Times New Roman"/>
                <a:sym typeface="Times New Roman"/>
              </a:rPr>
              <a:t>METHODOLOGY</a:t>
            </a:r>
            <a:endParaRPr/>
          </a:p>
        </p:txBody>
      </p:sp>
      <p:sp>
        <p:nvSpPr>
          <p:cNvPr id="135" name="Google Shape;135;p20">
            <a:extLst>
              <a:ext uri="{FF2B5EF4-FFF2-40B4-BE49-F238E27FC236}">
                <a16:creationId xmlns:a16="http://schemas.microsoft.com/office/drawing/2014/main" id="{E7456D0D-8AD2-FD08-BE91-3E50F125AE65}"/>
              </a:ext>
            </a:extLst>
          </p:cNvPr>
          <p:cNvSpPr txBox="1"/>
          <p:nvPr/>
        </p:nvSpPr>
        <p:spPr>
          <a:xfrm>
            <a:off x="684000" y="1046650"/>
            <a:ext cx="7776000" cy="5691900"/>
          </a:xfrm>
          <a:prstGeom prst="rect">
            <a:avLst/>
          </a:prstGeom>
          <a:noFill/>
          <a:ln>
            <a:noFill/>
          </a:ln>
        </p:spPr>
        <p:txBody>
          <a:bodyPr spcFirstLastPara="1" wrap="square" lIns="91425" tIns="91425" rIns="91425" bIns="91425" anchor="t" anchorCtr="0">
            <a:noAutofit/>
          </a:bodyPr>
          <a:lstStyle/>
          <a:p>
            <a:pPr marL="457200" marR="0" lvl="0" indent="-330200" algn="just" rtl="0">
              <a:lnSpc>
                <a:spcPct val="200000"/>
              </a:lnSpc>
              <a:spcBef>
                <a:spcPts val="0"/>
              </a:spcBef>
              <a:spcAft>
                <a:spcPts val="0"/>
              </a:spcAft>
              <a:buClr>
                <a:schemeClr val="dk1"/>
              </a:buClr>
              <a:buSzPts val="1600"/>
              <a:buFont typeface="Times New Roman"/>
              <a:buChar char="●"/>
            </a:pPr>
            <a:r>
              <a:rPr lang="en-US" sz="1800" b="0" i="0" u="none" strike="noStrike" cap="none" dirty="0">
                <a:solidFill>
                  <a:schemeClr val="dk1"/>
                </a:solidFill>
                <a:latin typeface="Times New Roman"/>
                <a:ea typeface="Times New Roman"/>
                <a:cs typeface="Times New Roman"/>
                <a:sym typeface="Times New Roman"/>
              </a:rPr>
              <a:t>Air quality indicators were obtained from the </a:t>
            </a:r>
            <a:r>
              <a:rPr lang="en-US" sz="1800" i="0" u="none" strike="noStrike" cap="none" dirty="0">
                <a:solidFill>
                  <a:schemeClr val="dk1"/>
                </a:solidFill>
                <a:latin typeface="Times New Roman"/>
                <a:ea typeface="Times New Roman"/>
                <a:cs typeface="Times New Roman"/>
                <a:sym typeface="Times New Roman"/>
              </a:rPr>
              <a:t>Kaggle datasets</a:t>
            </a:r>
            <a:r>
              <a:rPr lang="en-US" sz="1800" b="1" i="0" u="none" strike="noStrike" cap="none" dirty="0">
                <a:solidFill>
                  <a:schemeClr val="dk1"/>
                </a:solidFill>
                <a:latin typeface="Times New Roman"/>
                <a:ea typeface="Times New Roman"/>
                <a:cs typeface="Times New Roman"/>
                <a:sym typeface="Times New Roman"/>
              </a:rPr>
              <a:t> </a:t>
            </a:r>
            <a:r>
              <a:rPr lang="en-US" sz="1800" b="0" i="0" u="none" strike="noStrike" cap="none" dirty="0">
                <a:solidFill>
                  <a:schemeClr val="dk1"/>
                </a:solidFill>
                <a:latin typeface="Times New Roman"/>
                <a:ea typeface="Times New Roman"/>
                <a:cs typeface="Times New Roman"/>
                <a:sym typeface="Times New Roman"/>
              </a:rPr>
              <a:t>which are based on </a:t>
            </a:r>
            <a:r>
              <a:rPr lang="en-US" sz="1800" b="1" i="0" strike="noStrike" cap="none" dirty="0">
                <a:solidFill>
                  <a:schemeClr val="dk1"/>
                </a:solidFill>
                <a:latin typeface="Times New Roman"/>
                <a:ea typeface="Times New Roman"/>
                <a:cs typeface="Times New Roman"/>
                <a:sym typeface="Times New Roman"/>
              </a:rPr>
              <a:t>Central Pollution Control Board </a:t>
            </a:r>
            <a:r>
              <a:rPr lang="en-US" sz="1800" b="0" i="0" u="none" strike="noStrike" cap="none" dirty="0">
                <a:solidFill>
                  <a:schemeClr val="dk1"/>
                </a:solidFill>
                <a:latin typeface="Times New Roman"/>
                <a:ea typeface="Times New Roman"/>
                <a:cs typeface="Times New Roman"/>
                <a:sym typeface="Times New Roman"/>
              </a:rPr>
              <a:t>(CPCB) Air Quality data.</a:t>
            </a:r>
          </a:p>
          <a:p>
            <a:pPr marL="457200" marR="0" lvl="0" indent="-330200" algn="just" rtl="0">
              <a:lnSpc>
                <a:spcPct val="200000"/>
              </a:lnSpc>
              <a:spcBef>
                <a:spcPts val="0"/>
              </a:spcBef>
              <a:spcAft>
                <a:spcPts val="0"/>
              </a:spcAft>
              <a:buClr>
                <a:schemeClr val="dk1"/>
              </a:buClr>
              <a:buSzPts val="1600"/>
              <a:buFont typeface="Times New Roman"/>
              <a:buChar char="●"/>
            </a:pPr>
            <a:r>
              <a:rPr lang="en-US" sz="1800" b="0" i="0" u="none" strike="noStrike" cap="none" dirty="0">
                <a:solidFill>
                  <a:schemeClr val="dk1"/>
                </a:solidFill>
                <a:latin typeface="Times New Roman"/>
                <a:ea typeface="Times New Roman"/>
                <a:cs typeface="Times New Roman"/>
                <a:sym typeface="Times New Roman"/>
              </a:rPr>
              <a:t>Health indicators were sourced from the </a:t>
            </a:r>
            <a:r>
              <a:rPr lang="en-US" sz="1800" b="1" i="0" strike="noStrike" cap="none" dirty="0">
                <a:solidFill>
                  <a:schemeClr val="dk1"/>
                </a:solidFill>
                <a:latin typeface="Times New Roman"/>
                <a:ea typeface="Times New Roman"/>
                <a:cs typeface="Times New Roman"/>
                <a:sym typeface="Times New Roman"/>
              </a:rPr>
              <a:t>Sample Registration System </a:t>
            </a:r>
            <a:r>
              <a:rPr lang="en-US" sz="1800" b="0" i="0" u="none" strike="noStrike" cap="none" dirty="0">
                <a:solidFill>
                  <a:schemeClr val="dk1"/>
                </a:solidFill>
                <a:latin typeface="Times New Roman"/>
                <a:ea typeface="Times New Roman"/>
                <a:cs typeface="Times New Roman"/>
                <a:sym typeface="Times New Roman"/>
              </a:rPr>
              <a:t>(SRS) and </a:t>
            </a:r>
            <a:r>
              <a:rPr lang="en-US" sz="1800" b="1" i="0" strike="noStrike" cap="none" dirty="0">
                <a:solidFill>
                  <a:schemeClr val="dk1"/>
                </a:solidFill>
                <a:latin typeface="Times New Roman"/>
                <a:ea typeface="Times New Roman"/>
                <a:cs typeface="Times New Roman"/>
                <a:sym typeface="Times New Roman"/>
              </a:rPr>
              <a:t>National Family Health Survey </a:t>
            </a:r>
            <a:r>
              <a:rPr lang="en-US" sz="1800" b="0" i="0" u="none" strike="noStrike" cap="none" dirty="0">
                <a:solidFill>
                  <a:schemeClr val="dk1"/>
                </a:solidFill>
                <a:latin typeface="Times New Roman"/>
                <a:ea typeface="Times New Roman"/>
                <a:cs typeface="Times New Roman"/>
                <a:sym typeface="Times New Roman"/>
              </a:rPr>
              <a:t>data.</a:t>
            </a:r>
          </a:p>
          <a:p>
            <a:pPr marL="457200" marR="0" lvl="0" indent="-330200" algn="just" rtl="0">
              <a:lnSpc>
                <a:spcPct val="200000"/>
              </a:lnSpc>
              <a:spcBef>
                <a:spcPts val="0"/>
              </a:spcBef>
              <a:spcAft>
                <a:spcPts val="0"/>
              </a:spcAft>
              <a:buClr>
                <a:schemeClr val="dk1"/>
              </a:buClr>
              <a:buSzPts val="1600"/>
              <a:buFont typeface="Times New Roman"/>
              <a:buChar char="●"/>
            </a:pPr>
            <a:r>
              <a:rPr lang="en-US" sz="1800" b="0" i="0" u="none" strike="noStrike" cap="none" dirty="0">
                <a:solidFill>
                  <a:schemeClr val="dk1"/>
                </a:solidFill>
                <a:latin typeface="Times New Roman"/>
                <a:ea typeface="Times New Roman"/>
                <a:cs typeface="Times New Roman"/>
                <a:sym typeface="Times New Roman"/>
              </a:rPr>
              <a:t>Socio-economic data were obtained from the </a:t>
            </a:r>
            <a:r>
              <a:rPr lang="en-US" sz="1800" b="1" i="0" strike="noStrike" cap="none" dirty="0">
                <a:solidFill>
                  <a:schemeClr val="dk1"/>
                </a:solidFill>
                <a:latin typeface="Times New Roman"/>
                <a:ea typeface="Times New Roman"/>
                <a:cs typeface="Times New Roman"/>
                <a:sym typeface="Times New Roman"/>
              </a:rPr>
              <a:t>Open Government Data </a:t>
            </a:r>
            <a:r>
              <a:rPr lang="en-US" sz="1800" b="0" i="0" u="none" strike="noStrike" cap="none" dirty="0">
                <a:solidFill>
                  <a:schemeClr val="dk1"/>
                </a:solidFill>
                <a:latin typeface="Times New Roman"/>
                <a:ea typeface="Times New Roman"/>
                <a:cs typeface="Times New Roman"/>
                <a:sym typeface="Times New Roman"/>
              </a:rPr>
              <a:t>(OGD) platform and state-level poverty reports.</a:t>
            </a:r>
          </a:p>
          <a:p>
            <a:pPr marL="457200" marR="0" lvl="0" indent="-330200" algn="just" rtl="0">
              <a:lnSpc>
                <a:spcPct val="200000"/>
              </a:lnSpc>
              <a:spcBef>
                <a:spcPts val="0"/>
              </a:spcBef>
              <a:spcAft>
                <a:spcPts val="0"/>
              </a:spcAft>
              <a:buClr>
                <a:schemeClr val="dk1"/>
              </a:buClr>
              <a:buSzPts val="1600"/>
              <a:buFont typeface="Times New Roman"/>
              <a:buChar char="●"/>
            </a:pPr>
            <a:r>
              <a:rPr lang="en-US" sz="1800" b="0" i="0" u="none" strike="noStrike" cap="none" dirty="0">
                <a:solidFill>
                  <a:schemeClr val="dk1"/>
                </a:solidFill>
                <a:latin typeface="Times New Roman"/>
                <a:ea typeface="Times New Roman"/>
                <a:cs typeface="Times New Roman"/>
                <a:sym typeface="Times New Roman"/>
              </a:rPr>
              <a:t>Demographic data were collected from the </a:t>
            </a:r>
            <a:r>
              <a:rPr lang="en-US" sz="1800" b="1" i="0" strike="noStrike" cap="none" dirty="0">
                <a:solidFill>
                  <a:schemeClr val="dk1"/>
                </a:solidFill>
                <a:latin typeface="Times New Roman"/>
                <a:ea typeface="Times New Roman"/>
                <a:cs typeface="Times New Roman"/>
                <a:sym typeface="Times New Roman"/>
              </a:rPr>
              <a:t>Census of India</a:t>
            </a:r>
            <a:r>
              <a:rPr lang="en-US" sz="1800" b="0" i="0" u="none" strike="noStrike" cap="none" dirty="0">
                <a:solidFill>
                  <a:schemeClr val="dk1"/>
                </a:solidFill>
                <a:latin typeface="Times New Roman"/>
                <a:ea typeface="Times New Roman"/>
                <a:cs typeface="Times New Roman"/>
                <a:sym typeface="Times New Roman"/>
              </a:rPr>
              <a:t>, with updated estimates from respective city and metropolitan area municipal corporations.</a:t>
            </a:r>
            <a:endParaRPr sz="18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8992963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8F1EB315-4D85-7F94-D974-A534646B7DA7}"/>
            </a:ext>
          </a:extLst>
        </p:cNvPr>
        <p:cNvGrpSpPr/>
        <p:nvPr/>
      </p:nvGrpSpPr>
      <p:grpSpPr>
        <a:xfrm>
          <a:off x="0" y="0"/>
          <a:ext cx="0" cy="0"/>
          <a:chOff x="0" y="0"/>
          <a:chExt cx="0" cy="0"/>
        </a:xfrm>
      </p:grpSpPr>
      <p:sp>
        <p:nvSpPr>
          <p:cNvPr id="140" name="Google Shape;140;p21">
            <a:extLst>
              <a:ext uri="{FF2B5EF4-FFF2-40B4-BE49-F238E27FC236}">
                <a16:creationId xmlns:a16="http://schemas.microsoft.com/office/drawing/2014/main" id="{D5569B13-99BF-CBB8-C24C-5E51BCDEFD81}"/>
              </a:ext>
            </a:extLst>
          </p:cNvPr>
          <p:cNvSpPr txBox="1">
            <a:spLocks noGrp="1"/>
          </p:cNvSpPr>
          <p:nvPr>
            <p:ph type="title"/>
          </p:nvPr>
        </p:nvSpPr>
        <p:spPr>
          <a:xfrm>
            <a:off x="457200" y="116632"/>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Times New Roman"/>
              <a:buNone/>
            </a:pPr>
            <a:r>
              <a:rPr lang="en-US" sz="4000" dirty="0">
                <a:latin typeface="Times New Roman"/>
                <a:cs typeface="Times New Roman"/>
                <a:sym typeface="Times New Roman"/>
              </a:rPr>
              <a:t>DATASET SAMPLE</a:t>
            </a:r>
            <a:endParaRPr dirty="0"/>
          </a:p>
        </p:txBody>
      </p:sp>
      <p:graphicFrame>
        <p:nvGraphicFramePr>
          <p:cNvPr id="2" name="Table 1">
            <a:extLst>
              <a:ext uri="{FF2B5EF4-FFF2-40B4-BE49-F238E27FC236}">
                <a16:creationId xmlns:a16="http://schemas.microsoft.com/office/drawing/2014/main" id="{0C1F75A5-332F-7B78-96FC-898B7197100A}"/>
              </a:ext>
            </a:extLst>
          </p:cNvPr>
          <p:cNvGraphicFramePr>
            <a:graphicFrameLocks noGrp="1"/>
          </p:cNvGraphicFramePr>
          <p:nvPr>
            <p:extLst>
              <p:ext uri="{D42A27DB-BD31-4B8C-83A1-F6EECF244321}">
                <p14:modId xmlns:p14="http://schemas.microsoft.com/office/powerpoint/2010/main" val="391160346"/>
              </p:ext>
            </p:extLst>
          </p:nvPr>
        </p:nvGraphicFramePr>
        <p:xfrm>
          <a:off x="369094" y="1160820"/>
          <a:ext cx="8405812" cy="1410929"/>
        </p:xfrm>
        <a:graphic>
          <a:graphicData uri="http://schemas.openxmlformats.org/drawingml/2006/table">
            <a:tbl>
              <a:tblPr/>
              <a:tblGrid>
                <a:gridCol w="462376">
                  <a:extLst>
                    <a:ext uri="{9D8B030D-6E8A-4147-A177-3AD203B41FA5}">
                      <a16:colId xmlns:a16="http://schemas.microsoft.com/office/drawing/2014/main" val="2222529148"/>
                    </a:ext>
                  </a:extLst>
                </a:gridCol>
                <a:gridCol w="1162878">
                  <a:extLst>
                    <a:ext uri="{9D8B030D-6E8A-4147-A177-3AD203B41FA5}">
                      <a16:colId xmlns:a16="http://schemas.microsoft.com/office/drawing/2014/main" val="696417653"/>
                    </a:ext>
                  </a:extLst>
                </a:gridCol>
                <a:gridCol w="536713">
                  <a:extLst>
                    <a:ext uri="{9D8B030D-6E8A-4147-A177-3AD203B41FA5}">
                      <a16:colId xmlns:a16="http://schemas.microsoft.com/office/drawing/2014/main" val="2104224396"/>
                    </a:ext>
                  </a:extLst>
                </a:gridCol>
                <a:gridCol w="536713">
                  <a:extLst>
                    <a:ext uri="{9D8B030D-6E8A-4147-A177-3AD203B41FA5}">
                      <a16:colId xmlns:a16="http://schemas.microsoft.com/office/drawing/2014/main" val="2358871760"/>
                    </a:ext>
                  </a:extLst>
                </a:gridCol>
                <a:gridCol w="536713">
                  <a:extLst>
                    <a:ext uri="{9D8B030D-6E8A-4147-A177-3AD203B41FA5}">
                      <a16:colId xmlns:a16="http://schemas.microsoft.com/office/drawing/2014/main" val="2414643683"/>
                    </a:ext>
                  </a:extLst>
                </a:gridCol>
                <a:gridCol w="536713">
                  <a:extLst>
                    <a:ext uri="{9D8B030D-6E8A-4147-A177-3AD203B41FA5}">
                      <a16:colId xmlns:a16="http://schemas.microsoft.com/office/drawing/2014/main" val="3697222798"/>
                    </a:ext>
                  </a:extLst>
                </a:gridCol>
                <a:gridCol w="793888">
                  <a:extLst>
                    <a:ext uri="{9D8B030D-6E8A-4147-A177-3AD203B41FA5}">
                      <a16:colId xmlns:a16="http://schemas.microsoft.com/office/drawing/2014/main" val="4196074111"/>
                    </a:ext>
                  </a:extLst>
                </a:gridCol>
                <a:gridCol w="536713">
                  <a:extLst>
                    <a:ext uri="{9D8B030D-6E8A-4147-A177-3AD203B41FA5}">
                      <a16:colId xmlns:a16="http://schemas.microsoft.com/office/drawing/2014/main" val="1291505038"/>
                    </a:ext>
                  </a:extLst>
                </a:gridCol>
                <a:gridCol w="1088543">
                  <a:extLst>
                    <a:ext uri="{9D8B030D-6E8A-4147-A177-3AD203B41FA5}">
                      <a16:colId xmlns:a16="http://schemas.microsoft.com/office/drawing/2014/main" val="564405330"/>
                    </a:ext>
                  </a:extLst>
                </a:gridCol>
                <a:gridCol w="1123950">
                  <a:extLst>
                    <a:ext uri="{9D8B030D-6E8A-4147-A177-3AD203B41FA5}">
                      <a16:colId xmlns:a16="http://schemas.microsoft.com/office/drawing/2014/main" val="1147867257"/>
                    </a:ext>
                  </a:extLst>
                </a:gridCol>
                <a:gridCol w="1090612">
                  <a:extLst>
                    <a:ext uri="{9D8B030D-6E8A-4147-A177-3AD203B41FA5}">
                      <a16:colId xmlns:a16="http://schemas.microsoft.com/office/drawing/2014/main" val="877913185"/>
                    </a:ext>
                  </a:extLst>
                </a:gridCol>
              </a:tblGrid>
              <a:tr h="207692">
                <a:tc>
                  <a:txBody>
                    <a:bodyPr/>
                    <a:lstStyle/>
                    <a:p>
                      <a:pPr algn="ctr" fontAlgn="ctr">
                        <a:buNone/>
                      </a:pPr>
                      <a:r>
                        <a:rPr lang="en-IN" sz="1200" b="1" i="0" u="none" strike="noStrike" dirty="0">
                          <a:solidFill>
                            <a:srgbClr val="000000"/>
                          </a:solidFill>
                          <a:effectLst/>
                          <a:latin typeface="Times New Roman" panose="02020603050405020304" pitchFamily="18" charset="0"/>
                          <a:cs typeface="Times New Roman" panose="02020603050405020304" pitchFamily="18" charset="0"/>
                        </a:rPr>
                        <a:t>Year</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IN" sz="1200" b="1" i="0" u="none" strike="noStrike" dirty="0">
                          <a:solidFill>
                            <a:srgbClr val="000000"/>
                          </a:solidFill>
                          <a:effectLst/>
                          <a:latin typeface="Times New Roman" panose="02020603050405020304" pitchFamily="18" charset="0"/>
                          <a:cs typeface="Times New Roman" panose="02020603050405020304" pitchFamily="18" charset="0"/>
                        </a:rPr>
                        <a:t>City</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IN" sz="1200" b="1" i="0" u="none" strike="noStrike" dirty="0">
                          <a:solidFill>
                            <a:srgbClr val="000000"/>
                          </a:solidFill>
                          <a:effectLst/>
                          <a:latin typeface="Times New Roman" panose="02020603050405020304" pitchFamily="18" charset="0"/>
                          <a:cs typeface="Times New Roman" panose="02020603050405020304" pitchFamily="18" charset="0"/>
                        </a:rPr>
                        <a:t>Pm2.5</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IN" sz="1200" b="1" i="0" u="none" strike="noStrike" dirty="0">
                          <a:solidFill>
                            <a:srgbClr val="000000"/>
                          </a:solidFill>
                          <a:effectLst/>
                          <a:latin typeface="Times New Roman" panose="02020603050405020304" pitchFamily="18" charset="0"/>
                          <a:cs typeface="Times New Roman" panose="02020603050405020304" pitchFamily="18" charset="0"/>
                        </a:rPr>
                        <a:t>Pm10</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IN" sz="1200" b="1" i="0" u="none" strike="noStrike" dirty="0">
                          <a:solidFill>
                            <a:srgbClr val="000000"/>
                          </a:solidFill>
                          <a:effectLst/>
                          <a:latin typeface="Times New Roman" panose="02020603050405020304" pitchFamily="18" charset="0"/>
                          <a:cs typeface="Times New Roman" panose="02020603050405020304" pitchFamily="18" charset="0"/>
                        </a:rPr>
                        <a:t>No2</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IN" sz="1200" b="1" i="0" u="none" strike="noStrike" dirty="0">
                          <a:solidFill>
                            <a:srgbClr val="000000"/>
                          </a:solidFill>
                          <a:effectLst/>
                          <a:latin typeface="Times New Roman" panose="02020603050405020304" pitchFamily="18" charset="0"/>
                          <a:cs typeface="Times New Roman" panose="02020603050405020304" pitchFamily="18" charset="0"/>
                        </a:rPr>
                        <a:t>So2</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IN" sz="1200" b="1" i="0" u="none" strike="noStrike" dirty="0">
                          <a:solidFill>
                            <a:srgbClr val="000000"/>
                          </a:solidFill>
                          <a:effectLst/>
                          <a:latin typeface="Times New Roman" panose="02020603050405020304" pitchFamily="18" charset="0"/>
                          <a:cs typeface="Times New Roman" panose="02020603050405020304" pitchFamily="18" charset="0"/>
                        </a:rPr>
                        <a:t>Population</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IN" sz="1200" b="1" i="0" u="none" strike="noStrike" dirty="0">
                          <a:solidFill>
                            <a:srgbClr val="000000"/>
                          </a:solidFill>
                          <a:effectLst/>
                          <a:latin typeface="Times New Roman" panose="02020603050405020304" pitchFamily="18" charset="0"/>
                          <a:cs typeface="Times New Roman" panose="02020603050405020304" pitchFamily="18" charset="0"/>
                        </a:rPr>
                        <a:t>Area</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IN" sz="1200" b="1" i="0" u="none" strike="noStrike" dirty="0" err="1">
                          <a:solidFill>
                            <a:srgbClr val="000000"/>
                          </a:solidFill>
                          <a:effectLst/>
                          <a:latin typeface="Times New Roman" panose="02020603050405020304" pitchFamily="18" charset="0"/>
                          <a:cs typeface="Times New Roman" panose="02020603050405020304" pitchFamily="18" charset="0"/>
                        </a:rPr>
                        <a:t>Bpl_population</a:t>
                      </a:r>
                      <a:endParaRPr lang="en-IN"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IN" sz="1200" b="1" i="0" u="none" strike="noStrike" dirty="0" err="1">
                          <a:solidFill>
                            <a:srgbClr val="000000"/>
                          </a:solidFill>
                          <a:effectLst/>
                          <a:latin typeface="Times New Roman" panose="02020603050405020304" pitchFamily="18" charset="0"/>
                          <a:cs typeface="Times New Roman" panose="02020603050405020304" pitchFamily="18" charset="0"/>
                        </a:rPr>
                        <a:t>Infant_mortality_rate</a:t>
                      </a:r>
                      <a:endParaRPr lang="en-IN"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IN" sz="1200" b="1" i="0" u="none" strike="noStrike" dirty="0" err="1">
                          <a:solidFill>
                            <a:srgbClr val="000000"/>
                          </a:solidFill>
                          <a:effectLst/>
                          <a:latin typeface="Times New Roman" panose="02020603050405020304" pitchFamily="18" charset="0"/>
                          <a:cs typeface="Times New Roman" panose="02020603050405020304" pitchFamily="18" charset="0"/>
                        </a:rPr>
                        <a:t>Life_expectancy</a:t>
                      </a:r>
                      <a:endParaRPr lang="en-IN"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6259441"/>
                  </a:ext>
                </a:extLst>
              </a:tr>
              <a:tr h="207692">
                <a:tc>
                  <a:txBody>
                    <a:bodyPr/>
                    <a:lstStyle/>
                    <a:p>
                      <a:pPr algn="ctr" fontAlgn="ctr">
                        <a:buNone/>
                      </a:pPr>
                      <a:r>
                        <a:rPr lang="en-IN" sz="1200" b="0" i="0" u="none" strike="noStrike">
                          <a:solidFill>
                            <a:srgbClr val="000000"/>
                          </a:solidFill>
                          <a:effectLst/>
                          <a:latin typeface="Times New Roman" panose="02020603050405020304" pitchFamily="18" charset="0"/>
                          <a:cs typeface="Times New Roman" panose="02020603050405020304" pitchFamily="18" charset="0"/>
                        </a:rPr>
                        <a:t>2019</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cs typeface="Times New Roman" panose="02020603050405020304" pitchFamily="18" charset="0"/>
                        </a:rPr>
                        <a:t>Chennai</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cs typeface="Times New Roman" panose="02020603050405020304" pitchFamily="18" charset="0"/>
                        </a:rPr>
                        <a:t>34.6</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cs typeface="Times New Roman" panose="02020603050405020304" pitchFamily="18" charset="0"/>
                        </a:rPr>
                        <a:t>82.15</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cs typeface="Times New Roman" panose="02020603050405020304" pitchFamily="18" charset="0"/>
                        </a:rPr>
                        <a:t>15.25</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cs typeface="Times New Roman" panose="02020603050405020304" pitchFamily="18" charset="0"/>
                        </a:rPr>
                        <a:t>7.17</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cs typeface="Times New Roman" panose="02020603050405020304" pitchFamily="18" charset="0"/>
                        </a:rPr>
                        <a:t>10711000</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cs typeface="Times New Roman" panose="02020603050405020304" pitchFamily="18" charset="0"/>
                        </a:rPr>
                        <a:t>1189</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cs typeface="Times New Roman" panose="02020603050405020304" pitchFamily="18" charset="0"/>
                        </a:rPr>
                        <a:t>2.2</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cs typeface="Times New Roman" panose="02020603050405020304" pitchFamily="18" charset="0"/>
                        </a:rPr>
                        <a:t>15</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cs typeface="Times New Roman" panose="02020603050405020304" pitchFamily="18" charset="0"/>
                        </a:rPr>
                        <a:t>73</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3923313777"/>
                  </a:ext>
                </a:extLst>
              </a:tr>
              <a:tr h="207692">
                <a:tc>
                  <a:txBody>
                    <a:bodyPr/>
                    <a:lstStyle/>
                    <a:p>
                      <a:pPr algn="ctr" fontAlgn="ctr">
                        <a:buNone/>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2020</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fontAlgn="ctr">
                        <a:buNone/>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Bangalore</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cs typeface="Times New Roman" panose="02020603050405020304" pitchFamily="18" charset="0"/>
                        </a:rPr>
                        <a:t>30.36</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cs typeface="Times New Roman" panose="02020603050405020304" pitchFamily="18" charset="0"/>
                        </a:rPr>
                        <a:t>72.3</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cs typeface="Times New Roman" panose="02020603050405020304" pitchFamily="18" charset="0"/>
                        </a:rPr>
                        <a:t>22.42</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cs typeface="Times New Roman" panose="02020603050405020304" pitchFamily="18" charset="0"/>
                        </a:rPr>
                        <a:t>3.12</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cs typeface="Times New Roman" panose="02020603050405020304" pitchFamily="18" charset="0"/>
                        </a:rPr>
                        <a:t>12327000</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cs typeface="Times New Roman" panose="02020603050405020304" pitchFamily="18" charset="0"/>
                        </a:rPr>
                        <a:t>8005</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cs typeface="Times New Roman" panose="02020603050405020304" pitchFamily="18" charset="0"/>
                        </a:rPr>
                        <a:t>7.58</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cs typeface="Times New Roman" panose="02020603050405020304" pitchFamily="18" charset="0"/>
                        </a:rPr>
                        <a:t>19</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fontAlgn="ctr">
                        <a:buNone/>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69.6</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1611401182"/>
                  </a:ext>
                </a:extLst>
              </a:tr>
              <a:tr h="207692">
                <a:tc>
                  <a:txBody>
                    <a:bodyPr/>
                    <a:lstStyle/>
                    <a:p>
                      <a:pPr algn="ctr" fontAlgn="ctr">
                        <a:buNone/>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2021</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fontAlgn="ctr">
                        <a:buNone/>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Mumbai</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cs typeface="Times New Roman" panose="02020603050405020304" pitchFamily="18" charset="0"/>
                        </a:rPr>
                        <a:t>36.45</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cs typeface="Times New Roman" panose="02020603050405020304" pitchFamily="18" charset="0"/>
                        </a:rPr>
                        <a:t>127.11</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fontAlgn="ctr">
                        <a:buNone/>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27.2</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cs typeface="Times New Roman" panose="02020603050405020304" pitchFamily="18" charset="0"/>
                        </a:rPr>
                        <a:t>9.71</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fontAlgn="ctr">
                        <a:buNone/>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20668000</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cs typeface="Times New Roman" panose="02020603050405020304" pitchFamily="18" charset="0"/>
                        </a:rPr>
                        <a:t>6328</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fontAlgn="ctr">
                        <a:buNone/>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7.81</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fontAlgn="ctr">
                        <a:buNone/>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15</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fontAlgn="ctr">
                        <a:buNone/>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72.5</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629275623"/>
                  </a:ext>
                </a:extLst>
              </a:tr>
              <a:tr h="207692">
                <a:tc>
                  <a:txBody>
                    <a:bodyPr/>
                    <a:lstStyle/>
                    <a:p>
                      <a:pPr algn="ctr" fontAlgn="ctr">
                        <a:buNone/>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2022</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cs typeface="Times New Roman" panose="02020603050405020304" pitchFamily="18" charset="0"/>
                        </a:rPr>
                        <a:t>Delhi</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cs typeface="Times New Roman" panose="02020603050405020304" pitchFamily="18" charset="0"/>
                        </a:rPr>
                        <a:t>114.24</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cs typeface="Times New Roman" panose="02020603050405020304" pitchFamily="18" charset="0"/>
                        </a:rPr>
                        <a:t>230.63</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cs typeface="Times New Roman" panose="02020603050405020304" pitchFamily="18" charset="0"/>
                        </a:rPr>
                        <a:t>44.38</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cs typeface="Times New Roman" panose="02020603050405020304" pitchFamily="18" charset="0"/>
                        </a:rPr>
                        <a:t>15.48</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fontAlgn="ctr">
                        <a:buNone/>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32066000</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cs typeface="Times New Roman" panose="02020603050405020304" pitchFamily="18" charset="0"/>
                        </a:rPr>
                        <a:t>1483</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fontAlgn="ctr">
                        <a:buNone/>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2.97</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fontAlgn="ctr">
                        <a:buNone/>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12</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fontAlgn="ctr">
                        <a:buNone/>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74.6</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1409508381"/>
                  </a:ext>
                </a:extLst>
              </a:tr>
              <a:tr h="207692">
                <a:tc>
                  <a:txBody>
                    <a:bodyPr/>
                    <a:lstStyle/>
                    <a:p>
                      <a:pPr algn="ctr" fontAlgn="ctr">
                        <a:buNone/>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2023</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cs typeface="Times New Roman" panose="02020603050405020304" pitchFamily="18" charset="0"/>
                        </a:rPr>
                        <a:t>Kolkata</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cs typeface="Times New Roman" panose="02020603050405020304" pitchFamily="18" charset="0"/>
                        </a:rPr>
                        <a:t>44.17</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cs typeface="Times New Roman" panose="02020603050405020304" pitchFamily="18" charset="0"/>
                        </a:rPr>
                        <a:t>97.4</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cs typeface="Times New Roman" panose="02020603050405020304" pitchFamily="18" charset="0"/>
                        </a:rPr>
                        <a:t>15.46</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cs typeface="Times New Roman" panose="02020603050405020304" pitchFamily="18" charset="0"/>
                        </a:rPr>
                        <a:t>15.77</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cs typeface="Times New Roman" panose="02020603050405020304" pitchFamily="18" charset="0"/>
                        </a:rPr>
                        <a:t>15333000</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cs typeface="Times New Roman" panose="02020603050405020304" pitchFamily="18" charset="0"/>
                        </a:rPr>
                        <a:t>1876</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cs typeface="Times New Roman" panose="02020603050405020304" pitchFamily="18" charset="0"/>
                        </a:rPr>
                        <a:t>8.6</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ctr" fontAlgn="ctr">
                        <a:buNone/>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17</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ctr" fontAlgn="ctr">
                        <a:buNone/>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72.1</a:t>
                      </a:r>
                    </a:p>
                  </a:txBody>
                  <a:tcPr marL="6709" marR="6709" marT="67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3696414"/>
                  </a:ext>
                </a:extLst>
              </a:tr>
            </a:tbl>
          </a:graphicData>
        </a:graphic>
      </p:graphicFrame>
      <p:graphicFrame>
        <p:nvGraphicFramePr>
          <p:cNvPr id="3" name="Table 2">
            <a:extLst>
              <a:ext uri="{FF2B5EF4-FFF2-40B4-BE49-F238E27FC236}">
                <a16:creationId xmlns:a16="http://schemas.microsoft.com/office/drawing/2014/main" id="{60ECD803-279D-CF15-4EF6-71A557ED02AE}"/>
              </a:ext>
            </a:extLst>
          </p:cNvPr>
          <p:cNvGraphicFramePr>
            <a:graphicFrameLocks noGrp="1"/>
          </p:cNvGraphicFramePr>
          <p:nvPr>
            <p:extLst>
              <p:ext uri="{D42A27DB-BD31-4B8C-83A1-F6EECF244321}">
                <p14:modId xmlns:p14="http://schemas.microsoft.com/office/powerpoint/2010/main" val="3043433631"/>
              </p:ext>
            </p:extLst>
          </p:nvPr>
        </p:nvGraphicFramePr>
        <p:xfrm>
          <a:off x="369094" y="3429000"/>
          <a:ext cx="4191000" cy="2743200"/>
        </p:xfrm>
        <a:graphic>
          <a:graphicData uri="http://schemas.openxmlformats.org/drawingml/2006/table">
            <a:tbl>
              <a:tblPr/>
              <a:tblGrid>
                <a:gridCol w="1452563">
                  <a:extLst>
                    <a:ext uri="{9D8B030D-6E8A-4147-A177-3AD203B41FA5}">
                      <a16:colId xmlns:a16="http://schemas.microsoft.com/office/drawing/2014/main" val="1826304571"/>
                    </a:ext>
                  </a:extLst>
                </a:gridCol>
                <a:gridCol w="2738437">
                  <a:extLst>
                    <a:ext uri="{9D8B030D-6E8A-4147-A177-3AD203B41FA5}">
                      <a16:colId xmlns:a16="http://schemas.microsoft.com/office/drawing/2014/main" val="1427488311"/>
                    </a:ext>
                  </a:extLst>
                </a:gridCol>
              </a:tblGrid>
              <a:tr h="0">
                <a:tc>
                  <a:txBody>
                    <a:bodyPr/>
                    <a:lstStyle/>
                    <a:p>
                      <a:pPr rtl="0">
                        <a:buNone/>
                      </a:pPr>
                      <a:r>
                        <a:rPr lang="en-IN" sz="1200" b="1">
                          <a:solidFill>
                            <a:srgbClr val="1B1C1D"/>
                          </a:solidFill>
                          <a:effectLst/>
                          <a:latin typeface="Times New Roman" panose="02020603050405020304" pitchFamily="18" charset="0"/>
                          <a:cs typeface="Times New Roman" panose="02020603050405020304" pitchFamily="18" charset="0"/>
                        </a:rPr>
                        <a:t>Metric</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IN" sz="1200" b="1" dirty="0">
                          <a:solidFill>
                            <a:srgbClr val="1B1C1D"/>
                          </a:solidFill>
                          <a:effectLst/>
                          <a:latin typeface="Times New Roman" panose="02020603050405020304" pitchFamily="18" charset="0"/>
                          <a:cs typeface="Times New Roman" panose="02020603050405020304" pitchFamily="18" charset="0"/>
                        </a:rPr>
                        <a:t>Value</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47596"/>
                  </a:ext>
                </a:extLst>
              </a:tr>
              <a:tr h="0">
                <a:tc>
                  <a:txBody>
                    <a:bodyPr/>
                    <a:lstStyle/>
                    <a:p>
                      <a:pPr rtl="0">
                        <a:buNone/>
                      </a:pPr>
                      <a:r>
                        <a:rPr lang="en-IN" sz="1200" b="1">
                          <a:solidFill>
                            <a:srgbClr val="1B1C1D"/>
                          </a:solidFill>
                          <a:effectLst/>
                          <a:latin typeface="Times New Roman" panose="02020603050405020304" pitchFamily="18" charset="0"/>
                          <a:cs typeface="Times New Roman" panose="02020603050405020304" pitchFamily="18" charset="0"/>
                        </a:rPr>
                        <a:t>Total Observations (Rows)</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IN" sz="1200" b="0" dirty="0">
                          <a:solidFill>
                            <a:srgbClr val="1B1C1D"/>
                          </a:solidFill>
                          <a:effectLst/>
                          <a:latin typeface="Times New Roman" panose="02020603050405020304" pitchFamily="18" charset="0"/>
                          <a:cs typeface="Times New Roman" panose="02020603050405020304" pitchFamily="18" charset="0"/>
                        </a:rPr>
                        <a:t>25 (5 cities * 5 years)</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9332943"/>
                  </a:ext>
                </a:extLst>
              </a:tr>
              <a:tr h="0">
                <a:tc>
                  <a:txBody>
                    <a:bodyPr/>
                    <a:lstStyle/>
                    <a:p>
                      <a:pPr rtl="0">
                        <a:buNone/>
                      </a:pPr>
                      <a:r>
                        <a:rPr lang="en-IN" sz="1200" b="1" dirty="0">
                          <a:solidFill>
                            <a:srgbClr val="1B1C1D"/>
                          </a:solidFill>
                          <a:effectLst/>
                          <a:latin typeface="Times New Roman" panose="02020603050405020304" pitchFamily="18" charset="0"/>
                          <a:cs typeface="Times New Roman" panose="02020603050405020304" pitchFamily="18" charset="0"/>
                        </a:rPr>
                        <a:t>Total Features (Columns)</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IN" sz="1200" b="0">
                          <a:solidFill>
                            <a:srgbClr val="1B1C1D"/>
                          </a:solidFill>
                          <a:effectLst/>
                          <a:latin typeface="Times New Roman" panose="02020603050405020304" pitchFamily="18" charset="0"/>
                          <a:cs typeface="Times New Roman" panose="02020603050405020304" pitchFamily="18" charset="0"/>
                        </a:rPr>
                        <a:t>11</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620486"/>
                  </a:ext>
                </a:extLst>
              </a:tr>
              <a:tr h="0">
                <a:tc>
                  <a:txBody>
                    <a:bodyPr/>
                    <a:lstStyle/>
                    <a:p>
                      <a:pPr rtl="0">
                        <a:buNone/>
                      </a:pPr>
                      <a:r>
                        <a:rPr lang="en-IN" sz="1200" b="1">
                          <a:solidFill>
                            <a:srgbClr val="1B1C1D"/>
                          </a:solidFill>
                          <a:effectLst/>
                          <a:latin typeface="Times New Roman" panose="02020603050405020304" pitchFamily="18" charset="0"/>
                          <a:cs typeface="Times New Roman" panose="02020603050405020304" pitchFamily="18" charset="0"/>
                        </a:rPr>
                        <a:t>Time Period</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IN" sz="1200" b="0">
                          <a:solidFill>
                            <a:srgbClr val="1B1C1D"/>
                          </a:solidFill>
                          <a:effectLst/>
                          <a:latin typeface="Times New Roman" panose="02020603050405020304" pitchFamily="18" charset="0"/>
                          <a:cs typeface="Times New Roman" panose="02020603050405020304" pitchFamily="18" charset="0"/>
                        </a:rPr>
                        <a:t>2019 - 2023 (5 years)</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63117393"/>
                  </a:ext>
                </a:extLst>
              </a:tr>
              <a:tr h="0">
                <a:tc>
                  <a:txBody>
                    <a:bodyPr/>
                    <a:lstStyle/>
                    <a:p>
                      <a:pPr rtl="0">
                        <a:buNone/>
                      </a:pPr>
                      <a:r>
                        <a:rPr lang="en-IN" sz="1200" b="1">
                          <a:solidFill>
                            <a:srgbClr val="1B1C1D"/>
                          </a:solidFill>
                          <a:effectLst/>
                          <a:latin typeface="Times New Roman" panose="02020603050405020304" pitchFamily="18" charset="0"/>
                          <a:cs typeface="Times New Roman" panose="02020603050405020304" pitchFamily="18" charset="0"/>
                        </a:rPr>
                        <a:t>Geographical Scope</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IN" sz="1200" b="0">
                          <a:solidFill>
                            <a:srgbClr val="1B1C1D"/>
                          </a:solidFill>
                          <a:effectLst/>
                          <a:latin typeface="Times New Roman" panose="02020603050405020304" pitchFamily="18" charset="0"/>
                          <a:cs typeface="Times New Roman" panose="02020603050405020304" pitchFamily="18" charset="0"/>
                        </a:rPr>
                        <a:t>5 Major Indian Cities: Chennai, Bangalore, Mumbai, Delhi, Kolkata</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31950698"/>
                  </a:ext>
                </a:extLst>
              </a:tr>
              <a:tr h="0">
                <a:tc>
                  <a:txBody>
                    <a:bodyPr/>
                    <a:lstStyle/>
                    <a:p>
                      <a:pPr rtl="0">
                        <a:buNone/>
                      </a:pPr>
                      <a:r>
                        <a:rPr lang="en-IN" sz="1200" b="1" dirty="0">
                          <a:solidFill>
                            <a:srgbClr val="1B1C1D"/>
                          </a:solidFill>
                          <a:effectLst/>
                          <a:latin typeface="Times New Roman" panose="02020603050405020304" pitchFamily="18" charset="0"/>
                          <a:cs typeface="Times New Roman" panose="02020603050405020304" pitchFamily="18" charset="0"/>
                        </a:rPr>
                        <a:t>Variable Groups</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200" b="0" dirty="0">
                          <a:solidFill>
                            <a:srgbClr val="1B1C1D"/>
                          </a:solidFill>
                          <a:effectLst/>
                          <a:latin typeface="Times New Roman" panose="02020603050405020304" pitchFamily="18" charset="0"/>
                          <a:cs typeface="Times New Roman" panose="02020603050405020304" pitchFamily="18" charset="0"/>
                        </a:rPr>
                        <a:t>Air Quality (PM2.5, NO2, SO2, PM10), Demographics (Population, Area, BPL), Health (IMR, Life Expectancy)</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8032583"/>
                  </a:ext>
                </a:extLst>
              </a:tr>
            </a:tbl>
          </a:graphicData>
        </a:graphic>
      </p:graphicFrame>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B4E74BF3-44E8-703E-838A-D276BEFAEA53}"/>
                  </a:ext>
                </a:extLst>
              </p:cNvPr>
              <p:cNvGraphicFramePr>
                <a:graphicFrameLocks noGrp="1"/>
              </p:cNvGraphicFramePr>
              <p:nvPr>
                <p:extLst>
                  <p:ext uri="{D42A27DB-BD31-4B8C-83A1-F6EECF244321}">
                    <p14:modId xmlns:p14="http://schemas.microsoft.com/office/powerpoint/2010/main" val="1390278989"/>
                  </p:ext>
                </p:extLst>
              </p:nvPr>
            </p:nvGraphicFramePr>
            <p:xfrm>
              <a:off x="5374481" y="3276600"/>
              <a:ext cx="3400425" cy="3048000"/>
            </p:xfrm>
            <a:graphic>
              <a:graphicData uri="http://schemas.openxmlformats.org/drawingml/2006/table">
                <a:tbl>
                  <a:tblPr/>
                  <a:tblGrid>
                    <a:gridCol w="1645920">
                      <a:extLst>
                        <a:ext uri="{9D8B030D-6E8A-4147-A177-3AD203B41FA5}">
                          <a16:colId xmlns:a16="http://schemas.microsoft.com/office/drawing/2014/main" val="367749022"/>
                        </a:ext>
                      </a:extLst>
                    </a:gridCol>
                    <a:gridCol w="1754505">
                      <a:extLst>
                        <a:ext uri="{9D8B030D-6E8A-4147-A177-3AD203B41FA5}">
                          <a16:colId xmlns:a16="http://schemas.microsoft.com/office/drawing/2014/main" val="3507471054"/>
                        </a:ext>
                      </a:extLst>
                    </a:gridCol>
                  </a:tblGrid>
                  <a:tr h="304800">
                    <a:tc>
                      <a:txBody>
                        <a:bodyPr/>
                        <a:lstStyle/>
                        <a:p>
                          <a:pPr rtl="0">
                            <a:buNone/>
                          </a:pPr>
                          <a:r>
                            <a:rPr lang="en-IN" sz="1200" b="1" dirty="0">
                              <a:solidFill>
                                <a:srgbClr val="1B1C1D"/>
                              </a:solidFill>
                              <a:effectLst/>
                              <a:latin typeface="Times New Roman" panose="02020603050405020304" pitchFamily="18" charset="0"/>
                              <a:cs typeface="Times New Roman" panose="02020603050405020304" pitchFamily="18" charset="0"/>
                            </a:rPr>
                            <a:t>Variable</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IN" sz="1200" b="1" dirty="0">
                              <a:solidFill>
                                <a:srgbClr val="1B1C1D"/>
                              </a:solidFill>
                              <a:effectLst/>
                              <a:latin typeface="Times New Roman" panose="02020603050405020304" pitchFamily="18" charset="0"/>
                              <a:cs typeface="Times New Roman" panose="02020603050405020304" pitchFamily="18" charset="0"/>
                            </a:rPr>
                            <a:t>Unit</a:t>
                          </a:r>
                          <a:endParaRPr lang="en-IN" sz="1200" dirty="0">
                            <a:solidFill>
                              <a:srgbClr val="1B1C1D"/>
                            </a:solidFill>
                            <a:effectLst/>
                            <a:latin typeface="Times New Roman" panose="02020603050405020304" pitchFamily="18" charset="0"/>
                            <a:cs typeface="Times New Roman" panose="02020603050405020304" pitchFamily="18" charset="0"/>
                          </a:endParaRP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5353931"/>
                      </a:ext>
                    </a:extLst>
                  </a:tr>
                  <a:tr h="304800">
                    <a:tc>
                      <a:txBody>
                        <a:bodyPr/>
                        <a:lstStyle/>
                        <a:p>
                          <a:pPr rtl="0">
                            <a:buNone/>
                          </a:pPr>
                          <a:r>
                            <a:rPr lang="en-IN" sz="1200" b="1" dirty="0">
                              <a:solidFill>
                                <a:srgbClr val="1B1C1D"/>
                              </a:solidFill>
                              <a:effectLst/>
                              <a:latin typeface="Times New Roman" panose="02020603050405020304" pitchFamily="18" charset="0"/>
                              <a:cs typeface="Times New Roman" panose="02020603050405020304" pitchFamily="18" charset="0"/>
                            </a:rPr>
                            <a:t>PM 2.5</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14:m>
                            <m:oMathPara xmlns:m="http://schemas.openxmlformats.org/officeDocument/2006/math">
                              <m:oMathParaPr>
                                <m:jc m:val="left"/>
                              </m:oMathParaPr>
                              <m:oMath xmlns:m="http://schemas.openxmlformats.org/officeDocument/2006/math">
                                <m:r>
                                  <a:rPr lang="de-DE" sz="1200" i="1" smtClean="0">
                                    <a:solidFill>
                                      <a:srgbClr val="1B1C1D"/>
                                    </a:solidFill>
                                    <a:effectLst/>
                                    <a:latin typeface="Cambria Math" panose="02040503050406030204" pitchFamily="18" charset="0"/>
                                    <a:ea typeface="Cambria Math" panose="02040503050406030204" pitchFamily="18" charset="0"/>
                                    <a:cs typeface="Times New Roman" panose="02020603050405020304" pitchFamily="18" charset="0"/>
                                  </a:rPr>
                                  <m:t>𝜇</m:t>
                                </m:r>
                                <m:r>
                                  <a:rPr lang="en-US" sz="1200" b="0" i="1" smtClean="0">
                                    <a:solidFill>
                                      <a:srgbClr val="1B1C1D"/>
                                    </a:solidFill>
                                    <a:effectLst/>
                                    <a:latin typeface="Cambria Math" panose="02040503050406030204" pitchFamily="18" charset="0"/>
                                    <a:ea typeface="Cambria Math" panose="02040503050406030204" pitchFamily="18" charset="0"/>
                                    <a:cs typeface="Times New Roman" panose="02020603050405020304" pitchFamily="18" charset="0"/>
                                  </a:rPr>
                                  <m:t>𝑔</m:t>
                                </m:r>
                                <m:r>
                                  <a:rPr lang="en-US" sz="1200" b="0" i="1" smtClean="0">
                                    <a:solidFill>
                                      <a:srgbClr val="1B1C1D"/>
                                    </a:solidFill>
                                    <a:effectLst/>
                                    <a:latin typeface="Cambria Math" panose="02040503050406030204" pitchFamily="18" charset="0"/>
                                    <a:ea typeface="Cambria Math" panose="02040503050406030204" pitchFamily="18" charset="0"/>
                                    <a:cs typeface="Times New Roman" panose="02020603050405020304" pitchFamily="18" charset="0"/>
                                  </a:rPr>
                                  <m:t>/</m:t>
                                </m:r>
                                <m:sSup>
                                  <m:sSupPr>
                                    <m:ctrlPr>
                                      <a:rPr lang="de-DE" sz="1200" i="1" smtClean="0">
                                        <a:solidFill>
                                          <a:srgbClr val="1B1C1D"/>
                                        </a:solidFill>
                                        <a:effectLst/>
                                        <a:latin typeface="Cambria Math" panose="02040503050406030204" pitchFamily="18" charset="0"/>
                                        <a:cs typeface="Times New Roman" panose="02020603050405020304" pitchFamily="18" charset="0"/>
                                      </a:rPr>
                                    </m:ctrlPr>
                                  </m:sSupPr>
                                  <m:e>
                                    <m:r>
                                      <a:rPr lang="en-US" sz="1200" b="0" i="1" smtClean="0">
                                        <a:solidFill>
                                          <a:srgbClr val="1B1C1D"/>
                                        </a:solidFill>
                                        <a:effectLst/>
                                        <a:latin typeface="Cambria Math" panose="02040503050406030204" pitchFamily="18" charset="0"/>
                                        <a:cs typeface="Times New Roman" panose="02020603050405020304" pitchFamily="18" charset="0"/>
                                      </a:rPr>
                                      <m:t>𝑚</m:t>
                                    </m:r>
                                  </m:e>
                                  <m:sup>
                                    <m:r>
                                      <a:rPr lang="en-US" sz="1200" b="0" i="1" smtClean="0">
                                        <a:solidFill>
                                          <a:srgbClr val="1B1C1D"/>
                                        </a:solidFill>
                                        <a:effectLst/>
                                        <a:latin typeface="Cambria Math" panose="02040503050406030204" pitchFamily="18" charset="0"/>
                                        <a:cs typeface="Times New Roman" panose="02020603050405020304" pitchFamily="18" charset="0"/>
                                      </a:rPr>
                                      <m:t>3</m:t>
                                    </m:r>
                                  </m:sup>
                                </m:sSup>
                              </m:oMath>
                            </m:oMathPara>
                          </a14:m>
                          <a:endParaRPr lang="de-DE" sz="1200" dirty="0">
                            <a:solidFill>
                              <a:srgbClr val="1B1C1D"/>
                            </a:solidFill>
                            <a:effectLst/>
                            <a:latin typeface="Times New Roman" panose="02020603050405020304" pitchFamily="18" charset="0"/>
                            <a:cs typeface="Times New Roman" panose="02020603050405020304" pitchFamily="18" charset="0"/>
                          </a:endParaRP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5765785"/>
                      </a:ext>
                    </a:extLst>
                  </a:tr>
                  <a:tr h="304800">
                    <a:tc>
                      <a:txBody>
                        <a:bodyPr/>
                        <a:lstStyle/>
                        <a:p>
                          <a:pPr rtl="0">
                            <a:buNone/>
                          </a:pPr>
                          <a:r>
                            <a:rPr lang="en-US" sz="1200" b="1" dirty="0">
                              <a:solidFill>
                                <a:srgbClr val="1B1C1D"/>
                              </a:solidFill>
                              <a:effectLst/>
                              <a:latin typeface="Times New Roman" panose="02020603050405020304" pitchFamily="18" charset="0"/>
                              <a:cs typeface="Times New Roman" panose="02020603050405020304" pitchFamily="18" charset="0"/>
                            </a:rPr>
                            <a:t>PM 10</a:t>
                          </a:r>
                          <a:endParaRPr lang="en-IN" sz="1200" b="1" dirty="0">
                            <a:solidFill>
                              <a:srgbClr val="1B1C1D"/>
                            </a:solidFill>
                            <a:effectLst/>
                            <a:latin typeface="Times New Roman" panose="02020603050405020304" pitchFamily="18" charset="0"/>
                            <a:cs typeface="Times New Roman" panose="02020603050405020304" pitchFamily="18" charset="0"/>
                          </a:endParaRP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de-DE" sz="1200" i="1" smtClean="0">
                                    <a:solidFill>
                                      <a:srgbClr val="1B1C1D"/>
                                    </a:solidFill>
                                    <a:effectLst/>
                                    <a:latin typeface="Cambria Math" panose="02040503050406030204" pitchFamily="18" charset="0"/>
                                    <a:ea typeface="Cambria Math" panose="02040503050406030204" pitchFamily="18" charset="0"/>
                                    <a:cs typeface="Times New Roman" panose="02020603050405020304" pitchFamily="18" charset="0"/>
                                  </a:rPr>
                                  <m:t>𝜇</m:t>
                                </m:r>
                                <m:r>
                                  <a:rPr lang="en-US" sz="1200" b="0" i="1" smtClean="0">
                                    <a:solidFill>
                                      <a:srgbClr val="1B1C1D"/>
                                    </a:solidFill>
                                    <a:effectLst/>
                                    <a:latin typeface="Cambria Math" panose="02040503050406030204" pitchFamily="18" charset="0"/>
                                    <a:ea typeface="Cambria Math" panose="02040503050406030204" pitchFamily="18" charset="0"/>
                                    <a:cs typeface="Times New Roman" panose="02020603050405020304" pitchFamily="18" charset="0"/>
                                  </a:rPr>
                                  <m:t>𝑔</m:t>
                                </m:r>
                                <m:r>
                                  <a:rPr lang="en-US" sz="1200" b="0" i="1" smtClean="0">
                                    <a:solidFill>
                                      <a:srgbClr val="1B1C1D"/>
                                    </a:solidFill>
                                    <a:effectLst/>
                                    <a:latin typeface="Cambria Math" panose="02040503050406030204" pitchFamily="18" charset="0"/>
                                    <a:ea typeface="Cambria Math" panose="02040503050406030204" pitchFamily="18" charset="0"/>
                                    <a:cs typeface="Times New Roman" panose="02020603050405020304" pitchFamily="18" charset="0"/>
                                  </a:rPr>
                                  <m:t>/</m:t>
                                </m:r>
                                <m:sSup>
                                  <m:sSupPr>
                                    <m:ctrlPr>
                                      <a:rPr lang="de-DE" sz="1200" i="1" smtClean="0">
                                        <a:solidFill>
                                          <a:srgbClr val="1B1C1D"/>
                                        </a:solidFill>
                                        <a:effectLst/>
                                        <a:latin typeface="Cambria Math" panose="02040503050406030204" pitchFamily="18" charset="0"/>
                                        <a:cs typeface="Times New Roman" panose="02020603050405020304" pitchFamily="18" charset="0"/>
                                      </a:rPr>
                                    </m:ctrlPr>
                                  </m:sSupPr>
                                  <m:e>
                                    <m:r>
                                      <a:rPr lang="en-US" sz="1200" b="0" i="1" smtClean="0">
                                        <a:solidFill>
                                          <a:srgbClr val="1B1C1D"/>
                                        </a:solidFill>
                                        <a:effectLst/>
                                        <a:latin typeface="Cambria Math" panose="02040503050406030204" pitchFamily="18" charset="0"/>
                                        <a:cs typeface="Times New Roman" panose="02020603050405020304" pitchFamily="18" charset="0"/>
                                      </a:rPr>
                                      <m:t>𝑚</m:t>
                                    </m:r>
                                  </m:e>
                                  <m:sup>
                                    <m:r>
                                      <a:rPr lang="en-US" sz="1200" b="0" i="1" smtClean="0">
                                        <a:solidFill>
                                          <a:srgbClr val="1B1C1D"/>
                                        </a:solidFill>
                                        <a:effectLst/>
                                        <a:latin typeface="Cambria Math" panose="02040503050406030204" pitchFamily="18" charset="0"/>
                                        <a:cs typeface="Times New Roman" panose="02020603050405020304" pitchFamily="18" charset="0"/>
                                      </a:rPr>
                                      <m:t>3</m:t>
                                    </m:r>
                                  </m:sup>
                                </m:sSup>
                              </m:oMath>
                            </m:oMathPara>
                          </a14:m>
                          <a:endParaRPr lang="de-DE" sz="1200" dirty="0">
                            <a:solidFill>
                              <a:srgbClr val="1B1C1D"/>
                            </a:solidFill>
                            <a:effectLst/>
                            <a:latin typeface="Times New Roman" panose="02020603050405020304" pitchFamily="18" charset="0"/>
                            <a:cs typeface="Times New Roman" panose="02020603050405020304" pitchFamily="18" charset="0"/>
                          </a:endParaRP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00614914"/>
                      </a:ext>
                    </a:extLst>
                  </a:tr>
                  <a:tr h="304800">
                    <a:tc>
                      <a:txBody>
                        <a:bodyPr/>
                        <a:lstStyle/>
                        <a:p>
                          <a:pPr rtl="0">
                            <a:buNone/>
                          </a:pPr>
                          <a:r>
                            <a:rPr lang="en-US" sz="1200" b="1" dirty="0">
                              <a:solidFill>
                                <a:srgbClr val="1B1C1D"/>
                              </a:solidFill>
                              <a:effectLst/>
                              <a:latin typeface="Times New Roman" panose="02020603050405020304" pitchFamily="18" charset="0"/>
                              <a:cs typeface="Times New Roman" panose="02020603050405020304" pitchFamily="18" charset="0"/>
                            </a:rPr>
                            <a:t>NO2</a:t>
                          </a:r>
                          <a:endParaRPr lang="en-IN" sz="1200" b="1" dirty="0">
                            <a:solidFill>
                              <a:srgbClr val="1B1C1D"/>
                            </a:solidFill>
                            <a:effectLst/>
                            <a:latin typeface="Times New Roman" panose="02020603050405020304" pitchFamily="18" charset="0"/>
                            <a:cs typeface="Times New Roman" panose="02020603050405020304" pitchFamily="18" charset="0"/>
                          </a:endParaRP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de-DE" sz="1200" i="1" smtClean="0">
                                    <a:solidFill>
                                      <a:srgbClr val="1B1C1D"/>
                                    </a:solidFill>
                                    <a:effectLst/>
                                    <a:latin typeface="Cambria Math" panose="02040503050406030204" pitchFamily="18" charset="0"/>
                                    <a:ea typeface="Cambria Math" panose="02040503050406030204" pitchFamily="18" charset="0"/>
                                    <a:cs typeface="Times New Roman" panose="02020603050405020304" pitchFamily="18" charset="0"/>
                                  </a:rPr>
                                  <m:t>𝜇</m:t>
                                </m:r>
                                <m:r>
                                  <a:rPr lang="en-US" sz="1200" b="0" i="1" smtClean="0">
                                    <a:solidFill>
                                      <a:srgbClr val="1B1C1D"/>
                                    </a:solidFill>
                                    <a:effectLst/>
                                    <a:latin typeface="Cambria Math" panose="02040503050406030204" pitchFamily="18" charset="0"/>
                                    <a:ea typeface="Cambria Math" panose="02040503050406030204" pitchFamily="18" charset="0"/>
                                    <a:cs typeface="Times New Roman" panose="02020603050405020304" pitchFamily="18" charset="0"/>
                                  </a:rPr>
                                  <m:t>𝑔</m:t>
                                </m:r>
                                <m:r>
                                  <a:rPr lang="en-US" sz="1200" b="0" i="1" smtClean="0">
                                    <a:solidFill>
                                      <a:srgbClr val="1B1C1D"/>
                                    </a:solidFill>
                                    <a:effectLst/>
                                    <a:latin typeface="Cambria Math" panose="02040503050406030204" pitchFamily="18" charset="0"/>
                                    <a:ea typeface="Cambria Math" panose="02040503050406030204" pitchFamily="18" charset="0"/>
                                    <a:cs typeface="Times New Roman" panose="02020603050405020304" pitchFamily="18" charset="0"/>
                                  </a:rPr>
                                  <m:t>/</m:t>
                                </m:r>
                                <m:sSup>
                                  <m:sSupPr>
                                    <m:ctrlPr>
                                      <a:rPr lang="de-DE" sz="1200" i="1" smtClean="0">
                                        <a:solidFill>
                                          <a:srgbClr val="1B1C1D"/>
                                        </a:solidFill>
                                        <a:effectLst/>
                                        <a:latin typeface="Cambria Math" panose="02040503050406030204" pitchFamily="18" charset="0"/>
                                        <a:cs typeface="Times New Roman" panose="02020603050405020304" pitchFamily="18" charset="0"/>
                                      </a:rPr>
                                    </m:ctrlPr>
                                  </m:sSupPr>
                                  <m:e>
                                    <m:r>
                                      <a:rPr lang="en-US" sz="1200" b="0" i="1" smtClean="0">
                                        <a:solidFill>
                                          <a:srgbClr val="1B1C1D"/>
                                        </a:solidFill>
                                        <a:effectLst/>
                                        <a:latin typeface="Cambria Math" panose="02040503050406030204" pitchFamily="18" charset="0"/>
                                        <a:cs typeface="Times New Roman" panose="02020603050405020304" pitchFamily="18" charset="0"/>
                                      </a:rPr>
                                      <m:t>𝑚</m:t>
                                    </m:r>
                                  </m:e>
                                  <m:sup>
                                    <m:r>
                                      <a:rPr lang="en-US" sz="1200" b="0" i="1" smtClean="0">
                                        <a:solidFill>
                                          <a:srgbClr val="1B1C1D"/>
                                        </a:solidFill>
                                        <a:effectLst/>
                                        <a:latin typeface="Cambria Math" panose="02040503050406030204" pitchFamily="18" charset="0"/>
                                        <a:cs typeface="Times New Roman" panose="02020603050405020304" pitchFamily="18" charset="0"/>
                                      </a:rPr>
                                      <m:t>3</m:t>
                                    </m:r>
                                  </m:sup>
                                </m:sSup>
                              </m:oMath>
                            </m:oMathPara>
                          </a14:m>
                          <a:endParaRPr lang="de-DE" sz="1200" dirty="0">
                            <a:solidFill>
                              <a:srgbClr val="1B1C1D"/>
                            </a:solidFill>
                            <a:effectLst/>
                            <a:latin typeface="Times New Roman" panose="02020603050405020304" pitchFamily="18" charset="0"/>
                            <a:cs typeface="Times New Roman" panose="02020603050405020304" pitchFamily="18" charset="0"/>
                          </a:endParaRP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075945"/>
                      </a:ext>
                    </a:extLst>
                  </a:tr>
                  <a:tr h="304800">
                    <a:tc>
                      <a:txBody>
                        <a:bodyPr/>
                        <a:lstStyle/>
                        <a:p>
                          <a:pPr rtl="0">
                            <a:buNone/>
                          </a:pPr>
                          <a:r>
                            <a:rPr lang="en-US" sz="1200" b="1" dirty="0">
                              <a:solidFill>
                                <a:srgbClr val="1B1C1D"/>
                              </a:solidFill>
                              <a:effectLst/>
                              <a:latin typeface="Times New Roman" panose="02020603050405020304" pitchFamily="18" charset="0"/>
                              <a:cs typeface="Times New Roman" panose="02020603050405020304" pitchFamily="18" charset="0"/>
                            </a:rPr>
                            <a:t>SO2</a:t>
                          </a:r>
                          <a:endParaRPr lang="en-IN" sz="1200" b="1" dirty="0">
                            <a:solidFill>
                              <a:srgbClr val="1B1C1D"/>
                            </a:solidFill>
                            <a:effectLst/>
                            <a:latin typeface="Times New Roman" panose="02020603050405020304" pitchFamily="18" charset="0"/>
                            <a:cs typeface="Times New Roman" panose="02020603050405020304" pitchFamily="18" charset="0"/>
                          </a:endParaRP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de-DE" sz="1200" i="1" smtClean="0">
                                    <a:solidFill>
                                      <a:srgbClr val="1B1C1D"/>
                                    </a:solidFill>
                                    <a:effectLst/>
                                    <a:latin typeface="Cambria Math" panose="02040503050406030204" pitchFamily="18" charset="0"/>
                                    <a:ea typeface="Cambria Math" panose="02040503050406030204" pitchFamily="18" charset="0"/>
                                    <a:cs typeface="Times New Roman" panose="02020603050405020304" pitchFamily="18" charset="0"/>
                                  </a:rPr>
                                  <m:t>𝜇</m:t>
                                </m:r>
                                <m:r>
                                  <a:rPr lang="en-US" sz="1200" b="0" i="1" smtClean="0">
                                    <a:solidFill>
                                      <a:srgbClr val="1B1C1D"/>
                                    </a:solidFill>
                                    <a:effectLst/>
                                    <a:latin typeface="Cambria Math" panose="02040503050406030204" pitchFamily="18" charset="0"/>
                                    <a:ea typeface="Cambria Math" panose="02040503050406030204" pitchFamily="18" charset="0"/>
                                    <a:cs typeface="Times New Roman" panose="02020603050405020304" pitchFamily="18" charset="0"/>
                                  </a:rPr>
                                  <m:t>𝑔</m:t>
                                </m:r>
                                <m:r>
                                  <a:rPr lang="en-US" sz="1200" b="0" i="1" smtClean="0">
                                    <a:solidFill>
                                      <a:srgbClr val="1B1C1D"/>
                                    </a:solidFill>
                                    <a:effectLst/>
                                    <a:latin typeface="Cambria Math" panose="02040503050406030204" pitchFamily="18" charset="0"/>
                                    <a:ea typeface="Cambria Math" panose="02040503050406030204" pitchFamily="18" charset="0"/>
                                    <a:cs typeface="Times New Roman" panose="02020603050405020304" pitchFamily="18" charset="0"/>
                                  </a:rPr>
                                  <m:t>/</m:t>
                                </m:r>
                                <m:sSup>
                                  <m:sSupPr>
                                    <m:ctrlPr>
                                      <a:rPr lang="de-DE" sz="1200" i="1" smtClean="0">
                                        <a:solidFill>
                                          <a:srgbClr val="1B1C1D"/>
                                        </a:solidFill>
                                        <a:effectLst/>
                                        <a:latin typeface="Cambria Math" panose="02040503050406030204" pitchFamily="18" charset="0"/>
                                        <a:cs typeface="Times New Roman" panose="02020603050405020304" pitchFamily="18" charset="0"/>
                                      </a:rPr>
                                    </m:ctrlPr>
                                  </m:sSupPr>
                                  <m:e>
                                    <m:r>
                                      <a:rPr lang="en-US" sz="1200" b="0" i="1" smtClean="0">
                                        <a:solidFill>
                                          <a:srgbClr val="1B1C1D"/>
                                        </a:solidFill>
                                        <a:effectLst/>
                                        <a:latin typeface="Cambria Math" panose="02040503050406030204" pitchFamily="18" charset="0"/>
                                        <a:cs typeface="Times New Roman" panose="02020603050405020304" pitchFamily="18" charset="0"/>
                                      </a:rPr>
                                      <m:t>𝑚</m:t>
                                    </m:r>
                                  </m:e>
                                  <m:sup>
                                    <m:r>
                                      <a:rPr lang="en-US" sz="1200" b="0" i="1" smtClean="0">
                                        <a:solidFill>
                                          <a:srgbClr val="1B1C1D"/>
                                        </a:solidFill>
                                        <a:effectLst/>
                                        <a:latin typeface="Cambria Math" panose="02040503050406030204" pitchFamily="18" charset="0"/>
                                        <a:cs typeface="Times New Roman" panose="02020603050405020304" pitchFamily="18" charset="0"/>
                                      </a:rPr>
                                      <m:t>3</m:t>
                                    </m:r>
                                  </m:sup>
                                </m:sSup>
                              </m:oMath>
                            </m:oMathPara>
                          </a14:m>
                          <a:endParaRPr lang="de-DE" sz="1200" dirty="0">
                            <a:solidFill>
                              <a:srgbClr val="1B1C1D"/>
                            </a:solidFill>
                            <a:effectLst/>
                            <a:latin typeface="Times New Roman" panose="02020603050405020304" pitchFamily="18" charset="0"/>
                            <a:cs typeface="Times New Roman" panose="02020603050405020304" pitchFamily="18" charset="0"/>
                          </a:endParaRP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6225738"/>
                      </a:ext>
                    </a:extLst>
                  </a:tr>
                  <a:tr h="304800">
                    <a:tc>
                      <a:txBody>
                        <a:bodyPr/>
                        <a:lstStyle/>
                        <a:p>
                          <a:pPr rtl="0">
                            <a:buNone/>
                          </a:pPr>
                          <a:r>
                            <a:rPr lang="en-IN" sz="1200" b="1" dirty="0">
                              <a:solidFill>
                                <a:srgbClr val="1B1C1D"/>
                              </a:solidFill>
                              <a:effectLst/>
                              <a:latin typeface="Times New Roman" panose="02020603050405020304" pitchFamily="18" charset="0"/>
                              <a:cs typeface="Times New Roman" panose="02020603050405020304" pitchFamily="18" charset="0"/>
                            </a:rPr>
                            <a:t>Population</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IN" sz="1200">
                              <a:solidFill>
                                <a:srgbClr val="1B1C1D"/>
                              </a:solidFill>
                              <a:effectLst/>
                              <a:latin typeface="Times New Roman" panose="02020603050405020304" pitchFamily="18" charset="0"/>
                              <a:cs typeface="Times New Roman" panose="02020603050405020304" pitchFamily="18" charset="0"/>
                            </a:rPr>
                            <a:t>Count</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6252575"/>
                      </a:ext>
                    </a:extLst>
                  </a:tr>
                  <a:tr h="304800">
                    <a:tc>
                      <a:txBody>
                        <a:bodyPr/>
                        <a:lstStyle/>
                        <a:p>
                          <a:pPr rtl="0">
                            <a:buNone/>
                          </a:pPr>
                          <a:r>
                            <a:rPr lang="en-US" sz="1200" b="1" dirty="0">
                              <a:solidFill>
                                <a:srgbClr val="1B1C1D"/>
                              </a:solidFill>
                              <a:effectLst/>
                              <a:latin typeface="Times New Roman" panose="02020603050405020304" pitchFamily="18" charset="0"/>
                              <a:cs typeface="Times New Roman" panose="02020603050405020304" pitchFamily="18" charset="0"/>
                            </a:rPr>
                            <a:t>Area</a:t>
                          </a:r>
                          <a:endParaRPr lang="en-IN" sz="1200" b="1" dirty="0">
                            <a:solidFill>
                              <a:srgbClr val="1B1C1D"/>
                            </a:solidFill>
                            <a:effectLst/>
                            <a:latin typeface="Times New Roman" panose="02020603050405020304" pitchFamily="18" charset="0"/>
                            <a:cs typeface="Times New Roman" panose="02020603050405020304" pitchFamily="18" charset="0"/>
                          </a:endParaRP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200" dirty="0">
                              <a:solidFill>
                                <a:srgbClr val="1B1C1D"/>
                              </a:solidFill>
                              <a:effectLst/>
                              <a:latin typeface="Times New Roman" panose="02020603050405020304" pitchFamily="18" charset="0"/>
                              <a:cs typeface="Times New Roman" panose="02020603050405020304" pitchFamily="18" charset="0"/>
                            </a:rPr>
                            <a:t>sq. km.</a:t>
                          </a:r>
                          <a:endParaRPr lang="en-IN" sz="1200" dirty="0">
                            <a:solidFill>
                              <a:srgbClr val="1B1C1D"/>
                            </a:solidFill>
                            <a:effectLst/>
                            <a:latin typeface="Times New Roman" panose="02020603050405020304" pitchFamily="18" charset="0"/>
                            <a:cs typeface="Times New Roman" panose="02020603050405020304" pitchFamily="18" charset="0"/>
                          </a:endParaRP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68829295"/>
                      </a:ext>
                    </a:extLst>
                  </a:tr>
                  <a:tr h="304800">
                    <a:tc>
                      <a:txBody>
                        <a:bodyPr/>
                        <a:lstStyle/>
                        <a:p>
                          <a:pPr rtl="0">
                            <a:buNone/>
                          </a:pPr>
                          <a:r>
                            <a:rPr lang="en-IN" sz="1200" b="1" dirty="0">
                              <a:solidFill>
                                <a:srgbClr val="1B1C1D"/>
                              </a:solidFill>
                              <a:effectLst/>
                              <a:latin typeface="Times New Roman" panose="02020603050405020304" pitchFamily="18" charset="0"/>
                              <a:cs typeface="Times New Roman" panose="02020603050405020304" pitchFamily="18" charset="0"/>
                            </a:rPr>
                            <a:t>BPL Population</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IN" sz="1200" dirty="0">
                              <a:solidFill>
                                <a:srgbClr val="1B1C1D"/>
                              </a:solidFill>
                              <a:effectLst/>
                              <a:latin typeface="Times New Roman" panose="02020603050405020304" pitchFamily="18" charset="0"/>
                              <a:cs typeface="Times New Roman" panose="02020603050405020304" pitchFamily="18" charset="0"/>
                            </a:rPr>
                            <a:t>%</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63844223"/>
                      </a:ext>
                    </a:extLst>
                  </a:tr>
                  <a:tr h="304800">
                    <a:tc>
                      <a:txBody>
                        <a:bodyPr/>
                        <a:lstStyle/>
                        <a:p>
                          <a:pPr rtl="0">
                            <a:buNone/>
                          </a:pPr>
                          <a:r>
                            <a:rPr lang="en-IN" sz="1200" b="1">
                              <a:solidFill>
                                <a:srgbClr val="1B1C1D"/>
                              </a:solidFill>
                              <a:effectLst/>
                              <a:latin typeface="Times New Roman" panose="02020603050405020304" pitchFamily="18" charset="0"/>
                              <a:cs typeface="Times New Roman" panose="02020603050405020304" pitchFamily="18" charset="0"/>
                            </a:rPr>
                            <a:t>Infant Mortality</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IN" sz="1200" dirty="0">
                              <a:solidFill>
                                <a:srgbClr val="1B1C1D"/>
                              </a:solidFill>
                              <a:effectLst/>
                              <a:latin typeface="Times New Roman" panose="02020603050405020304" pitchFamily="18" charset="0"/>
                              <a:cs typeface="Times New Roman" panose="02020603050405020304" pitchFamily="18" charset="0"/>
                            </a:rPr>
                            <a:t>Rate per 1000 live births</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2472738"/>
                      </a:ext>
                    </a:extLst>
                  </a:tr>
                  <a:tr h="304800">
                    <a:tc>
                      <a:txBody>
                        <a:bodyPr/>
                        <a:lstStyle/>
                        <a:p>
                          <a:pPr rtl="0">
                            <a:buNone/>
                          </a:pPr>
                          <a:r>
                            <a:rPr lang="en-IN" sz="1200" b="1" dirty="0">
                              <a:solidFill>
                                <a:srgbClr val="1B1C1D"/>
                              </a:solidFill>
                              <a:effectLst/>
                              <a:latin typeface="Times New Roman" panose="02020603050405020304" pitchFamily="18" charset="0"/>
                              <a:cs typeface="Times New Roman" panose="02020603050405020304" pitchFamily="18" charset="0"/>
                            </a:rPr>
                            <a:t>Life Expectancy</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IN" sz="1200" dirty="0">
                              <a:solidFill>
                                <a:srgbClr val="1B1C1D"/>
                              </a:solidFill>
                              <a:effectLst/>
                              <a:latin typeface="Times New Roman" panose="02020603050405020304" pitchFamily="18" charset="0"/>
                              <a:cs typeface="Times New Roman" panose="02020603050405020304" pitchFamily="18" charset="0"/>
                            </a:rPr>
                            <a:t>Years</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0479598"/>
                      </a:ext>
                    </a:extLst>
                  </a:tr>
                </a:tbl>
              </a:graphicData>
            </a:graphic>
          </p:graphicFrame>
        </mc:Choice>
        <mc:Fallback xmlns="">
          <p:graphicFrame>
            <p:nvGraphicFramePr>
              <p:cNvPr id="4" name="Table 3">
                <a:extLst>
                  <a:ext uri="{FF2B5EF4-FFF2-40B4-BE49-F238E27FC236}">
                    <a16:creationId xmlns:a16="http://schemas.microsoft.com/office/drawing/2014/main" id="{B4E74BF3-44E8-703E-838A-D276BEFAEA53}"/>
                  </a:ext>
                </a:extLst>
              </p:cNvPr>
              <p:cNvGraphicFramePr>
                <a:graphicFrameLocks noGrp="1"/>
              </p:cNvGraphicFramePr>
              <p:nvPr>
                <p:extLst>
                  <p:ext uri="{D42A27DB-BD31-4B8C-83A1-F6EECF244321}">
                    <p14:modId xmlns:p14="http://schemas.microsoft.com/office/powerpoint/2010/main" val="1390278989"/>
                  </p:ext>
                </p:extLst>
              </p:nvPr>
            </p:nvGraphicFramePr>
            <p:xfrm>
              <a:off x="5374481" y="3276600"/>
              <a:ext cx="3400425" cy="3048000"/>
            </p:xfrm>
            <a:graphic>
              <a:graphicData uri="http://schemas.openxmlformats.org/drawingml/2006/table">
                <a:tbl>
                  <a:tblPr/>
                  <a:tblGrid>
                    <a:gridCol w="1645920">
                      <a:extLst>
                        <a:ext uri="{9D8B030D-6E8A-4147-A177-3AD203B41FA5}">
                          <a16:colId xmlns:a16="http://schemas.microsoft.com/office/drawing/2014/main" val="367749022"/>
                        </a:ext>
                      </a:extLst>
                    </a:gridCol>
                    <a:gridCol w="1754505">
                      <a:extLst>
                        <a:ext uri="{9D8B030D-6E8A-4147-A177-3AD203B41FA5}">
                          <a16:colId xmlns:a16="http://schemas.microsoft.com/office/drawing/2014/main" val="3507471054"/>
                        </a:ext>
                      </a:extLst>
                    </a:gridCol>
                  </a:tblGrid>
                  <a:tr h="304800">
                    <a:tc>
                      <a:txBody>
                        <a:bodyPr/>
                        <a:lstStyle/>
                        <a:p>
                          <a:pPr rtl="0">
                            <a:buNone/>
                          </a:pPr>
                          <a:r>
                            <a:rPr lang="en-IN" sz="1200" b="1" dirty="0">
                              <a:solidFill>
                                <a:srgbClr val="1B1C1D"/>
                              </a:solidFill>
                              <a:effectLst/>
                              <a:latin typeface="Times New Roman" panose="02020603050405020304" pitchFamily="18" charset="0"/>
                              <a:cs typeface="Times New Roman" panose="02020603050405020304" pitchFamily="18" charset="0"/>
                            </a:rPr>
                            <a:t>Variable</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IN" sz="1200" b="1" dirty="0">
                              <a:solidFill>
                                <a:srgbClr val="1B1C1D"/>
                              </a:solidFill>
                              <a:effectLst/>
                              <a:latin typeface="Times New Roman" panose="02020603050405020304" pitchFamily="18" charset="0"/>
                              <a:cs typeface="Times New Roman" panose="02020603050405020304" pitchFamily="18" charset="0"/>
                            </a:rPr>
                            <a:t>Unit</a:t>
                          </a:r>
                          <a:endParaRPr lang="en-IN" sz="1200" dirty="0">
                            <a:solidFill>
                              <a:srgbClr val="1B1C1D"/>
                            </a:solidFill>
                            <a:effectLst/>
                            <a:latin typeface="Times New Roman" panose="02020603050405020304" pitchFamily="18" charset="0"/>
                            <a:cs typeface="Times New Roman" panose="02020603050405020304" pitchFamily="18" charset="0"/>
                          </a:endParaRP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5353931"/>
                      </a:ext>
                    </a:extLst>
                  </a:tr>
                  <a:tr h="304800">
                    <a:tc>
                      <a:txBody>
                        <a:bodyPr/>
                        <a:lstStyle/>
                        <a:p>
                          <a:pPr rtl="0">
                            <a:buNone/>
                          </a:pPr>
                          <a:r>
                            <a:rPr lang="en-IN" sz="1200" b="1" dirty="0">
                              <a:solidFill>
                                <a:srgbClr val="1B1C1D"/>
                              </a:solidFill>
                              <a:effectLst/>
                              <a:latin typeface="Times New Roman" panose="02020603050405020304" pitchFamily="18" charset="0"/>
                              <a:cs typeface="Times New Roman" panose="02020603050405020304" pitchFamily="18" charset="0"/>
                            </a:rPr>
                            <a:t>PM 2.5</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4444" t="-102000" r="-694" b="-812000"/>
                          </a:stretch>
                        </a:blipFill>
                      </a:tcPr>
                    </a:tc>
                    <a:extLst>
                      <a:ext uri="{0D108BD9-81ED-4DB2-BD59-A6C34878D82A}">
                        <a16:rowId xmlns:a16="http://schemas.microsoft.com/office/drawing/2014/main" val="2035765785"/>
                      </a:ext>
                    </a:extLst>
                  </a:tr>
                  <a:tr h="304800">
                    <a:tc>
                      <a:txBody>
                        <a:bodyPr/>
                        <a:lstStyle/>
                        <a:p>
                          <a:pPr rtl="0">
                            <a:buNone/>
                          </a:pPr>
                          <a:r>
                            <a:rPr lang="en-US" sz="1200" b="1" dirty="0">
                              <a:solidFill>
                                <a:srgbClr val="1B1C1D"/>
                              </a:solidFill>
                              <a:effectLst/>
                              <a:latin typeface="Times New Roman" panose="02020603050405020304" pitchFamily="18" charset="0"/>
                              <a:cs typeface="Times New Roman" panose="02020603050405020304" pitchFamily="18" charset="0"/>
                            </a:rPr>
                            <a:t>PM 10</a:t>
                          </a:r>
                          <a:endParaRPr lang="en-IN" sz="1200" b="1" dirty="0">
                            <a:solidFill>
                              <a:srgbClr val="1B1C1D"/>
                            </a:solidFill>
                            <a:effectLst/>
                            <a:latin typeface="Times New Roman" panose="02020603050405020304" pitchFamily="18" charset="0"/>
                            <a:cs typeface="Times New Roman" panose="02020603050405020304" pitchFamily="18" charset="0"/>
                          </a:endParaRP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4444" t="-202000" r="-694" b="-712000"/>
                          </a:stretch>
                        </a:blipFill>
                      </a:tcPr>
                    </a:tc>
                    <a:extLst>
                      <a:ext uri="{0D108BD9-81ED-4DB2-BD59-A6C34878D82A}">
                        <a16:rowId xmlns:a16="http://schemas.microsoft.com/office/drawing/2014/main" val="600614914"/>
                      </a:ext>
                    </a:extLst>
                  </a:tr>
                  <a:tr h="304800">
                    <a:tc>
                      <a:txBody>
                        <a:bodyPr/>
                        <a:lstStyle/>
                        <a:p>
                          <a:pPr rtl="0">
                            <a:buNone/>
                          </a:pPr>
                          <a:r>
                            <a:rPr lang="en-US" sz="1200" b="1" dirty="0">
                              <a:solidFill>
                                <a:srgbClr val="1B1C1D"/>
                              </a:solidFill>
                              <a:effectLst/>
                              <a:latin typeface="Times New Roman" panose="02020603050405020304" pitchFamily="18" charset="0"/>
                              <a:cs typeface="Times New Roman" panose="02020603050405020304" pitchFamily="18" charset="0"/>
                            </a:rPr>
                            <a:t>NO2</a:t>
                          </a:r>
                          <a:endParaRPr lang="en-IN" sz="1200" b="1" dirty="0">
                            <a:solidFill>
                              <a:srgbClr val="1B1C1D"/>
                            </a:solidFill>
                            <a:effectLst/>
                            <a:latin typeface="Times New Roman" panose="02020603050405020304" pitchFamily="18" charset="0"/>
                            <a:cs typeface="Times New Roman" panose="02020603050405020304" pitchFamily="18" charset="0"/>
                          </a:endParaRP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4444" t="-302000" r="-694" b="-612000"/>
                          </a:stretch>
                        </a:blipFill>
                      </a:tcPr>
                    </a:tc>
                    <a:extLst>
                      <a:ext uri="{0D108BD9-81ED-4DB2-BD59-A6C34878D82A}">
                        <a16:rowId xmlns:a16="http://schemas.microsoft.com/office/drawing/2014/main" val="1314075945"/>
                      </a:ext>
                    </a:extLst>
                  </a:tr>
                  <a:tr h="304800">
                    <a:tc>
                      <a:txBody>
                        <a:bodyPr/>
                        <a:lstStyle/>
                        <a:p>
                          <a:pPr rtl="0">
                            <a:buNone/>
                          </a:pPr>
                          <a:r>
                            <a:rPr lang="en-US" sz="1200" b="1" dirty="0">
                              <a:solidFill>
                                <a:srgbClr val="1B1C1D"/>
                              </a:solidFill>
                              <a:effectLst/>
                              <a:latin typeface="Times New Roman" panose="02020603050405020304" pitchFamily="18" charset="0"/>
                              <a:cs typeface="Times New Roman" panose="02020603050405020304" pitchFamily="18" charset="0"/>
                            </a:rPr>
                            <a:t>SO2</a:t>
                          </a:r>
                          <a:endParaRPr lang="en-IN" sz="1200" b="1" dirty="0">
                            <a:solidFill>
                              <a:srgbClr val="1B1C1D"/>
                            </a:solidFill>
                            <a:effectLst/>
                            <a:latin typeface="Times New Roman" panose="02020603050405020304" pitchFamily="18" charset="0"/>
                            <a:cs typeface="Times New Roman" panose="02020603050405020304" pitchFamily="18" charset="0"/>
                          </a:endParaRP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4444" t="-394118" r="-694" b="-500000"/>
                          </a:stretch>
                        </a:blipFill>
                      </a:tcPr>
                    </a:tc>
                    <a:extLst>
                      <a:ext uri="{0D108BD9-81ED-4DB2-BD59-A6C34878D82A}">
                        <a16:rowId xmlns:a16="http://schemas.microsoft.com/office/drawing/2014/main" val="3996225738"/>
                      </a:ext>
                    </a:extLst>
                  </a:tr>
                  <a:tr h="304800">
                    <a:tc>
                      <a:txBody>
                        <a:bodyPr/>
                        <a:lstStyle/>
                        <a:p>
                          <a:pPr rtl="0">
                            <a:buNone/>
                          </a:pPr>
                          <a:r>
                            <a:rPr lang="en-IN" sz="1200" b="1" dirty="0">
                              <a:solidFill>
                                <a:srgbClr val="1B1C1D"/>
                              </a:solidFill>
                              <a:effectLst/>
                              <a:latin typeface="Times New Roman" panose="02020603050405020304" pitchFamily="18" charset="0"/>
                              <a:cs typeface="Times New Roman" panose="02020603050405020304" pitchFamily="18" charset="0"/>
                            </a:rPr>
                            <a:t>Population</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IN" sz="1200">
                              <a:solidFill>
                                <a:srgbClr val="1B1C1D"/>
                              </a:solidFill>
                              <a:effectLst/>
                              <a:latin typeface="Times New Roman" panose="02020603050405020304" pitchFamily="18" charset="0"/>
                              <a:cs typeface="Times New Roman" panose="02020603050405020304" pitchFamily="18" charset="0"/>
                            </a:rPr>
                            <a:t>Count</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6252575"/>
                      </a:ext>
                    </a:extLst>
                  </a:tr>
                  <a:tr h="304800">
                    <a:tc>
                      <a:txBody>
                        <a:bodyPr/>
                        <a:lstStyle/>
                        <a:p>
                          <a:pPr rtl="0">
                            <a:buNone/>
                          </a:pPr>
                          <a:r>
                            <a:rPr lang="en-US" sz="1200" b="1" dirty="0">
                              <a:solidFill>
                                <a:srgbClr val="1B1C1D"/>
                              </a:solidFill>
                              <a:effectLst/>
                              <a:latin typeface="Times New Roman" panose="02020603050405020304" pitchFamily="18" charset="0"/>
                              <a:cs typeface="Times New Roman" panose="02020603050405020304" pitchFamily="18" charset="0"/>
                            </a:rPr>
                            <a:t>Area</a:t>
                          </a:r>
                          <a:endParaRPr lang="en-IN" sz="1200" b="1" dirty="0">
                            <a:solidFill>
                              <a:srgbClr val="1B1C1D"/>
                            </a:solidFill>
                            <a:effectLst/>
                            <a:latin typeface="Times New Roman" panose="02020603050405020304" pitchFamily="18" charset="0"/>
                            <a:cs typeface="Times New Roman" panose="02020603050405020304" pitchFamily="18" charset="0"/>
                          </a:endParaRP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200" dirty="0">
                              <a:solidFill>
                                <a:srgbClr val="1B1C1D"/>
                              </a:solidFill>
                              <a:effectLst/>
                              <a:latin typeface="Times New Roman" panose="02020603050405020304" pitchFamily="18" charset="0"/>
                              <a:cs typeface="Times New Roman" panose="02020603050405020304" pitchFamily="18" charset="0"/>
                            </a:rPr>
                            <a:t>sq. km.</a:t>
                          </a:r>
                          <a:endParaRPr lang="en-IN" sz="1200" dirty="0">
                            <a:solidFill>
                              <a:srgbClr val="1B1C1D"/>
                            </a:solidFill>
                            <a:effectLst/>
                            <a:latin typeface="Times New Roman" panose="02020603050405020304" pitchFamily="18" charset="0"/>
                            <a:cs typeface="Times New Roman" panose="02020603050405020304" pitchFamily="18" charset="0"/>
                          </a:endParaRP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68829295"/>
                      </a:ext>
                    </a:extLst>
                  </a:tr>
                  <a:tr h="304800">
                    <a:tc>
                      <a:txBody>
                        <a:bodyPr/>
                        <a:lstStyle/>
                        <a:p>
                          <a:pPr rtl="0">
                            <a:buNone/>
                          </a:pPr>
                          <a:r>
                            <a:rPr lang="en-IN" sz="1200" b="1" dirty="0">
                              <a:solidFill>
                                <a:srgbClr val="1B1C1D"/>
                              </a:solidFill>
                              <a:effectLst/>
                              <a:latin typeface="Times New Roman" panose="02020603050405020304" pitchFamily="18" charset="0"/>
                              <a:cs typeface="Times New Roman" panose="02020603050405020304" pitchFamily="18" charset="0"/>
                            </a:rPr>
                            <a:t>BPL Population</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IN" sz="1200" dirty="0">
                              <a:solidFill>
                                <a:srgbClr val="1B1C1D"/>
                              </a:solidFill>
                              <a:effectLst/>
                              <a:latin typeface="Times New Roman" panose="02020603050405020304" pitchFamily="18" charset="0"/>
                              <a:cs typeface="Times New Roman" panose="02020603050405020304" pitchFamily="18" charset="0"/>
                            </a:rPr>
                            <a:t>%</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63844223"/>
                      </a:ext>
                    </a:extLst>
                  </a:tr>
                  <a:tr h="304800">
                    <a:tc>
                      <a:txBody>
                        <a:bodyPr/>
                        <a:lstStyle/>
                        <a:p>
                          <a:pPr rtl="0">
                            <a:buNone/>
                          </a:pPr>
                          <a:r>
                            <a:rPr lang="en-IN" sz="1200" b="1">
                              <a:solidFill>
                                <a:srgbClr val="1B1C1D"/>
                              </a:solidFill>
                              <a:effectLst/>
                              <a:latin typeface="Times New Roman" panose="02020603050405020304" pitchFamily="18" charset="0"/>
                              <a:cs typeface="Times New Roman" panose="02020603050405020304" pitchFamily="18" charset="0"/>
                            </a:rPr>
                            <a:t>Infant Mortality</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IN" sz="1200" dirty="0">
                              <a:solidFill>
                                <a:srgbClr val="1B1C1D"/>
                              </a:solidFill>
                              <a:effectLst/>
                              <a:latin typeface="Times New Roman" panose="02020603050405020304" pitchFamily="18" charset="0"/>
                              <a:cs typeface="Times New Roman" panose="02020603050405020304" pitchFamily="18" charset="0"/>
                            </a:rPr>
                            <a:t>Rate per 1000 live births</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2472738"/>
                      </a:ext>
                    </a:extLst>
                  </a:tr>
                  <a:tr h="304800">
                    <a:tc>
                      <a:txBody>
                        <a:bodyPr/>
                        <a:lstStyle/>
                        <a:p>
                          <a:pPr rtl="0">
                            <a:buNone/>
                          </a:pPr>
                          <a:r>
                            <a:rPr lang="en-IN" sz="1200" b="1" dirty="0">
                              <a:solidFill>
                                <a:srgbClr val="1B1C1D"/>
                              </a:solidFill>
                              <a:effectLst/>
                              <a:latin typeface="Times New Roman" panose="02020603050405020304" pitchFamily="18" charset="0"/>
                              <a:cs typeface="Times New Roman" panose="02020603050405020304" pitchFamily="18" charset="0"/>
                            </a:rPr>
                            <a:t>Life Expectancy</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IN" sz="1200" dirty="0">
                              <a:solidFill>
                                <a:srgbClr val="1B1C1D"/>
                              </a:solidFill>
                              <a:effectLst/>
                              <a:latin typeface="Times New Roman" panose="02020603050405020304" pitchFamily="18" charset="0"/>
                              <a:cs typeface="Times New Roman" panose="02020603050405020304" pitchFamily="18" charset="0"/>
                            </a:rPr>
                            <a:t>Years</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0479598"/>
                      </a:ext>
                    </a:extLst>
                  </a:tr>
                </a:tbl>
              </a:graphicData>
            </a:graphic>
          </p:graphicFrame>
        </mc:Fallback>
      </mc:AlternateContent>
      <p:sp>
        <p:nvSpPr>
          <p:cNvPr id="5" name="TextBox 4">
            <a:extLst>
              <a:ext uri="{FF2B5EF4-FFF2-40B4-BE49-F238E27FC236}">
                <a16:creationId xmlns:a16="http://schemas.microsoft.com/office/drawing/2014/main" id="{6353645E-1DF4-C7DE-0854-B7ED21C3B822}"/>
              </a:ext>
            </a:extLst>
          </p:cNvPr>
          <p:cNvSpPr txBox="1"/>
          <p:nvPr/>
        </p:nvSpPr>
        <p:spPr>
          <a:xfrm>
            <a:off x="5693568" y="2938046"/>
            <a:ext cx="2762249" cy="338554"/>
          </a:xfrm>
          <a:prstGeom prst="rect">
            <a:avLst/>
          </a:prstGeom>
          <a:noFill/>
        </p:spPr>
        <p:txBody>
          <a:bodyPr wrap="square" rtlCol="0">
            <a:spAutoFit/>
          </a:bodyPr>
          <a:lstStyle/>
          <a:p>
            <a:pPr algn="ctr"/>
            <a:r>
              <a:rPr lang="en-IN" sz="1600" b="1" dirty="0">
                <a:latin typeface="Times New Roman" panose="02020603050405020304" pitchFamily="18" charset="0"/>
                <a:cs typeface="Times New Roman" panose="02020603050405020304" pitchFamily="18" charset="0"/>
              </a:rPr>
              <a:t>Variable Definition Table</a:t>
            </a:r>
          </a:p>
        </p:txBody>
      </p:sp>
      <p:sp>
        <p:nvSpPr>
          <p:cNvPr id="6" name="TextBox 5">
            <a:extLst>
              <a:ext uri="{FF2B5EF4-FFF2-40B4-BE49-F238E27FC236}">
                <a16:creationId xmlns:a16="http://schemas.microsoft.com/office/drawing/2014/main" id="{52BB3E75-5E29-98EB-48B9-31B25919FA32}"/>
              </a:ext>
            </a:extLst>
          </p:cNvPr>
          <p:cNvSpPr txBox="1"/>
          <p:nvPr/>
        </p:nvSpPr>
        <p:spPr>
          <a:xfrm>
            <a:off x="1283494" y="2943225"/>
            <a:ext cx="2362200" cy="338554"/>
          </a:xfrm>
          <a:prstGeom prst="rect">
            <a:avLst/>
          </a:prstGeom>
          <a:noFill/>
        </p:spPr>
        <p:txBody>
          <a:bodyPr wrap="square" rtlCol="0">
            <a:spAutoFit/>
          </a:bodyPr>
          <a:lstStyle/>
          <a:p>
            <a:pPr algn="ctr"/>
            <a:r>
              <a:rPr lang="en-IN" sz="1600" b="1" dirty="0">
                <a:latin typeface="Times New Roman" panose="02020603050405020304" pitchFamily="18" charset="0"/>
                <a:cs typeface="Times New Roman" panose="02020603050405020304" pitchFamily="18" charset="0"/>
              </a:rPr>
              <a:t>Dataset Overview</a:t>
            </a:r>
          </a:p>
        </p:txBody>
      </p:sp>
    </p:spTree>
    <p:extLst>
      <p:ext uri="{BB962C8B-B14F-4D97-AF65-F5344CB8AC3E}">
        <p14:creationId xmlns:p14="http://schemas.microsoft.com/office/powerpoint/2010/main" val="38100681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7CB676A9-61E8-BCB8-870F-F2F4010AF468}"/>
            </a:ext>
          </a:extLst>
        </p:cNvPr>
        <p:cNvGrpSpPr/>
        <p:nvPr/>
      </p:nvGrpSpPr>
      <p:grpSpPr>
        <a:xfrm>
          <a:off x="0" y="0"/>
          <a:ext cx="0" cy="0"/>
          <a:chOff x="0" y="0"/>
          <a:chExt cx="0" cy="0"/>
        </a:xfrm>
      </p:grpSpPr>
      <p:sp>
        <p:nvSpPr>
          <p:cNvPr id="140" name="Google Shape;140;p21">
            <a:extLst>
              <a:ext uri="{FF2B5EF4-FFF2-40B4-BE49-F238E27FC236}">
                <a16:creationId xmlns:a16="http://schemas.microsoft.com/office/drawing/2014/main" id="{A8CA08F9-E0BF-419A-631B-F616A1AFACCF}"/>
              </a:ext>
            </a:extLst>
          </p:cNvPr>
          <p:cNvSpPr txBox="1">
            <a:spLocks noGrp="1"/>
          </p:cNvSpPr>
          <p:nvPr>
            <p:ph type="title"/>
          </p:nvPr>
        </p:nvSpPr>
        <p:spPr>
          <a:xfrm>
            <a:off x="457200" y="116632"/>
            <a:ext cx="8229600" cy="864443"/>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Times New Roman"/>
              <a:buNone/>
            </a:pPr>
            <a:r>
              <a:rPr lang="en-US" sz="4000" dirty="0">
                <a:latin typeface="Times New Roman"/>
                <a:cs typeface="Times New Roman"/>
                <a:sym typeface="Times New Roman"/>
              </a:rPr>
              <a:t>TESTING AND VALIDATION</a:t>
            </a:r>
            <a:endParaRPr dirty="0"/>
          </a:p>
        </p:txBody>
      </p:sp>
      <p:graphicFrame>
        <p:nvGraphicFramePr>
          <p:cNvPr id="3" name="Table 2">
            <a:extLst>
              <a:ext uri="{FF2B5EF4-FFF2-40B4-BE49-F238E27FC236}">
                <a16:creationId xmlns:a16="http://schemas.microsoft.com/office/drawing/2014/main" id="{F44644B0-B71A-F24C-46FD-55183FF743AF}"/>
              </a:ext>
            </a:extLst>
          </p:cNvPr>
          <p:cNvGraphicFramePr>
            <a:graphicFrameLocks noGrp="1"/>
          </p:cNvGraphicFramePr>
          <p:nvPr>
            <p:extLst>
              <p:ext uri="{D42A27DB-BD31-4B8C-83A1-F6EECF244321}">
                <p14:modId xmlns:p14="http://schemas.microsoft.com/office/powerpoint/2010/main" val="513090770"/>
              </p:ext>
            </p:extLst>
          </p:nvPr>
        </p:nvGraphicFramePr>
        <p:xfrm>
          <a:off x="1470422" y="3295650"/>
          <a:ext cx="6203156" cy="2011680"/>
        </p:xfrm>
        <a:graphic>
          <a:graphicData uri="http://schemas.openxmlformats.org/drawingml/2006/table">
            <a:tbl>
              <a:tblPr/>
              <a:tblGrid>
                <a:gridCol w="2149957">
                  <a:extLst>
                    <a:ext uri="{9D8B030D-6E8A-4147-A177-3AD203B41FA5}">
                      <a16:colId xmlns:a16="http://schemas.microsoft.com/office/drawing/2014/main" val="1826304571"/>
                    </a:ext>
                  </a:extLst>
                </a:gridCol>
                <a:gridCol w="4053199">
                  <a:extLst>
                    <a:ext uri="{9D8B030D-6E8A-4147-A177-3AD203B41FA5}">
                      <a16:colId xmlns:a16="http://schemas.microsoft.com/office/drawing/2014/main" val="1427488311"/>
                    </a:ext>
                  </a:extLst>
                </a:gridCol>
              </a:tblGrid>
              <a:tr h="0">
                <a:tc>
                  <a:txBody>
                    <a:bodyPr/>
                    <a:lstStyle/>
                    <a:p>
                      <a:pPr rtl="0">
                        <a:buNone/>
                      </a:pPr>
                      <a:r>
                        <a:rPr lang="en-IN" sz="1400" b="1" dirty="0">
                          <a:solidFill>
                            <a:srgbClr val="1B1C1D"/>
                          </a:solidFill>
                          <a:effectLst/>
                          <a:latin typeface="Times New Roman" panose="02020603050405020304" pitchFamily="18" charset="0"/>
                          <a:cs typeface="Times New Roman" panose="02020603050405020304" pitchFamily="18" charset="0"/>
                        </a:rPr>
                        <a:t>Test Case</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IN" sz="1400" b="1" dirty="0">
                          <a:solidFill>
                            <a:srgbClr val="1B1C1D"/>
                          </a:solidFill>
                          <a:effectLst/>
                          <a:latin typeface="Times New Roman" panose="02020603050405020304" pitchFamily="18" charset="0"/>
                          <a:cs typeface="Times New Roman" panose="02020603050405020304" pitchFamily="18" charset="0"/>
                        </a:rPr>
                        <a:t>Expected Result</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47596"/>
                  </a:ext>
                </a:extLst>
              </a:tr>
              <a:tr h="0">
                <a:tc>
                  <a:txBody>
                    <a:bodyPr/>
                    <a:lstStyle/>
                    <a:p>
                      <a:pPr rtl="0">
                        <a:buNone/>
                      </a:pPr>
                      <a:r>
                        <a:rPr lang="en-IN" sz="1400" b="1" dirty="0">
                          <a:solidFill>
                            <a:srgbClr val="1B1C1D"/>
                          </a:solidFill>
                          <a:effectLst/>
                          <a:latin typeface="Times New Roman" panose="02020603050405020304" pitchFamily="18" charset="0"/>
                          <a:cs typeface="Times New Roman" panose="02020603050405020304" pitchFamily="18" charset="0"/>
                        </a:rPr>
                        <a:t>City-wise Analysis</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b="0" dirty="0">
                          <a:solidFill>
                            <a:srgbClr val="1B1C1D"/>
                          </a:solidFill>
                          <a:effectLst/>
                          <a:latin typeface="Times New Roman" panose="02020603050405020304" pitchFamily="18" charset="0"/>
                          <a:cs typeface="Times New Roman" panose="02020603050405020304" pitchFamily="18" charset="0"/>
                        </a:rPr>
                        <a:t>Correct sub-index and livability display.</a:t>
                      </a:r>
                      <a:endParaRPr lang="en-IN" sz="1400" b="0" dirty="0">
                        <a:solidFill>
                          <a:srgbClr val="1B1C1D"/>
                        </a:solidFill>
                        <a:effectLst/>
                        <a:latin typeface="Times New Roman" panose="02020603050405020304" pitchFamily="18" charset="0"/>
                        <a:cs typeface="Times New Roman" panose="02020603050405020304" pitchFamily="18" charset="0"/>
                      </a:endParaRP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9332943"/>
                  </a:ext>
                </a:extLst>
              </a:tr>
              <a:tr h="0">
                <a:tc>
                  <a:txBody>
                    <a:bodyPr/>
                    <a:lstStyle/>
                    <a:p>
                      <a:pPr rtl="0">
                        <a:buNone/>
                      </a:pPr>
                      <a:r>
                        <a:rPr lang="en-IN" sz="1400" b="1" dirty="0">
                          <a:solidFill>
                            <a:srgbClr val="1B1C1D"/>
                          </a:solidFill>
                          <a:effectLst/>
                          <a:latin typeface="Times New Roman" panose="02020603050405020304" pitchFamily="18" charset="0"/>
                          <a:cs typeface="Times New Roman" panose="02020603050405020304" pitchFamily="18" charset="0"/>
                        </a:rPr>
                        <a:t>Comparison Module</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IN" sz="1400" b="0" dirty="0">
                          <a:solidFill>
                            <a:srgbClr val="1B1C1D"/>
                          </a:solidFill>
                          <a:effectLst/>
                          <a:latin typeface="Times New Roman" panose="02020603050405020304" pitchFamily="18" charset="0"/>
                          <a:cs typeface="Times New Roman" panose="02020603050405020304" pitchFamily="18" charset="0"/>
                        </a:rPr>
                        <a:t>Accurate multi-city results.</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620486"/>
                  </a:ext>
                </a:extLst>
              </a:tr>
              <a:tr h="0">
                <a:tc>
                  <a:txBody>
                    <a:bodyPr/>
                    <a:lstStyle/>
                    <a:p>
                      <a:pPr rtl="0">
                        <a:buNone/>
                      </a:pPr>
                      <a:r>
                        <a:rPr lang="en-IN" sz="1400" b="1" dirty="0">
                          <a:solidFill>
                            <a:srgbClr val="1B1C1D"/>
                          </a:solidFill>
                          <a:effectLst/>
                          <a:latin typeface="Times New Roman" panose="02020603050405020304" pitchFamily="18" charset="0"/>
                          <a:cs typeface="Times New Roman" panose="02020603050405020304" pitchFamily="18" charset="0"/>
                        </a:rPr>
                        <a:t>Visualization Rendering</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IN" sz="1400" b="0" dirty="0">
                          <a:solidFill>
                            <a:srgbClr val="1B1C1D"/>
                          </a:solidFill>
                          <a:effectLst/>
                          <a:latin typeface="Times New Roman" panose="02020603050405020304" pitchFamily="18" charset="0"/>
                          <a:cs typeface="Times New Roman" panose="02020603050405020304" pitchFamily="18" charset="0"/>
                        </a:rPr>
                        <a:t>All charts and graphs load properly.</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63117393"/>
                  </a:ext>
                </a:extLst>
              </a:tr>
              <a:tr h="0">
                <a:tc>
                  <a:txBody>
                    <a:bodyPr/>
                    <a:lstStyle/>
                    <a:p>
                      <a:pPr rtl="0">
                        <a:buNone/>
                      </a:pPr>
                      <a:r>
                        <a:rPr lang="en-IN" sz="1400" b="1" dirty="0">
                          <a:solidFill>
                            <a:srgbClr val="1B1C1D"/>
                          </a:solidFill>
                          <a:effectLst/>
                          <a:latin typeface="Times New Roman" panose="02020603050405020304" pitchFamily="18" charset="0"/>
                          <a:cs typeface="Times New Roman" panose="02020603050405020304" pitchFamily="18" charset="0"/>
                        </a:rPr>
                        <a:t>Leaderboard</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IN" sz="1400" b="0" dirty="0">
                          <a:solidFill>
                            <a:srgbClr val="1B1C1D"/>
                          </a:solidFill>
                          <a:effectLst/>
                          <a:latin typeface="Times New Roman" panose="02020603050405020304" pitchFamily="18" charset="0"/>
                          <a:cs typeface="Times New Roman" panose="02020603050405020304" pitchFamily="18" charset="0"/>
                        </a:rPr>
                        <a:t>Correct city ranking based on </a:t>
                      </a:r>
                      <a:r>
                        <a:rPr lang="en-IN" sz="1400" b="0" dirty="0" err="1">
                          <a:solidFill>
                            <a:srgbClr val="1B1C1D"/>
                          </a:solidFill>
                          <a:effectLst/>
                          <a:latin typeface="Times New Roman" panose="02020603050405020304" pitchFamily="18" charset="0"/>
                          <a:cs typeface="Times New Roman" panose="02020603050405020304" pitchFamily="18" charset="0"/>
                        </a:rPr>
                        <a:t>Livability</a:t>
                      </a:r>
                      <a:r>
                        <a:rPr lang="en-IN" sz="1400" b="0" dirty="0">
                          <a:solidFill>
                            <a:srgbClr val="1B1C1D"/>
                          </a:solidFill>
                          <a:effectLst/>
                          <a:latin typeface="Times New Roman" panose="02020603050405020304" pitchFamily="18" charset="0"/>
                          <a:cs typeface="Times New Roman" panose="02020603050405020304" pitchFamily="18" charset="0"/>
                        </a:rPr>
                        <a:t> Index.</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31950698"/>
                  </a:ext>
                </a:extLst>
              </a:tr>
              <a:tr h="0">
                <a:tc>
                  <a:txBody>
                    <a:bodyPr/>
                    <a:lstStyle/>
                    <a:p>
                      <a:pPr rtl="0">
                        <a:buNone/>
                      </a:pPr>
                      <a:r>
                        <a:rPr lang="en-IN" sz="1400" b="1" dirty="0">
                          <a:solidFill>
                            <a:srgbClr val="1B1C1D"/>
                          </a:solidFill>
                          <a:effectLst/>
                          <a:latin typeface="Times New Roman" panose="02020603050405020304" pitchFamily="18" charset="0"/>
                          <a:cs typeface="Times New Roman" panose="02020603050405020304" pitchFamily="18" charset="0"/>
                        </a:rPr>
                        <a:t>Normalization</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b="0" dirty="0">
                          <a:solidFill>
                            <a:srgbClr val="1B1C1D"/>
                          </a:solidFill>
                          <a:effectLst/>
                          <a:latin typeface="Times New Roman" panose="02020603050405020304" pitchFamily="18" charset="0"/>
                          <a:cs typeface="Times New Roman" panose="02020603050405020304" pitchFamily="18" charset="0"/>
                        </a:rPr>
                        <a:t>All values between 0–1 verified for sub-indices.</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8032583"/>
                  </a:ext>
                </a:extLst>
              </a:tr>
            </a:tbl>
          </a:graphicData>
        </a:graphic>
      </p:graphicFrame>
      <p:sp>
        <p:nvSpPr>
          <p:cNvPr id="7" name="TextBox 6">
            <a:extLst>
              <a:ext uri="{FF2B5EF4-FFF2-40B4-BE49-F238E27FC236}">
                <a16:creationId xmlns:a16="http://schemas.microsoft.com/office/drawing/2014/main" id="{5833595B-13BB-0D82-5899-8654A0C0FF1F}"/>
              </a:ext>
            </a:extLst>
          </p:cNvPr>
          <p:cNvSpPr txBox="1"/>
          <p:nvPr/>
        </p:nvSpPr>
        <p:spPr>
          <a:xfrm>
            <a:off x="1762125" y="981075"/>
            <a:ext cx="5619750" cy="2166234"/>
          </a:xfrm>
          <a:prstGeom prst="rect">
            <a:avLst/>
          </a:prstGeom>
          <a:noFill/>
        </p:spPr>
        <p:txBody>
          <a:bodyPr wrap="square" rtlCol="0">
            <a:spAutoFit/>
          </a:bodyPr>
          <a:lstStyle/>
          <a:p>
            <a:pPr algn="just">
              <a:lnSpc>
                <a:spcPct val="150000"/>
              </a:lnSpc>
            </a:pPr>
            <a:r>
              <a:rPr lang="en-US" sz="1800" b="1" dirty="0">
                <a:latin typeface="Times New Roman" panose="02020603050405020304" pitchFamily="18" charset="0"/>
                <a:ea typeface="Tahoma" panose="020B0604030504040204" pitchFamily="34" charset="0"/>
                <a:cs typeface="Times New Roman" panose="02020603050405020304" pitchFamily="18" charset="0"/>
              </a:rPr>
              <a:t>Testing Performed:</a:t>
            </a:r>
          </a:p>
          <a:p>
            <a:pPr marL="285750" indent="-200025" algn="just">
              <a:lnSpc>
                <a:spcPct val="150000"/>
              </a:lnSpc>
              <a:buFont typeface="Arial" panose="020B0604020202020204" pitchFamily="34" charset="0"/>
              <a:buChar char="•"/>
            </a:pPr>
            <a:r>
              <a:rPr lang="en-US" sz="1800" dirty="0">
                <a:latin typeface="Times New Roman" panose="02020603050405020304" pitchFamily="18" charset="0"/>
                <a:ea typeface="Tahoma" panose="020B0604030504040204" pitchFamily="34" charset="0"/>
                <a:cs typeface="Times New Roman" panose="02020603050405020304" pitchFamily="18" charset="0"/>
              </a:rPr>
              <a:t>Functional testing of all </a:t>
            </a:r>
            <a:r>
              <a:rPr lang="en-US" sz="1800" dirty="0" err="1">
                <a:latin typeface="Times New Roman" panose="02020603050405020304" pitchFamily="18" charset="0"/>
                <a:ea typeface="Tahoma" panose="020B0604030504040204" pitchFamily="34" charset="0"/>
                <a:cs typeface="Times New Roman" panose="02020603050405020304" pitchFamily="18" charset="0"/>
              </a:rPr>
              <a:t>Streamlit</a:t>
            </a:r>
            <a:r>
              <a:rPr lang="en-US" sz="1800" dirty="0">
                <a:latin typeface="Times New Roman" panose="02020603050405020304" pitchFamily="18" charset="0"/>
                <a:ea typeface="Tahoma" panose="020B0604030504040204" pitchFamily="34" charset="0"/>
                <a:cs typeface="Times New Roman" panose="02020603050405020304" pitchFamily="18" charset="0"/>
              </a:rPr>
              <a:t> modules.</a:t>
            </a:r>
          </a:p>
          <a:p>
            <a:pPr marL="285750" indent="-200025" algn="just">
              <a:lnSpc>
                <a:spcPct val="150000"/>
              </a:lnSpc>
              <a:buFont typeface="Arial" panose="020B0604020202020204" pitchFamily="34" charset="0"/>
              <a:buChar char="•"/>
            </a:pPr>
            <a:r>
              <a:rPr lang="en-US" sz="1800" dirty="0">
                <a:latin typeface="Times New Roman" panose="02020603050405020304" pitchFamily="18" charset="0"/>
                <a:ea typeface="Tahoma" panose="020B0604030504040204" pitchFamily="34" charset="0"/>
                <a:cs typeface="Times New Roman" panose="02020603050405020304" pitchFamily="18" charset="0"/>
              </a:rPr>
              <a:t>Data validation for missing or incorrect values.</a:t>
            </a:r>
          </a:p>
          <a:p>
            <a:pPr marL="285750" indent="-200025" algn="just">
              <a:lnSpc>
                <a:spcPct val="150000"/>
              </a:lnSpc>
              <a:buFont typeface="Arial" panose="020B0604020202020204" pitchFamily="34" charset="0"/>
              <a:buChar char="•"/>
            </a:pPr>
            <a:r>
              <a:rPr lang="en-US" sz="1800" dirty="0">
                <a:latin typeface="Times New Roman" panose="02020603050405020304" pitchFamily="18" charset="0"/>
                <a:ea typeface="Tahoma" panose="020B0604030504040204" pitchFamily="34" charset="0"/>
                <a:cs typeface="Times New Roman" panose="02020603050405020304" pitchFamily="18" charset="0"/>
              </a:rPr>
              <a:t>Integration testing for inter-module consistency.</a:t>
            </a:r>
          </a:p>
          <a:p>
            <a:pPr marL="285750" indent="-200025" algn="just">
              <a:lnSpc>
                <a:spcPct val="150000"/>
              </a:lnSpc>
              <a:buFont typeface="Arial" panose="020B0604020202020204" pitchFamily="34" charset="0"/>
              <a:buChar char="•"/>
            </a:pPr>
            <a:r>
              <a:rPr lang="en-US" sz="1800" dirty="0">
                <a:latin typeface="Times New Roman" panose="02020603050405020304" pitchFamily="18" charset="0"/>
                <a:ea typeface="Tahoma" panose="020B0604030504040204" pitchFamily="34" charset="0"/>
                <a:cs typeface="Times New Roman" panose="02020603050405020304" pitchFamily="18" charset="0"/>
              </a:rPr>
              <a:t>Usability testing for clarity and responsiveness.</a:t>
            </a:r>
            <a:endParaRPr lang="en-IN" sz="18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908C8234-26CC-B199-E311-4A3C705C8EC3}"/>
              </a:ext>
            </a:extLst>
          </p:cNvPr>
          <p:cNvSpPr txBox="1"/>
          <p:nvPr/>
        </p:nvSpPr>
        <p:spPr>
          <a:xfrm>
            <a:off x="1371600" y="5307330"/>
            <a:ext cx="6400800" cy="1289071"/>
          </a:xfrm>
          <a:prstGeom prst="rect">
            <a:avLst/>
          </a:prstGeom>
          <a:noFill/>
        </p:spPr>
        <p:txBody>
          <a:bodyPr wrap="square" rtlCol="0">
            <a:spAutoFit/>
          </a:bodyPr>
          <a:lstStyle/>
          <a:p>
            <a:pPr algn="just">
              <a:lnSpc>
                <a:spcPct val="150000"/>
              </a:lnSpc>
            </a:pPr>
            <a:r>
              <a:rPr lang="en-US" sz="1800" b="1" dirty="0">
                <a:latin typeface="Times New Roman" panose="02020603050405020304" pitchFamily="18" charset="0"/>
                <a:cs typeface="Times New Roman" panose="02020603050405020304" pitchFamily="18" charset="0"/>
              </a:rPr>
              <a:t>Validation Results:</a:t>
            </a:r>
          </a:p>
          <a:p>
            <a:pPr marL="285750" indent="-1968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Cross-checked computed sub-indices with manual calculations.</a:t>
            </a:r>
          </a:p>
          <a:p>
            <a:pPr marL="285750" indent="-1968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Consistent and reproducible normalization confirmed.</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09828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E4CA5C44-208D-D1A5-DA16-6A9C1C7418F6}"/>
            </a:ext>
          </a:extLst>
        </p:cNvPr>
        <p:cNvGrpSpPr/>
        <p:nvPr/>
      </p:nvGrpSpPr>
      <p:grpSpPr>
        <a:xfrm>
          <a:off x="0" y="0"/>
          <a:ext cx="0" cy="0"/>
          <a:chOff x="0" y="0"/>
          <a:chExt cx="0" cy="0"/>
        </a:xfrm>
      </p:grpSpPr>
      <p:sp>
        <p:nvSpPr>
          <p:cNvPr id="140" name="Google Shape;140;p21">
            <a:extLst>
              <a:ext uri="{FF2B5EF4-FFF2-40B4-BE49-F238E27FC236}">
                <a16:creationId xmlns:a16="http://schemas.microsoft.com/office/drawing/2014/main" id="{494BB000-4EBF-D1A6-0060-1AD58081C38C}"/>
              </a:ext>
            </a:extLst>
          </p:cNvPr>
          <p:cNvSpPr txBox="1">
            <a:spLocks noGrp="1"/>
          </p:cNvSpPr>
          <p:nvPr>
            <p:ph type="title"/>
          </p:nvPr>
        </p:nvSpPr>
        <p:spPr>
          <a:xfrm>
            <a:off x="457200" y="116632"/>
            <a:ext cx="8229600" cy="864443"/>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Times New Roman"/>
              <a:buNone/>
            </a:pPr>
            <a:r>
              <a:rPr lang="en-US" sz="4000" dirty="0">
                <a:latin typeface="Times New Roman"/>
                <a:cs typeface="Times New Roman"/>
                <a:sym typeface="Times New Roman"/>
              </a:rPr>
              <a:t>PERFORMANCE ANALYSIS</a:t>
            </a:r>
            <a:endParaRPr dirty="0"/>
          </a:p>
        </p:txBody>
      </p:sp>
      <p:sp>
        <p:nvSpPr>
          <p:cNvPr id="7" name="TextBox 6">
            <a:extLst>
              <a:ext uri="{FF2B5EF4-FFF2-40B4-BE49-F238E27FC236}">
                <a16:creationId xmlns:a16="http://schemas.microsoft.com/office/drawing/2014/main" id="{DFB2A130-28AC-FEAA-2753-7615480D1797}"/>
              </a:ext>
            </a:extLst>
          </p:cNvPr>
          <p:cNvSpPr txBox="1"/>
          <p:nvPr/>
        </p:nvSpPr>
        <p:spPr>
          <a:xfrm>
            <a:off x="742950" y="1122471"/>
            <a:ext cx="7658100" cy="5028556"/>
          </a:xfrm>
          <a:prstGeom prst="rect">
            <a:avLst/>
          </a:prstGeom>
          <a:noFill/>
        </p:spPr>
        <p:txBody>
          <a:bodyPr wrap="square" rtlCol="0">
            <a:spAutoFit/>
          </a:bodyPr>
          <a:lstStyle/>
          <a:p>
            <a:pPr marL="85725" algn="just">
              <a:lnSpc>
                <a:spcPct val="150000"/>
              </a:lnSpc>
            </a:pPr>
            <a:r>
              <a:rPr lang="en-IN" sz="1800" b="1" dirty="0">
                <a:latin typeface="Times New Roman" panose="02020603050405020304" pitchFamily="18" charset="0"/>
                <a:ea typeface="Tahoma" panose="020B0604030504040204" pitchFamily="34" charset="0"/>
                <a:cs typeface="Times New Roman" panose="02020603050405020304" pitchFamily="18" charset="0"/>
              </a:rPr>
              <a:t>Quantitative Metrics:</a:t>
            </a:r>
          </a:p>
          <a:p>
            <a:pPr marL="371475" indent="-193675" algn="just">
              <a:lnSpc>
                <a:spcPct val="150000"/>
              </a:lnSpc>
              <a:buFont typeface="Arial" panose="020B0604020202020204" pitchFamily="34" charset="0"/>
              <a:buChar char="•"/>
            </a:pPr>
            <a:r>
              <a:rPr lang="en-IN" sz="1800" dirty="0">
                <a:latin typeface="Times New Roman" panose="02020603050405020304" pitchFamily="18" charset="0"/>
                <a:ea typeface="Tahoma" panose="020B0604030504040204" pitchFamily="34" charset="0"/>
                <a:cs typeface="Times New Roman" panose="02020603050405020304" pitchFamily="18" charset="0"/>
              </a:rPr>
              <a:t>Computation for all cities and years completed in less than 2 seconds.</a:t>
            </a:r>
          </a:p>
          <a:p>
            <a:pPr marL="371475" indent="-193675" algn="just">
              <a:lnSpc>
                <a:spcPct val="150000"/>
              </a:lnSpc>
              <a:buFont typeface="Arial" panose="020B0604020202020204" pitchFamily="34" charset="0"/>
              <a:buChar char="•"/>
            </a:pPr>
            <a:r>
              <a:rPr lang="en-IN" sz="1800" dirty="0">
                <a:latin typeface="Times New Roman" panose="02020603050405020304" pitchFamily="18" charset="0"/>
                <a:ea typeface="Tahoma" panose="020B0604030504040204" pitchFamily="34" charset="0"/>
                <a:cs typeface="Times New Roman" panose="02020603050405020304" pitchFamily="18" charset="0"/>
              </a:rPr>
              <a:t>Memory usage below 100 MB.</a:t>
            </a:r>
          </a:p>
          <a:p>
            <a:pPr marL="371475" indent="-193675" algn="just">
              <a:lnSpc>
                <a:spcPct val="150000"/>
              </a:lnSpc>
              <a:buFont typeface="Arial" panose="020B0604020202020204" pitchFamily="34" charset="0"/>
              <a:buChar char="•"/>
            </a:pPr>
            <a:r>
              <a:rPr lang="en-IN" sz="1800" dirty="0">
                <a:latin typeface="Times New Roman" panose="02020603050405020304" pitchFamily="18" charset="0"/>
                <a:ea typeface="Tahoma" panose="020B0604030504040204" pitchFamily="34" charset="0"/>
                <a:cs typeface="Times New Roman" panose="02020603050405020304" pitchFamily="18" charset="0"/>
              </a:rPr>
              <a:t>Visualization load time: 1-2 seconds per chart.</a:t>
            </a:r>
          </a:p>
          <a:p>
            <a:pPr marL="177800" algn="just">
              <a:lnSpc>
                <a:spcPct val="150000"/>
              </a:lnSpc>
            </a:pPr>
            <a:endParaRPr lang="en-IN" sz="1800" dirty="0">
              <a:latin typeface="Times New Roman" panose="02020603050405020304" pitchFamily="18" charset="0"/>
              <a:ea typeface="Tahoma" panose="020B0604030504040204" pitchFamily="34" charset="0"/>
              <a:cs typeface="Times New Roman" panose="02020603050405020304" pitchFamily="18" charset="0"/>
            </a:endParaRPr>
          </a:p>
          <a:p>
            <a:pPr marL="85725" algn="just">
              <a:lnSpc>
                <a:spcPct val="150000"/>
              </a:lnSpc>
            </a:pPr>
            <a:r>
              <a:rPr lang="en-IN" sz="1800" b="1" dirty="0">
                <a:latin typeface="Times New Roman" panose="02020603050405020304" pitchFamily="18" charset="0"/>
                <a:ea typeface="Tahoma" panose="020B0604030504040204" pitchFamily="34" charset="0"/>
                <a:cs typeface="Times New Roman" panose="02020603050405020304" pitchFamily="18" charset="0"/>
              </a:rPr>
              <a:t>Qualitative Assessment:</a:t>
            </a:r>
          </a:p>
          <a:p>
            <a:pPr marL="371475" indent="-193675" algn="just">
              <a:lnSpc>
                <a:spcPct val="150000"/>
              </a:lnSpc>
              <a:buFont typeface="Arial" panose="020B0604020202020204" pitchFamily="34" charset="0"/>
              <a:buChar char="•"/>
            </a:pPr>
            <a:r>
              <a:rPr lang="en-IN" sz="1800" dirty="0">
                <a:latin typeface="Times New Roman" panose="02020603050405020304" pitchFamily="18" charset="0"/>
                <a:ea typeface="Tahoma" panose="020B0604030504040204" pitchFamily="34" charset="0"/>
                <a:cs typeface="Times New Roman" panose="02020603050405020304" pitchFamily="18" charset="0"/>
              </a:rPr>
              <a:t>Stable and responsive user interface.</a:t>
            </a:r>
          </a:p>
          <a:p>
            <a:pPr marL="371475" indent="-193675" algn="just">
              <a:lnSpc>
                <a:spcPct val="150000"/>
              </a:lnSpc>
              <a:buFont typeface="Arial" panose="020B0604020202020204" pitchFamily="34" charset="0"/>
              <a:buChar char="•"/>
            </a:pPr>
            <a:r>
              <a:rPr lang="en-IN" sz="1800" dirty="0">
                <a:latin typeface="Times New Roman" panose="02020603050405020304" pitchFamily="18" charset="0"/>
                <a:ea typeface="Tahoma" panose="020B0604030504040204" pitchFamily="34" charset="0"/>
                <a:cs typeface="Times New Roman" panose="02020603050405020304" pitchFamily="18" charset="0"/>
              </a:rPr>
              <a:t>Real-time updates during user interaction.</a:t>
            </a:r>
          </a:p>
          <a:p>
            <a:pPr marL="371475" indent="-193675" algn="just">
              <a:lnSpc>
                <a:spcPct val="150000"/>
              </a:lnSpc>
              <a:buFont typeface="Arial" panose="020B0604020202020204" pitchFamily="34" charset="0"/>
              <a:buChar char="•"/>
            </a:pPr>
            <a:r>
              <a:rPr lang="en-IN" sz="1800" dirty="0">
                <a:latin typeface="Times New Roman" panose="02020603050405020304" pitchFamily="18" charset="0"/>
                <a:ea typeface="Tahoma" panose="020B0604030504040204" pitchFamily="34" charset="0"/>
                <a:cs typeface="Times New Roman" panose="02020603050405020304" pitchFamily="18" charset="0"/>
              </a:rPr>
              <a:t>100% functionality coverage across modules.</a:t>
            </a:r>
          </a:p>
          <a:p>
            <a:pPr marL="85725" algn="just">
              <a:lnSpc>
                <a:spcPct val="150000"/>
              </a:lnSpc>
            </a:pPr>
            <a:endParaRPr lang="en-IN" sz="1800" dirty="0">
              <a:latin typeface="Times New Roman" panose="02020603050405020304" pitchFamily="18" charset="0"/>
              <a:ea typeface="Tahoma" panose="020B0604030504040204" pitchFamily="34" charset="0"/>
              <a:cs typeface="Times New Roman" panose="02020603050405020304" pitchFamily="18" charset="0"/>
            </a:endParaRPr>
          </a:p>
          <a:p>
            <a:pPr marL="85725" algn="just">
              <a:lnSpc>
                <a:spcPct val="150000"/>
              </a:lnSpc>
            </a:pPr>
            <a:r>
              <a:rPr lang="en-IN" sz="1800" dirty="0">
                <a:latin typeface="Times New Roman" panose="02020603050405020304" pitchFamily="18" charset="0"/>
                <a:ea typeface="Tahoma" panose="020B0604030504040204" pitchFamily="34" charset="0"/>
                <a:cs typeface="Times New Roman" panose="02020603050405020304" pitchFamily="18" charset="0"/>
              </a:rPr>
              <a:t>The </a:t>
            </a:r>
            <a:r>
              <a:rPr lang="en-IN" sz="1800" dirty="0" err="1">
                <a:latin typeface="Times New Roman" panose="02020603050405020304" pitchFamily="18" charset="0"/>
                <a:ea typeface="Tahoma" panose="020B0604030504040204" pitchFamily="34" charset="0"/>
                <a:cs typeface="Times New Roman" panose="02020603050405020304" pitchFamily="18" charset="0"/>
              </a:rPr>
              <a:t>livability</a:t>
            </a:r>
            <a:r>
              <a:rPr lang="en-IN" sz="1800" dirty="0">
                <a:latin typeface="Times New Roman" panose="02020603050405020304" pitchFamily="18" charset="0"/>
                <a:ea typeface="Tahoma" panose="020B0604030504040204" pitchFamily="34" charset="0"/>
                <a:cs typeface="Times New Roman" panose="02020603050405020304" pitchFamily="18" charset="0"/>
              </a:rPr>
              <a:t> index model and </a:t>
            </a:r>
            <a:r>
              <a:rPr lang="en-IN" sz="1800" dirty="0" err="1">
                <a:latin typeface="Times New Roman" panose="02020603050405020304" pitchFamily="18" charset="0"/>
                <a:ea typeface="Tahoma" panose="020B0604030504040204" pitchFamily="34" charset="0"/>
                <a:cs typeface="Times New Roman" panose="02020603050405020304" pitchFamily="18" charset="0"/>
              </a:rPr>
              <a:t>Streamlit</a:t>
            </a:r>
            <a:r>
              <a:rPr lang="en-IN" sz="1800" dirty="0">
                <a:latin typeface="Times New Roman" panose="02020603050405020304" pitchFamily="18" charset="0"/>
                <a:ea typeface="Tahoma" panose="020B0604030504040204" pitchFamily="34" charset="0"/>
                <a:cs typeface="Times New Roman" panose="02020603050405020304" pitchFamily="18" charset="0"/>
              </a:rPr>
              <a:t> dashboard deliver accurate, efficient, and user-friendly performance across all analytical and visualization tasks.</a:t>
            </a:r>
          </a:p>
        </p:txBody>
      </p:sp>
    </p:spTree>
    <p:extLst>
      <p:ext uri="{BB962C8B-B14F-4D97-AF65-F5344CB8AC3E}">
        <p14:creationId xmlns:p14="http://schemas.microsoft.com/office/powerpoint/2010/main" val="18602891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2"/>
          <p:cNvSpPr txBox="1">
            <a:spLocks noGrp="1"/>
          </p:cNvSpPr>
          <p:nvPr>
            <p:ph type="title"/>
          </p:nvPr>
        </p:nvSpPr>
        <p:spPr>
          <a:xfrm>
            <a:off x="457200" y="116632"/>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Times New Roman"/>
              <a:buNone/>
            </a:pPr>
            <a:r>
              <a:rPr lang="en-US" sz="4000" dirty="0">
                <a:latin typeface="Times New Roman"/>
                <a:ea typeface="Times New Roman"/>
                <a:cs typeface="Times New Roman"/>
                <a:sym typeface="Times New Roman"/>
              </a:rPr>
              <a:t>SCREENSHOTS</a:t>
            </a:r>
            <a:endParaRPr dirty="0"/>
          </a:p>
        </p:txBody>
      </p:sp>
      <p:pic>
        <p:nvPicPr>
          <p:cNvPr id="147" name="Google Shape;147;p22"/>
          <p:cNvPicPr preferRelativeResize="0">
            <a:picLocks noChangeAspect="1"/>
          </p:cNvPicPr>
          <p:nvPr/>
        </p:nvPicPr>
        <p:blipFill rotWithShape="1">
          <a:blip r:embed="rId3">
            <a:alphaModFix/>
          </a:blip>
          <a:srcRect/>
          <a:stretch/>
        </p:blipFill>
        <p:spPr>
          <a:xfrm>
            <a:off x="146304" y="3136675"/>
            <a:ext cx="4832046" cy="3240000"/>
          </a:xfrm>
          <a:prstGeom prst="rect">
            <a:avLst/>
          </a:prstGeom>
          <a:noFill/>
          <a:ln>
            <a:noFill/>
          </a:ln>
        </p:spPr>
      </p:pic>
      <p:sp>
        <p:nvSpPr>
          <p:cNvPr id="149" name="Google Shape;149;p22"/>
          <p:cNvSpPr txBox="1"/>
          <p:nvPr/>
        </p:nvSpPr>
        <p:spPr>
          <a:xfrm>
            <a:off x="933600" y="1186199"/>
            <a:ext cx="7276800" cy="1280775"/>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500"/>
              <a:buFont typeface="Arial"/>
              <a:buNone/>
            </a:pPr>
            <a:r>
              <a:rPr lang="en-US" sz="2500" b="0" i="0" u="none" strike="noStrike" cap="none" dirty="0">
                <a:solidFill>
                  <a:schemeClr val="dk1"/>
                </a:solidFill>
                <a:latin typeface="Times New Roman"/>
                <a:ea typeface="Times New Roman"/>
                <a:cs typeface="Times New Roman"/>
                <a:sym typeface="Times New Roman"/>
              </a:rPr>
              <a:t>Live Link - </a:t>
            </a:r>
            <a:r>
              <a:rPr lang="en-US" sz="2500" b="0" i="0" u="sng" strike="noStrike" cap="none" dirty="0">
                <a:solidFill>
                  <a:schemeClr val="hlink"/>
                </a:solidFill>
                <a:latin typeface="Times New Roman"/>
                <a:ea typeface="Times New Roman"/>
                <a:cs typeface="Times New Roman"/>
                <a:sym typeface="Times New Roman"/>
                <a:hlinkClick r:id="rId4"/>
              </a:rPr>
              <a:t>Urban Livability App</a:t>
            </a:r>
            <a:endParaRPr lang="en-US" sz="2500" b="0" i="0" u="sng" strike="noStrike" cap="none" dirty="0">
              <a:solidFill>
                <a:schemeClr val="hlink"/>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500"/>
              <a:buFont typeface="Arial"/>
              <a:buNone/>
            </a:pPr>
            <a:endParaRPr lang="en-US" sz="2500" u="sng" dirty="0">
              <a:solidFill>
                <a:schemeClr val="hlink"/>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500"/>
              <a:buFont typeface="Arial"/>
              <a:buNone/>
            </a:pPr>
            <a:r>
              <a:rPr lang="en-US" sz="2500" b="0" i="0" strike="noStrike" cap="none" dirty="0">
                <a:solidFill>
                  <a:schemeClr val="tx1"/>
                </a:solidFill>
                <a:latin typeface="Times New Roman"/>
                <a:ea typeface="Times New Roman"/>
                <a:cs typeface="Times New Roman"/>
                <a:sym typeface="Times New Roman"/>
              </a:rPr>
              <a:t>Github Link - </a:t>
            </a:r>
            <a:r>
              <a:rPr lang="en-US" sz="2500" b="0" i="0" strike="noStrike" cap="none" dirty="0" err="1">
                <a:solidFill>
                  <a:schemeClr val="tx1"/>
                </a:solidFill>
                <a:latin typeface="Times New Roman"/>
                <a:ea typeface="Times New Roman"/>
                <a:cs typeface="Times New Roman"/>
                <a:sym typeface="Times New Roman"/>
                <a:hlinkClick r:id="rId5"/>
              </a:rPr>
              <a:t>Github</a:t>
            </a:r>
            <a:r>
              <a:rPr lang="en-US" sz="2500" b="0" i="0" strike="noStrike" cap="none" dirty="0">
                <a:solidFill>
                  <a:schemeClr val="tx1"/>
                </a:solidFill>
                <a:latin typeface="Times New Roman"/>
                <a:ea typeface="Times New Roman"/>
                <a:cs typeface="Times New Roman"/>
                <a:sym typeface="Times New Roman"/>
                <a:hlinkClick r:id="rId5"/>
              </a:rPr>
              <a:t> Urban Livability App</a:t>
            </a:r>
            <a:endParaRPr lang="en-US" sz="2500" b="0" i="0" strike="noStrike" cap="none" dirty="0">
              <a:solidFill>
                <a:schemeClr val="tx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500"/>
              <a:buFont typeface="Arial"/>
              <a:buNone/>
            </a:pPr>
            <a:endParaRPr lang="en-US" sz="2500" u="sng" dirty="0">
              <a:solidFill>
                <a:schemeClr val="hlink"/>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500"/>
              <a:buFont typeface="Arial"/>
              <a:buNone/>
            </a:pPr>
            <a:endParaRPr sz="2500" b="0" i="0" u="none" strike="noStrike" cap="none" dirty="0">
              <a:solidFill>
                <a:schemeClr val="dk1"/>
              </a:solidFill>
              <a:latin typeface="Times New Roman"/>
              <a:ea typeface="Times New Roman"/>
              <a:cs typeface="Times New Roman"/>
              <a:sym typeface="Times New Roman"/>
            </a:endParaRPr>
          </a:p>
        </p:txBody>
      </p:sp>
      <p:pic>
        <p:nvPicPr>
          <p:cNvPr id="2" name="Picture 1">
            <a:extLst>
              <a:ext uri="{FF2B5EF4-FFF2-40B4-BE49-F238E27FC236}">
                <a16:creationId xmlns:a16="http://schemas.microsoft.com/office/drawing/2014/main" id="{FFB82EAE-9154-8FEB-BDE9-66180FCC41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37696" y="2937372"/>
            <a:ext cx="3960000" cy="363860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2FB991BE-4ABB-7EF1-CCF2-584083133F88}"/>
            </a:ext>
          </a:extLst>
        </p:cNvPr>
        <p:cNvGrpSpPr/>
        <p:nvPr/>
      </p:nvGrpSpPr>
      <p:grpSpPr>
        <a:xfrm>
          <a:off x="0" y="0"/>
          <a:ext cx="0" cy="0"/>
          <a:chOff x="0" y="0"/>
          <a:chExt cx="0" cy="0"/>
        </a:xfrm>
      </p:grpSpPr>
      <p:sp>
        <p:nvSpPr>
          <p:cNvPr id="154" name="Google Shape;154;p23">
            <a:extLst>
              <a:ext uri="{FF2B5EF4-FFF2-40B4-BE49-F238E27FC236}">
                <a16:creationId xmlns:a16="http://schemas.microsoft.com/office/drawing/2014/main" id="{91943089-8897-B37E-857D-9187910694DA}"/>
              </a:ext>
            </a:extLst>
          </p:cNvPr>
          <p:cNvSpPr txBox="1">
            <a:spLocks noGrp="1"/>
          </p:cNvSpPr>
          <p:nvPr>
            <p:ph type="title"/>
          </p:nvPr>
        </p:nvSpPr>
        <p:spPr>
          <a:xfrm>
            <a:off x="457200" y="116632"/>
            <a:ext cx="8229600" cy="864443"/>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Times New Roman"/>
              <a:buNone/>
            </a:pPr>
            <a:r>
              <a:rPr lang="en-US" sz="4000" dirty="0">
                <a:latin typeface="Times New Roman"/>
                <a:ea typeface="Times New Roman"/>
                <a:cs typeface="Times New Roman"/>
                <a:sym typeface="Times New Roman"/>
              </a:rPr>
              <a:t>SCREENSHOTS</a:t>
            </a:r>
            <a:endParaRPr dirty="0"/>
          </a:p>
        </p:txBody>
      </p:sp>
      <p:pic>
        <p:nvPicPr>
          <p:cNvPr id="2" name="Picture 1">
            <a:extLst>
              <a:ext uri="{FF2B5EF4-FFF2-40B4-BE49-F238E27FC236}">
                <a16:creationId xmlns:a16="http://schemas.microsoft.com/office/drawing/2014/main" id="{4E741E2D-3BF5-D374-D786-D388E22388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0760" y="1173262"/>
            <a:ext cx="3981387" cy="5004000"/>
          </a:xfrm>
          <a:prstGeom prst="rect">
            <a:avLst/>
          </a:prstGeom>
        </p:spPr>
      </p:pic>
      <p:pic>
        <p:nvPicPr>
          <p:cNvPr id="155" name="Google Shape;155;p23"/>
          <p:cNvPicPr preferRelativeResize="0">
            <a:picLocks noChangeAspect="1"/>
          </p:cNvPicPr>
          <p:nvPr/>
        </p:nvPicPr>
        <p:blipFill rotWithShape="1">
          <a:blip r:embed="rId4">
            <a:alphaModFix/>
          </a:blip>
          <a:srcRect/>
          <a:stretch/>
        </p:blipFill>
        <p:spPr>
          <a:xfrm>
            <a:off x="4572001" y="1173262"/>
            <a:ext cx="4301239" cy="5004000"/>
          </a:xfrm>
          <a:prstGeom prst="rect">
            <a:avLst/>
          </a:prstGeom>
          <a:noFill/>
          <a:ln>
            <a:noFill/>
          </a:ln>
        </p:spPr>
      </p:pic>
    </p:spTree>
    <p:extLst>
      <p:ext uri="{BB962C8B-B14F-4D97-AF65-F5344CB8AC3E}">
        <p14:creationId xmlns:p14="http://schemas.microsoft.com/office/powerpoint/2010/main" val="15664089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2B5EFDB3-EF31-26E9-19C4-7E25F25455D0}"/>
            </a:ext>
          </a:extLst>
        </p:cNvPr>
        <p:cNvGrpSpPr/>
        <p:nvPr/>
      </p:nvGrpSpPr>
      <p:grpSpPr>
        <a:xfrm>
          <a:off x="0" y="0"/>
          <a:ext cx="0" cy="0"/>
          <a:chOff x="0" y="0"/>
          <a:chExt cx="0" cy="0"/>
        </a:xfrm>
      </p:grpSpPr>
      <p:sp>
        <p:nvSpPr>
          <p:cNvPr id="154" name="Google Shape;154;p23">
            <a:extLst>
              <a:ext uri="{FF2B5EF4-FFF2-40B4-BE49-F238E27FC236}">
                <a16:creationId xmlns:a16="http://schemas.microsoft.com/office/drawing/2014/main" id="{D894C7EA-C4A3-E26C-28F6-B5EDCAEE313D}"/>
              </a:ext>
            </a:extLst>
          </p:cNvPr>
          <p:cNvSpPr txBox="1">
            <a:spLocks noGrp="1"/>
          </p:cNvSpPr>
          <p:nvPr>
            <p:ph type="title"/>
          </p:nvPr>
        </p:nvSpPr>
        <p:spPr>
          <a:xfrm>
            <a:off x="457200" y="116632"/>
            <a:ext cx="8229600" cy="912068"/>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Times New Roman"/>
              <a:buNone/>
            </a:pPr>
            <a:r>
              <a:rPr lang="en-US" sz="4000" dirty="0">
                <a:latin typeface="Times New Roman"/>
                <a:ea typeface="Times New Roman"/>
                <a:cs typeface="Times New Roman"/>
                <a:sym typeface="Times New Roman"/>
              </a:rPr>
              <a:t>SCREENSHOTS</a:t>
            </a:r>
            <a:endParaRPr dirty="0"/>
          </a:p>
        </p:txBody>
      </p:sp>
      <p:pic>
        <p:nvPicPr>
          <p:cNvPr id="2" name="Picture 1">
            <a:extLst>
              <a:ext uri="{FF2B5EF4-FFF2-40B4-BE49-F238E27FC236}">
                <a16:creationId xmlns:a16="http://schemas.microsoft.com/office/drawing/2014/main" id="{F86856FF-DBD8-BB85-C735-A5563AFFCB6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13416" y="1809000"/>
            <a:ext cx="4530584" cy="3240000"/>
          </a:xfrm>
          <a:prstGeom prst="rect">
            <a:avLst/>
          </a:prstGeom>
        </p:spPr>
      </p:pic>
      <p:pic>
        <p:nvPicPr>
          <p:cNvPr id="148" name="Google Shape;148;p22"/>
          <p:cNvPicPr preferRelativeResize="0">
            <a:picLocks noChangeAspect="1"/>
          </p:cNvPicPr>
          <p:nvPr/>
        </p:nvPicPr>
        <p:blipFill rotWithShape="1">
          <a:blip r:embed="rId4">
            <a:alphaModFix/>
          </a:blip>
          <a:srcRect/>
          <a:stretch/>
        </p:blipFill>
        <p:spPr>
          <a:xfrm>
            <a:off x="0" y="1809000"/>
            <a:ext cx="4367402" cy="3240000"/>
          </a:xfrm>
          <a:prstGeom prst="rect">
            <a:avLst/>
          </a:prstGeom>
          <a:noFill/>
          <a:ln>
            <a:noFill/>
          </a:ln>
        </p:spPr>
      </p:pic>
    </p:spTree>
    <p:extLst>
      <p:ext uri="{BB962C8B-B14F-4D97-AF65-F5344CB8AC3E}">
        <p14:creationId xmlns:p14="http://schemas.microsoft.com/office/powerpoint/2010/main" val="8630616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5"/>
          <p:cNvSpPr txBox="1">
            <a:spLocks noGrp="1"/>
          </p:cNvSpPr>
          <p:nvPr>
            <p:ph type="title"/>
          </p:nvPr>
        </p:nvSpPr>
        <p:spPr>
          <a:xfrm>
            <a:off x="457200" y="116632"/>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Times New Roman"/>
              <a:buNone/>
            </a:pPr>
            <a:r>
              <a:rPr lang="en-US" sz="4000">
                <a:latin typeface="Times New Roman"/>
                <a:ea typeface="Times New Roman"/>
                <a:cs typeface="Times New Roman"/>
                <a:sym typeface="Times New Roman"/>
              </a:rPr>
              <a:t>CONCLUSION</a:t>
            </a:r>
            <a:endParaRPr/>
          </a:p>
        </p:txBody>
      </p:sp>
      <p:sp>
        <p:nvSpPr>
          <p:cNvPr id="167" name="Google Shape;167;p25"/>
          <p:cNvSpPr txBox="1"/>
          <p:nvPr/>
        </p:nvSpPr>
        <p:spPr>
          <a:xfrm>
            <a:off x="215950" y="1036700"/>
            <a:ext cx="8715300" cy="5462700"/>
          </a:xfrm>
          <a:prstGeom prst="rect">
            <a:avLst/>
          </a:prstGeom>
          <a:noFill/>
          <a:ln>
            <a:noFill/>
          </a:ln>
        </p:spPr>
        <p:txBody>
          <a:bodyPr spcFirstLastPara="1" wrap="square" lIns="91425" tIns="91425" rIns="91425" bIns="91425" anchor="t" anchorCtr="0">
            <a:noAutofit/>
          </a:bodyPr>
          <a:lstStyle/>
          <a:p>
            <a:pPr marL="457200" marR="0" lvl="0" indent="-342900" algn="just" rtl="0">
              <a:lnSpc>
                <a:spcPct val="150000"/>
              </a:lnSpc>
              <a:spcBef>
                <a:spcPts val="0"/>
              </a:spcBef>
              <a:spcAft>
                <a:spcPts val="0"/>
              </a:spcAft>
              <a:buClr>
                <a:schemeClr val="dk1"/>
              </a:buClr>
              <a:buSzPts val="1800"/>
              <a:buFont typeface="Times New Roman"/>
              <a:buChar char="●"/>
            </a:pPr>
            <a:r>
              <a:rPr lang="en-US" sz="1800" b="0" i="0" u="none" strike="noStrike" cap="none" dirty="0">
                <a:solidFill>
                  <a:schemeClr val="dk1"/>
                </a:solidFill>
                <a:latin typeface="Times New Roman"/>
                <a:ea typeface="Times New Roman"/>
                <a:cs typeface="Times New Roman"/>
                <a:sym typeface="Times New Roman"/>
              </a:rPr>
              <a:t>In conclusion, this research analyzed livability in selected Indian cities by examining key Sustainable Development Goals (SDG) indicators such as air quality, population density, health, and poverty. The analysis revealed significant differences in livability not only between cities but also across the various sub-indicators measured.</a:t>
            </a:r>
            <a:endParaRPr lang="en-US" sz="1800" dirty="0">
              <a:solidFill>
                <a:schemeClr val="dk1"/>
              </a:solidFill>
              <a:latin typeface="Times New Roman"/>
              <a:ea typeface="Times New Roman"/>
              <a:cs typeface="Times New Roman"/>
              <a:sym typeface="Times New Roman"/>
            </a:endParaRPr>
          </a:p>
          <a:p>
            <a:pPr marL="714375" lvl="1" indent="-266700" algn="just">
              <a:lnSpc>
                <a:spcPct val="150000"/>
              </a:lnSpc>
              <a:buClr>
                <a:schemeClr val="dk1"/>
              </a:buClr>
              <a:buSzPts val="1800"/>
              <a:buFont typeface="Courier New" panose="02070309020205020404" pitchFamily="49" charset="0"/>
              <a:buChar char="o"/>
            </a:pPr>
            <a:r>
              <a:rPr lang="en-US" sz="1800" b="1" i="0" u="none" strike="noStrike" cap="none" dirty="0">
                <a:solidFill>
                  <a:schemeClr val="dk1"/>
                </a:solidFill>
                <a:latin typeface="Times New Roman"/>
                <a:ea typeface="Times New Roman"/>
                <a:cs typeface="Times New Roman"/>
                <a:sym typeface="Times New Roman"/>
              </a:rPr>
              <a:t>Chennai</a:t>
            </a:r>
            <a:r>
              <a:rPr lang="en-US" sz="1800" b="0" i="0" u="none" strike="noStrike" cap="none" dirty="0">
                <a:solidFill>
                  <a:schemeClr val="dk1"/>
                </a:solidFill>
                <a:latin typeface="Times New Roman"/>
                <a:ea typeface="Times New Roman"/>
                <a:cs typeface="Times New Roman"/>
                <a:sym typeface="Times New Roman"/>
              </a:rPr>
              <a:t> - balanced performance driven by consistent policy efforts.</a:t>
            </a:r>
          </a:p>
          <a:p>
            <a:pPr marL="714375" lvl="1" indent="-266700" algn="just">
              <a:lnSpc>
                <a:spcPct val="150000"/>
              </a:lnSpc>
              <a:buClr>
                <a:schemeClr val="dk1"/>
              </a:buClr>
              <a:buSzPts val="1800"/>
              <a:buFont typeface="Courier New" panose="02070309020205020404" pitchFamily="49" charset="0"/>
              <a:buChar char="o"/>
            </a:pPr>
            <a:r>
              <a:rPr lang="en-US" sz="1800" b="1" i="0" u="none" strike="noStrike" cap="none" dirty="0">
                <a:solidFill>
                  <a:schemeClr val="dk1"/>
                </a:solidFill>
                <a:latin typeface="Times New Roman"/>
                <a:ea typeface="Times New Roman"/>
                <a:cs typeface="Times New Roman"/>
                <a:sym typeface="Times New Roman"/>
              </a:rPr>
              <a:t>Delhi</a:t>
            </a:r>
            <a:r>
              <a:rPr lang="en-US" sz="1800" b="0" i="0" u="none" strike="noStrike" cap="none" dirty="0">
                <a:solidFill>
                  <a:schemeClr val="dk1"/>
                </a:solidFill>
                <a:latin typeface="Times New Roman"/>
                <a:ea typeface="Times New Roman"/>
                <a:cs typeface="Times New Roman"/>
                <a:sym typeface="Times New Roman"/>
              </a:rPr>
              <a:t> - major challenges, particularly in air quality and population density.</a:t>
            </a:r>
          </a:p>
          <a:p>
            <a:pPr marL="714375" lvl="1" indent="-266700" algn="just">
              <a:lnSpc>
                <a:spcPct val="150000"/>
              </a:lnSpc>
              <a:buClr>
                <a:schemeClr val="dk1"/>
              </a:buClr>
              <a:buSzPts val="1800"/>
              <a:buFont typeface="Courier New" panose="02070309020205020404" pitchFamily="49" charset="0"/>
              <a:buChar char="o"/>
            </a:pPr>
            <a:r>
              <a:rPr lang="en-US" sz="1800" b="1" i="0" u="none" strike="noStrike" cap="none" dirty="0">
                <a:solidFill>
                  <a:schemeClr val="dk1"/>
                </a:solidFill>
                <a:latin typeface="Times New Roman"/>
                <a:ea typeface="Times New Roman"/>
                <a:cs typeface="Times New Roman"/>
                <a:sym typeface="Times New Roman"/>
              </a:rPr>
              <a:t>Kolkata</a:t>
            </a:r>
            <a:r>
              <a:rPr lang="en-US" sz="1800" b="0" i="0" u="none" strike="noStrike" cap="none" dirty="0">
                <a:solidFill>
                  <a:schemeClr val="dk1"/>
                </a:solidFill>
                <a:latin typeface="Times New Roman"/>
                <a:ea typeface="Times New Roman"/>
                <a:cs typeface="Times New Roman"/>
                <a:sym typeface="Times New Roman"/>
              </a:rPr>
              <a:t> - gradual improvement in health and poverty, but progress remains uneven.</a:t>
            </a:r>
          </a:p>
          <a:p>
            <a:pPr marL="714375" lvl="1" indent="-266700" algn="just">
              <a:lnSpc>
                <a:spcPct val="150000"/>
              </a:lnSpc>
              <a:buClr>
                <a:schemeClr val="dk1"/>
              </a:buClr>
              <a:buSzPts val="1800"/>
              <a:buFont typeface="Courier New" panose="02070309020205020404" pitchFamily="49" charset="0"/>
              <a:buChar char="o"/>
            </a:pPr>
            <a:r>
              <a:rPr lang="en-US" sz="1800" b="1" i="0" u="none" strike="noStrike" cap="none" dirty="0">
                <a:solidFill>
                  <a:schemeClr val="dk1"/>
                </a:solidFill>
                <a:latin typeface="Times New Roman"/>
                <a:ea typeface="Times New Roman"/>
                <a:cs typeface="Times New Roman"/>
                <a:sym typeface="Times New Roman"/>
              </a:rPr>
              <a:t>Mumbai</a:t>
            </a:r>
            <a:r>
              <a:rPr lang="en-US" sz="1800" b="0" i="0" u="none" strike="noStrike" cap="none" dirty="0">
                <a:solidFill>
                  <a:schemeClr val="dk1"/>
                </a:solidFill>
                <a:latin typeface="Times New Roman"/>
                <a:ea typeface="Times New Roman"/>
                <a:cs typeface="Times New Roman"/>
                <a:sym typeface="Times New Roman"/>
              </a:rPr>
              <a:t> - steady performance across sub-indices.</a:t>
            </a:r>
          </a:p>
          <a:p>
            <a:pPr marL="714375" lvl="1" indent="-266700" algn="just">
              <a:lnSpc>
                <a:spcPct val="150000"/>
              </a:lnSpc>
              <a:buClr>
                <a:schemeClr val="dk1"/>
              </a:buClr>
              <a:buSzPts val="1800"/>
              <a:buFont typeface="Courier New" panose="02070309020205020404" pitchFamily="49" charset="0"/>
              <a:buChar char="o"/>
            </a:pPr>
            <a:r>
              <a:rPr lang="en-US" sz="1800" b="1" i="0" u="none" strike="noStrike" cap="none" dirty="0">
                <a:solidFill>
                  <a:schemeClr val="dk1"/>
                </a:solidFill>
                <a:latin typeface="Times New Roman"/>
                <a:ea typeface="Times New Roman"/>
                <a:cs typeface="Times New Roman"/>
                <a:sym typeface="Times New Roman"/>
              </a:rPr>
              <a:t>Bangalore</a:t>
            </a:r>
            <a:r>
              <a:rPr lang="en-US" sz="1800" b="0" i="0" u="none" strike="noStrike" cap="none" dirty="0">
                <a:solidFill>
                  <a:schemeClr val="dk1"/>
                </a:solidFill>
                <a:latin typeface="Times New Roman"/>
                <a:ea typeface="Times New Roman"/>
                <a:cs typeface="Times New Roman"/>
                <a:sym typeface="Times New Roman"/>
              </a:rPr>
              <a:t> - excels in population density and healthcare but faces challenges in poverty and infrastructure.</a:t>
            </a:r>
          </a:p>
          <a:p>
            <a:pPr marL="457200" marR="0" lvl="0" indent="-342900" algn="just" rtl="0">
              <a:lnSpc>
                <a:spcPct val="150000"/>
              </a:lnSpc>
              <a:spcBef>
                <a:spcPts val="0"/>
              </a:spcBef>
              <a:spcAft>
                <a:spcPts val="0"/>
              </a:spcAft>
              <a:buClr>
                <a:schemeClr val="dk1"/>
              </a:buClr>
              <a:buSzPts val="1800"/>
              <a:buFont typeface="Times New Roman"/>
              <a:buChar char="●"/>
            </a:pPr>
            <a:r>
              <a:rPr lang="en-US" sz="1800" b="0" i="0" u="none" strike="noStrike" cap="none" dirty="0">
                <a:solidFill>
                  <a:schemeClr val="dk1"/>
                </a:solidFill>
                <a:latin typeface="Times New Roman"/>
                <a:ea typeface="Times New Roman"/>
                <a:cs typeface="Times New Roman"/>
                <a:sym typeface="Times New Roman"/>
              </a:rPr>
              <a:t>Overall, the study emphasizes the need for targeted, SDG-driven policies to improve urban livability across diverse Indian cities.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4"/>
          <p:cNvSpPr txBox="1">
            <a:spLocks noGrp="1"/>
          </p:cNvSpPr>
          <p:nvPr>
            <p:ph type="title"/>
          </p:nvPr>
        </p:nvSpPr>
        <p:spPr>
          <a:xfrm>
            <a:off x="457200" y="116632"/>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Times New Roman"/>
              <a:buNone/>
            </a:pPr>
            <a:r>
              <a:rPr lang="en-US" sz="4000">
                <a:latin typeface="Times New Roman"/>
                <a:ea typeface="Times New Roman"/>
                <a:cs typeface="Times New Roman"/>
                <a:sym typeface="Times New Roman"/>
              </a:rPr>
              <a:t>FUTURE SCOPE</a:t>
            </a:r>
            <a:endParaRPr/>
          </a:p>
        </p:txBody>
      </p:sp>
      <p:sp>
        <p:nvSpPr>
          <p:cNvPr id="161" name="Google Shape;161;p24"/>
          <p:cNvSpPr txBox="1"/>
          <p:nvPr/>
        </p:nvSpPr>
        <p:spPr>
          <a:xfrm>
            <a:off x="568175" y="1375575"/>
            <a:ext cx="7964400" cy="4465800"/>
          </a:xfrm>
          <a:prstGeom prst="rect">
            <a:avLst/>
          </a:prstGeom>
          <a:noFill/>
          <a:ln>
            <a:noFill/>
          </a:ln>
        </p:spPr>
        <p:txBody>
          <a:bodyPr spcFirstLastPara="1" wrap="square" lIns="91425" tIns="91425" rIns="91425" bIns="91425" anchor="t" anchorCtr="0">
            <a:noAutofit/>
          </a:bodyPr>
          <a:lstStyle/>
          <a:p>
            <a:pPr marL="457200" marR="0" lvl="0" indent="-342900" algn="just" rtl="0">
              <a:lnSpc>
                <a:spcPct val="150000"/>
              </a:lnSpc>
              <a:spcBef>
                <a:spcPts val="0"/>
              </a:spcBef>
              <a:spcAft>
                <a:spcPts val="0"/>
              </a:spcAft>
              <a:buClr>
                <a:schemeClr val="dk1"/>
              </a:buClr>
              <a:buSzPts val="1800"/>
              <a:buFont typeface="Times New Roman"/>
              <a:buChar char="●"/>
            </a:pPr>
            <a:r>
              <a:rPr lang="en-US" sz="1800" b="0" i="0" u="none" strike="noStrike" cap="none">
                <a:solidFill>
                  <a:schemeClr val="dk1"/>
                </a:solidFill>
                <a:latin typeface="Times New Roman"/>
                <a:ea typeface="Times New Roman"/>
                <a:cs typeface="Times New Roman"/>
                <a:sym typeface="Times New Roman"/>
              </a:rPr>
              <a:t>To develop a more extensive understanding of urban livability aligned with sustainability standards, future research should incorporate a wider range of indicators beyond air quality, population density, health, and poverty.</a:t>
            </a:r>
            <a:endParaRPr sz="1800" b="0" i="0" u="none" strike="noStrike" cap="none">
              <a:solidFill>
                <a:schemeClr val="dk1"/>
              </a:solidFill>
              <a:latin typeface="Times New Roman"/>
              <a:ea typeface="Times New Roman"/>
              <a:cs typeface="Times New Roman"/>
              <a:sym typeface="Times New Roman"/>
            </a:endParaRPr>
          </a:p>
          <a:p>
            <a:pPr marL="457200" marR="0" lvl="0" indent="-342900" algn="just" rtl="0">
              <a:lnSpc>
                <a:spcPct val="150000"/>
              </a:lnSpc>
              <a:spcBef>
                <a:spcPts val="0"/>
              </a:spcBef>
              <a:spcAft>
                <a:spcPts val="0"/>
              </a:spcAft>
              <a:buClr>
                <a:schemeClr val="dk1"/>
              </a:buClr>
              <a:buSzPts val="1800"/>
              <a:buFont typeface="Times New Roman"/>
              <a:buChar char="●"/>
            </a:pPr>
            <a:r>
              <a:rPr lang="en-US" sz="1800" b="0" i="0" u="none" strike="noStrike" cap="none">
                <a:solidFill>
                  <a:schemeClr val="dk1"/>
                </a:solidFill>
                <a:latin typeface="Times New Roman"/>
                <a:ea typeface="Times New Roman"/>
                <a:cs typeface="Times New Roman"/>
                <a:sym typeface="Times New Roman"/>
              </a:rPr>
              <a:t>Metrics that cover other aspects of infrastructural development and also social and economic development are also essential for capturing sustainable urban development comprehensively.</a:t>
            </a:r>
            <a:endParaRPr sz="1800" b="0" i="0" u="none" strike="noStrike" cap="none">
              <a:solidFill>
                <a:schemeClr val="dk1"/>
              </a:solidFill>
              <a:latin typeface="Times New Roman"/>
              <a:ea typeface="Times New Roman"/>
              <a:cs typeface="Times New Roman"/>
              <a:sym typeface="Times New Roman"/>
            </a:endParaRPr>
          </a:p>
          <a:p>
            <a:pPr marL="457200" marR="0" lvl="0" indent="-342900" algn="just" rtl="0">
              <a:lnSpc>
                <a:spcPct val="150000"/>
              </a:lnSpc>
              <a:spcBef>
                <a:spcPts val="0"/>
              </a:spcBef>
              <a:spcAft>
                <a:spcPts val="0"/>
              </a:spcAft>
              <a:buClr>
                <a:schemeClr val="dk1"/>
              </a:buClr>
              <a:buSzPts val="1800"/>
              <a:buFont typeface="Times New Roman"/>
              <a:buChar char="●"/>
            </a:pPr>
            <a:r>
              <a:rPr lang="en-US" sz="1800" b="0" i="0" u="none" strike="noStrike" cap="none">
                <a:solidFill>
                  <a:schemeClr val="dk1"/>
                </a:solidFill>
                <a:latin typeface="Times New Roman"/>
                <a:ea typeface="Times New Roman"/>
                <a:cs typeface="Times New Roman"/>
                <a:sym typeface="Times New Roman"/>
              </a:rPr>
              <a:t>Leveraging emerging technologies like AI, IoT, and big data analytics can also support real-time data collection and smarter urban management strategies.</a:t>
            </a:r>
            <a:endParaRPr sz="18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6"/>
          <p:cNvSpPr txBox="1">
            <a:spLocks noGrp="1"/>
          </p:cNvSpPr>
          <p:nvPr>
            <p:ph type="title"/>
          </p:nvPr>
        </p:nvSpPr>
        <p:spPr>
          <a:xfrm>
            <a:off x="457200" y="116632"/>
            <a:ext cx="8229600" cy="850106"/>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Times New Roman"/>
              <a:buNone/>
            </a:pPr>
            <a:r>
              <a:rPr lang="en-US" sz="4000">
                <a:latin typeface="Times New Roman"/>
                <a:ea typeface="Times New Roman"/>
                <a:cs typeface="Times New Roman"/>
                <a:sym typeface="Times New Roman"/>
              </a:rPr>
              <a:t>REFERENCES</a:t>
            </a:r>
            <a:endParaRPr sz="4000">
              <a:latin typeface="Times New Roman"/>
              <a:ea typeface="Times New Roman"/>
              <a:cs typeface="Times New Roman"/>
              <a:sym typeface="Times New Roman"/>
            </a:endParaRPr>
          </a:p>
        </p:txBody>
      </p:sp>
      <p:sp>
        <p:nvSpPr>
          <p:cNvPr id="173" name="Google Shape;173;p26"/>
          <p:cNvSpPr txBox="1">
            <a:spLocks noGrp="1"/>
          </p:cNvSpPr>
          <p:nvPr>
            <p:ph type="body" idx="1"/>
          </p:nvPr>
        </p:nvSpPr>
        <p:spPr>
          <a:xfrm>
            <a:off x="457200" y="1175941"/>
            <a:ext cx="8229600" cy="5001419"/>
          </a:xfrm>
          <a:prstGeom prst="rect">
            <a:avLst/>
          </a:prstGeom>
          <a:noFill/>
          <a:ln>
            <a:noFill/>
          </a:ln>
        </p:spPr>
        <p:txBody>
          <a:bodyPr spcFirstLastPara="1" wrap="square" lIns="91425" tIns="45700" rIns="91425" bIns="45700" anchor="t" anchorCtr="0">
            <a:normAutofit lnSpcReduction="10000"/>
          </a:bodyPr>
          <a:lstStyle/>
          <a:p>
            <a:pPr marL="342900" algn="just">
              <a:lnSpc>
                <a:spcPct val="120000"/>
              </a:lnSpc>
              <a:spcBef>
                <a:spcPts val="0"/>
              </a:spcBef>
              <a:buSzPts val="2000"/>
            </a:pPr>
            <a:r>
              <a:rPr lang="en-US" sz="1600" dirty="0">
                <a:uFill>
                  <a:noFill/>
                </a:uFill>
                <a:latin typeface="Times New Roman"/>
                <a:ea typeface="Times New Roman"/>
                <a:cs typeface="Times New Roman"/>
                <a:sym typeface="Times New Roman"/>
                <a:hlinkClick r:id="rId3"/>
              </a:rPr>
              <a:t>Shrikant Salve, Shubham Bombarde, A. Agrawal, Smruti </a:t>
            </a:r>
            <a:r>
              <a:rPr lang="en-US" sz="1600" dirty="0" err="1">
                <a:uFill>
                  <a:noFill/>
                </a:uFill>
                <a:latin typeface="Times New Roman"/>
                <a:ea typeface="Times New Roman"/>
                <a:cs typeface="Times New Roman"/>
                <a:sym typeface="Times New Roman"/>
                <a:hlinkClick r:id="rId3"/>
              </a:rPr>
              <a:t>Paldiwal</a:t>
            </a:r>
            <a:r>
              <a:rPr lang="en-US" sz="1600" dirty="0">
                <a:uFill>
                  <a:noFill/>
                </a:uFill>
                <a:latin typeface="Times New Roman"/>
                <a:ea typeface="Times New Roman"/>
                <a:cs typeface="Times New Roman"/>
                <a:sym typeface="Times New Roman"/>
                <a:hlinkClick r:id="rId3"/>
              </a:rPr>
              <a:t>, B. S. Roy, and Bhagyashree </a:t>
            </a:r>
            <a:r>
              <a:rPr lang="en-US" sz="1600" dirty="0" err="1">
                <a:uFill>
                  <a:noFill/>
                </a:uFill>
                <a:latin typeface="Times New Roman"/>
                <a:ea typeface="Times New Roman"/>
                <a:cs typeface="Times New Roman"/>
                <a:sym typeface="Times New Roman"/>
                <a:hlinkClick r:id="rId3"/>
              </a:rPr>
              <a:t>Alhat</a:t>
            </a:r>
            <a:r>
              <a:rPr lang="en-US" sz="1600" dirty="0">
                <a:uFill>
                  <a:noFill/>
                </a:uFill>
                <a:latin typeface="Times New Roman"/>
                <a:ea typeface="Times New Roman"/>
                <a:cs typeface="Times New Roman"/>
                <a:sym typeface="Times New Roman"/>
                <a:hlinkClick r:id="rId3"/>
              </a:rPr>
              <a:t>, “Livability-Analysis of People’s Living Comfort in Different Cities of India Using GIS: A Prototype,” HAL (Le Centre pour la Communication </a:t>
            </a:r>
            <a:r>
              <a:rPr lang="en-US" sz="1600" dirty="0" err="1">
                <a:uFill>
                  <a:noFill/>
                </a:uFill>
                <a:latin typeface="Times New Roman"/>
                <a:ea typeface="Times New Roman"/>
                <a:cs typeface="Times New Roman"/>
                <a:sym typeface="Times New Roman"/>
                <a:hlinkClick r:id="rId3"/>
              </a:rPr>
              <a:t>Scientifique</a:t>
            </a:r>
            <a:r>
              <a:rPr lang="en-US" sz="1600" dirty="0">
                <a:uFill>
                  <a:noFill/>
                </a:uFill>
                <a:latin typeface="Times New Roman"/>
                <a:ea typeface="Times New Roman"/>
                <a:cs typeface="Times New Roman"/>
                <a:sym typeface="Times New Roman"/>
                <a:hlinkClick r:id="rId3"/>
              </a:rPr>
              <a:t> </a:t>
            </a:r>
            <a:r>
              <a:rPr lang="en-US" sz="1600" dirty="0" err="1">
                <a:uFill>
                  <a:noFill/>
                </a:uFill>
                <a:latin typeface="Times New Roman"/>
                <a:ea typeface="Times New Roman"/>
                <a:cs typeface="Times New Roman"/>
                <a:sym typeface="Times New Roman"/>
                <a:hlinkClick r:id="rId3"/>
              </a:rPr>
              <a:t>Directe</a:t>
            </a:r>
            <a:r>
              <a:rPr lang="en-US" sz="1600" dirty="0">
                <a:uFill>
                  <a:noFill/>
                </a:uFill>
                <a:latin typeface="Times New Roman"/>
                <a:ea typeface="Times New Roman"/>
                <a:cs typeface="Times New Roman"/>
                <a:sym typeface="Times New Roman"/>
                <a:hlinkClick r:id="rId3"/>
              </a:rPr>
              <a:t>), pp. 163–168, May 2020, </a:t>
            </a:r>
            <a:r>
              <a:rPr lang="en-US" sz="1600" dirty="0" err="1">
                <a:uFill>
                  <a:noFill/>
                </a:uFill>
                <a:latin typeface="Times New Roman"/>
                <a:ea typeface="Times New Roman"/>
                <a:cs typeface="Times New Roman"/>
                <a:sym typeface="Times New Roman"/>
                <a:hlinkClick r:id="rId3"/>
              </a:rPr>
              <a:t>doi</a:t>
            </a:r>
            <a:r>
              <a:rPr lang="en-US" sz="1600" dirty="0">
                <a:uFill>
                  <a:noFill/>
                </a:uFill>
                <a:latin typeface="Times New Roman"/>
                <a:ea typeface="Times New Roman"/>
                <a:cs typeface="Times New Roman"/>
                <a:sym typeface="Times New Roman"/>
                <a:hlinkClick r:id="rId3"/>
              </a:rPr>
              <a:t>: https://doi.org/10.18573/book3.u.</a:t>
            </a:r>
            <a:endParaRPr sz="1600" dirty="0">
              <a:latin typeface="Times New Roman"/>
              <a:ea typeface="Times New Roman"/>
              <a:cs typeface="Times New Roman"/>
              <a:sym typeface="Times New Roman"/>
            </a:endParaRPr>
          </a:p>
          <a:p>
            <a:pPr marL="342900" lvl="0" indent="-352425" algn="just" rtl="0">
              <a:lnSpc>
                <a:spcPct val="120000"/>
              </a:lnSpc>
              <a:spcBef>
                <a:spcPts val="370"/>
              </a:spcBef>
              <a:spcAft>
                <a:spcPts val="0"/>
              </a:spcAft>
              <a:buSzPts val="2000"/>
              <a:buChar char="•"/>
            </a:pPr>
            <a:r>
              <a:rPr lang="en-US" sz="1600" dirty="0">
                <a:uFill>
                  <a:noFill/>
                </a:uFill>
                <a:latin typeface="Times New Roman"/>
                <a:ea typeface="Times New Roman"/>
                <a:cs typeface="Times New Roman"/>
                <a:sym typeface="Times New Roman"/>
                <a:hlinkClick r:id="rId4"/>
              </a:rPr>
              <a:t>S. Shruti, P. K. Singh, and A. Ohri, “Evaluating the Environmental Sustainability of Smart Cities in India: The Design and Application of the Indian Smart City Environmental Sustainability Index,” Sustainability, vol. 13, no. 1, p. 327, Dec. 2020, </a:t>
            </a:r>
            <a:r>
              <a:rPr lang="en-US" sz="1600" dirty="0" err="1">
                <a:uFill>
                  <a:noFill/>
                </a:uFill>
                <a:latin typeface="Times New Roman"/>
                <a:ea typeface="Times New Roman"/>
                <a:cs typeface="Times New Roman"/>
                <a:sym typeface="Times New Roman"/>
                <a:hlinkClick r:id="rId4"/>
              </a:rPr>
              <a:t>doi</a:t>
            </a:r>
            <a:r>
              <a:rPr lang="en-US" sz="1600" dirty="0">
                <a:uFill>
                  <a:noFill/>
                </a:uFill>
                <a:latin typeface="Times New Roman"/>
                <a:ea typeface="Times New Roman"/>
                <a:cs typeface="Times New Roman"/>
                <a:sym typeface="Times New Roman"/>
                <a:hlinkClick r:id="rId4"/>
              </a:rPr>
              <a:t>: https://doi.org/10.3390/su13010327.</a:t>
            </a:r>
            <a:endParaRPr sz="1600" dirty="0">
              <a:latin typeface="Times New Roman"/>
              <a:ea typeface="Times New Roman"/>
              <a:cs typeface="Times New Roman"/>
              <a:sym typeface="Times New Roman"/>
            </a:endParaRPr>
          </a:p>
          <a:p>
            <a:pPr marL="342900" lvl="0" indent="-352425" algn="just" rtl="0">
              <a:lnSpc>
                <a:spcPct val="120000"/>
              </a:lnSpc>
              <a:spcBef>
                <a:spcPts val="370"/>
              </a:spcBef>
              <a:spcAft>
                <a:spcPts val="0"/>
              </a:spcAft>
              <a:buSzPts val="2000"/>
              <a:buChar char="•"/>
            </a:pPr>
            <a:r>
              <a:rPr lang="en-US" sz="1600" dirty="0">
                <a:uFill>
                  <a:noFill/>
                </a:uFill>
                <a:latin typeface="Times New Roman"/>
                <a:ea typeface="Times New Roman"/>
                <a:cs typeface="Times New Roman"/>
                <a:sym typeface="Times New Roman"/>
                <a:hlinkClick r:id="rId5"/>
              </a:rPr>
              <a:t>U. Saeed, S. R. Ahmad, G. </a:t>
            </a:r>
            <a:r>
              <a:rPr lang="en-US" sz="1600" dirty="0" err="1">
                <a:uFill>
                  <a:noFill/>
                </a:uFill>
                <a:latin typeface="Times New Roman"/>
                <a:ea typeface="Times New Roman"/>
                <a:cs typeface="Times New Roman"/>
                <a:sym typeface="Times New Roman"/>
                <a:hlinkClick r:id="rId5"/>
              </a:rPr>
              <a:t>Mohey</a:t>
            </a:r>
            <a:r>
              <a:rPr lang="en-US" sz="1600" dirty="0">
                <a:uFill>
                  <a:noFill/>
                </a:uFill>
                <a:latin typeface="Times New Roman"/>
                <a:ea typeface="Times New Roman"/>
                <a:cs typeface="Times New Roman"/>
                <a:sym typeface="Times New Roman"/>
                <a:hlinkClick r:id="rId5"/>
              </a:rPr>
              <a:t>-</a:t>
            </a:r>
            <a:r>
              <a:rPr lang="en-US" sz="1600" dirty="0" err="1">
                <a:uFill>
                  <a:noFill/>
                </a:uFill>
                <a:latin typeface="Times New Roman"/>
                <a:ea typeface="Times New Roman"/>
                <a:cs typeface="Times New Roman"/>
                <a:sym typeface="Times New Roman"/>
                <a:hlinkClick r:id="rId5"/>
              </a:rPr>
              <a:t>ud</a:t>
            </a:r>
            <a:r>
              <a:rPr lang="en-US" sz="1600" dirty="0">
                <a:uFill>
                  <a:noFill/>
                </a:uFill>
                <a:latin typeface="Times New Roman"/>
                <a:ea typeface="Times New Roman"/>
                <a:cs typeface="Times New Roman"/>
                <a:sym typeface="Times New Roman"/>
                <a:hlinkClick r:id="rId5"/>
              </a:rPr>
              <a:t>-din, H. J. Butt, and U. Ashraf, “An Integrated Approach for Developing an Urban Livability Composite Index—A Cities’ Ranking Road Map to Achieve Urban Sustainability,” Sustainability, vol. 14, no. 14, p. 8755, Jul. 2022, </a:t>
            </a:r>
            <a:r>
              <a:rPr lang="en-US" sz="1600" dirty="0" err="1">
                <a:uFill>
                  <a:noFill/>
                </a:uFill>
                <a:latin typeface="Times New Roman"/>
                <a:ea typeface="Times New Roman"/>
                <a:cs typeface="Times New Roman"/>
                <a:sym typeface="Times New Roman"/>
                <a:hlinkClick r:id="rId5"/>
              </a:rPr>
              <a:t>doi</a:t>
            </a:r>
            <a:r>
              <a:rPr lang="en-US" sz="1600" dirty="0">
                <a:uFill>
                  <a:noFill/>
                </a:uFill>
                <a:latin typeface="Times New Roman"/>
                <a:ea typeface="Times New Roman"/>
                <a:cs typeface="Times New Roman"/>
                <a:sym typeface="Times New Roman"/>
                <a:hlinkClick r:id="rId5"/>
              </a:rPr>
              <a:t>: https://doi.org/10.3390/su14148755.</a:t>
            </a:r>
            <a:endParaRPr sz="1600" dirty="0">
              <a:latin typeface="Times New Roman"/>
              <a:ea typeface="Times New Roman"/>
              <a:cs typeface="Times New Roman"/>
              <a:sym typeface="Times New Roman"/>
            </a:endParaRPr>
          </a:p>
          <a:p>
            <a:pPr marL="342900" lvl="0" indent="-352425" algn="just" rtl="0">
              <a:lnSpc>
                <a:spcPct val="120000"/>
              </a:lnSpc>
              <a:spcBef>
                <a:spcPts val="370"/>
              </a:spcBef>
              <a:spcAft>
                <a:spcPts val="0"/>
              </a:spcAft>
              <a:buSzPts val="2000"/>
              <a:buChar char="•"/>
            </a:pPr>
            <a:r>
              <a:rPr lang="en-US" sz="1600" dirty="0">
                <a:uFill>
                  <a:noFill/>
                </a:uFill>
                <a:latin typeface="Times New Roman"/>
                <a:ea typeface="Times New Roman"/>
                <a:cs typeface="Times New Roman"/>
                <a:sym typeface="Times New Roman"/>
                <a:hlinkClick r:id="rId6"/>
              </a:rPr>
              <a:t>“View of Review of Performance Indicators of Smart Cities in India –Ease of Living Index: a case of Lucknow Smart City,” Safer.uct.cl, 2025. https://safer.uct.cl/index.php/SAFER/article/view/445/403 (accessed Sep. 24, 2025).</a:t>
            </a:r>
            <a:endParaRPr sz="1600" dirty="0">
              <a:latin typeface="Times New Roman"/>
              <a:ea typeface="Times New Roman"/>
              <a:cs typeface="Times New Roman"/>
              <a:sym typeface="Times New Roman"/>
            </a:endParaRPr>
          </a:p>
          <a:p>
            <a:pPr marL="342900" lvl="0" indent="-352425" algn="just" rtl="0">
              <a:lnSpc>
                <a:spcPct val="120000"/>
              </a:lnSpc>
              <a:spcBef>
                <a:spcPts val="370"/>
              </a:spcBef>
              <a:spcAft>
                <a:spcPts val="0"/>
              </a:spcAft>
              <a:buSzPts val="2000"/>
              <a:buChar char="•"/>
            </a:pPr>
            <a:r>
              <a:rPr lang="en-US" sz="1600" dirty="0">
                <a:uFill>
                  <a:noFill/>
                </a:uFill>
                <a:latin typeface="Times New Roman"/>
                <a:ea typeface="Times New Roman"/>
                <a:cs typeface="Times New Roman"/>
                <a:sym typeface="Times New Roman"/>
                <a:hlinkClick r:id="rId7"/>
              </a:rPr>
              <a:t>D. Subramanian, “Comparing Ease of Living parameters &amp; Urban Greening Index,” E3S Web of Conferences, vol. 559, p. 04047, 2024, </a:t>
            </a:r>
            <a:r>
              <a:rPr lang="en-US" sz="1600" dirty="0" err="1">
                <a:uFill>
                  <a:noFill/>
                </a:uFill>
                <a:latin typeface="Times New Roman"/>
                <a:ea typeface="Times New Roman"/>
                <a:cs typeface="Times New Roman"/>
                <a:sym typeface="Times New Roman"/>
                <a:hlinkClick r:id="rId7"/>
              </a:rPr>
              <a:t>doi</a:t>
            </a:r>
            <a:r>
              <a:rPr lang="en-US" sz="1600" dirty="0">
                <a:uFill>
                  <a:noFill/>
                </a:uFill>
                <a:latin typeface="Times New Roman"/>
                <a:ea typeface="Times New Roman"/>
                <a:cs typeface="Times New Roman"/>
                <a:sym typeface="Times New Roman"/>
                <a:hlinkClick r:id="rId7"/>
              </a:rPr>
              <a:t>: https://doi.org/10.1051/e3sconf/202455904047.</a:t>
            </a:r>
            <a:endParaRPr sz="1600" dirty="0">
              <a:latin typeface="Times New Roman"/>
              <a:ea typeface="Times New Roman"/>
              <a:cs typeface="Times New Roman"/>
              <a:sym typeface="Times New Roman"/>
            </a:endParaRPr>
          </a:p>
          <a:p>
            <a:pPr marL="0" lvl="0" indent="0" algn="just" rtl="0">
              <a:lnSpc>
                <a:spcPct val="120000"/>
              </a:lnSpc>
              <a:spcBef>
                <a:spcPts val="370"/>
              </a:spcBef>
              <a:spcAft>
                <a:spcPts val="0"/>
              </a:spcAft>
              <a:buClr>
                <a:schemeClr val="dk1"/>
              </a:buClr>
              <a:buSzPts val="2000"/>
              <a:buNone/>
            </a:pPr>
            <a:endParaRPr sz="1600" dirty="0">
              <a:latin typeface="Times New Roman"/>
              <a:ea typeface="Times New Roman"/>
              <a:cs typeface="Times New Roman"/>
              <a:sym typeface="Times New Roman"/>
            </a:endParaRPr>
          </a:p>
          <a:p>
            <a:pPr marL="342900" lvl="0" indent="-225425" algn="just" rtl="0">
              <a:lnSpc>
                <a:spcPct val="120000"/>
              </a:lnSpc>
              <a:spcBef>
                <a:spcPts val="370"/>
              </a:spcBef>
              <a:spcAft>
                <a:spcPts val="0"/>
              </a:spcAft>
              <a:buClr>
                <a:schemeClr val="dk1"/>
              </a:buClr>
              <a:buSzPts val="2000"/>
              <a:buNone/>
            </a:pPr>
            <a:endParaRPr sz="1600" dirty="0">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7"/>
          <p:cNvSpPr txBox="1">
            <a:spLocks noGrp="1"/>
          </p:cNvSpPr>
          <p:nvPr>
            <p:ph type="title"/>
          </p:nvPr>
        </p:nvSpPr>
        <p:spPr>
          <a:xfrm>
            <a:off x="1511660" y="1052736"/>
            <a:ext cx="612068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Thank you</a:t>
            </a:r>
            <a:endParaRPr>
              <a:latin typeface="Times New Roman"/>
              <a:ea typeface="Times New Roman"/>
              <a:cs typeface="Times New Roman"/>
              <a:sym typeface="Times New Roman"/>
            </a:endParaRPr>
          </a:p>
        </p:txBody>
      </p:sp>
      <p:sp>
        <p:nvSpPr>
          <p:cNvPr id="179" name="Google Shape;179;p27"/>
          <p:cNvSpPr txBox="1">
            <a:spLocks noGrp="1"/>
          </p:cNvSpPr>
          <p:nvPr>
            <p:ph type="body" idx="1"/>
          </p:nvPr>
        </p:nvSpPr>
        <p:spPr>
          <a:xfrm>
            <a:off x="2046548" y="2564904"/>
            <a:ext cx="5050904" cy="2653755"/>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chemeClr val="dk1"/>
              </a:buClr>
              <a:buSzPts val="3200"/>
              <a:buNone/>
            </a:pPr>
            <a:r>
              <a:rPr lang="en-US">
                <a:latin typeface="Times New Roman"/>
                <a:ea typeface="Times New Roman"/>
                <a:cs typeface="Times New Roman"/>
                <a:sym typeface="Times New Roman"/>
              </a:rPr>
              <a:t>Question &amp; Answers</a:t>
            </a:r>
            <a:endParaRPr>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552</TotalTime>
  <Words>2476</Words>
  <Application>Microsoft Office PowerPoint</Application>
  <PresentationFormat>On-screen Show (4:3)</PresentationFormat>
  <Paragraphs>314</Paragraphs>
  <Slides>25</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Cambria Math</vt:lpstr>
      <vt:lpstr>Courier New</vt:lpstr>
      <vt:lpstr>Times New Roman</vt:lpstr>
      <vt:lpstr>Office Theme</vt:lpstr>
      <vt:lpstr>Data analysis of livable conditions in selected cities in India based on Sustainable Development Goals</vt:lpstr>
      <vt:lpstr>AGENDA</vt:lpstr>
      <vt:lpstr>INTRODUCTION</vt:lpstr>
      <vt:lpstr>OBJECTIVES</vt:lpstr>
      <vt:lpstr>LITERATURE SURVEY</vt:lpstr>
      <vt:lpstr>LITERATURE SURVEY</vt:lpstr>
      <vt:lpstr>LITERATURE SURVEY</vt:lpstr>
      <vt:lpstr>PROBLEM STATEMENT</vt:lpstr>
      <vt:lpstr>PowerPoint Presentation</vt:lpstr>
      <vt:lpstr>UML - USE CASE DIAGRAM</vt:lpstr>
      <vt:lpstr>UML – ACTIVITY DIAGRAM</vt:lpstr>
      <vt:lpstr>UML – CLASS DIAGRAM</vt:lpstr>
      <vt:lpstr>MODULES DESCRIPTION</vt:lpstr>
      <vt:lpstr>METHODOLOGY</vt:lpstr>
      <vt:lpstr>METHODOLOGY</vt:lpstr>
      <vt:lpstr>DATASET SAMPLE</vt:lpstr>
      <vt:lpstr>TESTING AND VALIDATION</vt:lpstr>
      <vt:lpstr>PERFORMANCE ANALYSIS</vt:lpstr>
      <vt:lpstr>SCREENSHOTS</vt:lpstr>
      <vt:lpstr>SCREENSHOTS</vt:lpstr>
      <vt:lpstr>SCREENSHOTS</vt:lpstr>
      <vt:lpstr>CONCLUSION</vt:lpstr>
      <vt:lpstr>FUTURE SCOPE</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Sanjna Sukirti Rukmangathan</dc:creator>
  <cp:lastModifiedBy>Sanjna Sukirti Rukmangathan</cp:lastModifiedBy>
  <cp:revision>34</cp:revision>
  <dcterms:modified xsi:type="dcterms:W3CDTF">2025-10-27T15:28:54Z</dcterms:modified>
</cp:coreProperties>
</file>